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3" r:id="rId1"/>
  </p:sldMasterIdLst>
  <p:notesMasterIdLst>
    <p:notesMasterId r:id="rId26"/>
  </p:notesMasterIdLst>
  <p:sldIdLst>
    <p:sldId id="262" r:id="rId2"/>
    <p:sldId id="379" r:id="rId3"/>
    <p:sldId id="380" r:id="rId4"/>
    <p:sldId id="378" r:id="rId5"/>
    <p:sldId id="267" r:id="rId6"/>
    <p:sldId id="268" r:id="rId7"/>
    <p:sldId id="329" r:id="rId8"/>
    <p:sldId id="361" r:id="rId9"/>
    <p:sldId id="339" r:id="rId10"/>
    <p:sldId id="349" r:id="rId11"/>
    <p:sldId id="359" r:id="rId12"/>
    <p:sldId id="377" r:id="rId13"/>
    <p:sldId id="350" r:id="rId14"/>
    <p:sldId id="366" r:id="rId15"/>
    <p:sldId id="367" r:id="rId16"/>
    <p:sldId id="376" r:id="rId17"/>
    <p:sldId id="352" r:id="rId18"/>
    <p:sldId id="266" r:id="rId19"/>
    <p:sldId id="264" r:id="rId20"/>
    <p:sldId id="265" r:id="rId21"/>
    <p:sldId id="256" r:id="rId22"/>
    <p:sldId id="261" r:id="rId23"/>
    <p:sldId id="258" r:id="rId24"/>
    <p:sldId id="260"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1463"/>
    <p:restoredTop sz="94712"/>
  </p:normalViewPr>
  <p:slideViewPr>
    <p:cSldViewPr snapToGrid="0">
      <p:cViewPr varScale="1">
        <p:scale>
          <a:sx n="105" d="100"/>
          <a:sy n="105" d="100"/>
        </p:scale>
        <p:origin x="504"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A4E51A2-C2D7-5045-A31E-290C23ECAEE9}" type="datetimeFigureOut">
              <a:rPr lang="en-US" smtClean="0"/>
              <a:t>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C8FDE65-FE62-204D-AB1B-045C5A1DB8F7}" type="slidenum">
              <a:rPr lang="en-US" smtClean="0"/>
              <a:t>‹#›</a:t>
            </a:fld>
            <a:endParaRPr lang="en-US"/>
          </a:p>
        </p:txBody>
      </p:sp>
    </p:spTree>
    <p:extLst>
      <p:ext uri="{BB962C8B-B14F-4D97-AF65-F5344CB8AC3E}">
        <p14:creationId xmlns:p14="http://schemas.microsoft.com/office/powerpoint/2010/main" val="3216869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Image Placeholder 1"/>
          <p:cNvSpPr>
            <a:spLocks noGrp="1" noRot="1" noChangeAspect="1" noTextEdit="1"/>
          </p:cNvSpPr>
          <p:nvPr>
            <p:ph type="sldImg"/>
          </p:nvPr>
        </p:nvSpPr>
        <p:spPr>
          <a:xfrm>
            <a:off x="80963" y="742950"/>
            <a:ext cx="6496050" cy="3654425"/>
          </a:xfrm>
          <a:ln>
            <a:solidFill>
              <a:srgbClr val="000000"/>
            </a:solidFill>
            <a:miter lim="800000"/>
            <a:headEnd/>
            <a:tailEnd/>
          </a:ln>
        </p:spPr>
      </p:sp>
      <p:sp>
        <p:nvSpPr>
          <p:cNvPr id="17411"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a:latin typeface="Times New Roman" panose="02020603050405020304" pitchFamily="18" charset="0"/>
            </a:endParaRPr>
          </a:p>
        </p:txBody>
      </p:sp>
      <p:sp>
        <p:nvSpPr>
          <p:cNvPr id="17412" name="Slide Number Placeholder 3"/>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03225" algn="l"/>
                <a:tab pos="808038" algn="l"/>
                <a:tab pos="1212850" algn="l"/>
                <a:tab pos="1617663" algn="l"/>
                <a:tab pos="2022475" algn="l"/>
                <a:tab pos="2425700" algn="l"/>
                <a:tab pos="2830513" algn="l"/>
                <a:tab pos="3235325" algn="l"/>
                <a:tab pos="3640138" algn="l"/>
                <a:tab pos="4044950" algn="l"/>
                <a:tab pos="4449763" algn="l"/>
                <a:tab pos="4854575" algn="l"/>
                <a:tab pos="5259388" algn="l"/>
                <a:tab pos="5664200" algn="l"/>
                <a:tab pos="6069013" algn="l"/>
                <a:tab pos="6473825" algn="l"/>
                <a:tab pos="6878638" algn="l"/>
                <a:tab pos="7283450" algn="l"/>
                <a:tab pos="7688263" algn="l"/>
                <a:tab pos="8093075"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03225" algn="l"/>
                <a:tab pos="808038" algn="l"/>
                <a:tab pos="1212850" algn="l"/>
                <a:tab pos="1617663" algn="l"/>
                <a:tab pos="2022475" algn="l"/>
                <a:tab pos="2425700" algn="l"/>
                <a:tab pos="2830513" algn="l"/>
                <a:tab pos="3235325" algn="l"/>
                <a:tab pos="3640138" algn="l"/>
                <a:tab pos="4044950" algn="l"/>
                <a:tab pos="4449763" algn="l"/>
                <a:tab pos="4854575" algn="l"/>
                <a:tab pos="5259388" algn="l"/>
                <a:tab pos="5664200" algn="l"/>
                <a:tab pos="6069013" algn="l"/>
                <a:tab pos="6473825" algn="l"/>
                <a:tab pos="6878638" algn="l"/>
                <a:tab pos="7283450" algn="l"/>
                <a:tab pos="7688263" algn="l"/>
                <a:tab pos="8093075"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03225" algn="l"/>
                <a:tab pos="808038" algn="l"/>
                <a:tab pos="1212850" algn="l"/>
                <a:tab pos="1617663" algn="l"/>
                <a:tab pos="2022475" algn="l"/>
                <a:tab pos="2425700" algn="l"/>
                <a:tab pos="2830513" algn="l"/>
                <a:tab pos="3235325" algn="l"/>
                <a:tab pos="3640138" algn="l"/>
                <a:tab pos="4044950" algn="l"/>
                <a:tab pos="4449763" algn="l"/>
                <a:tab pos="4854575" algn="l"/>
                <a:tab pos="5259388" algn="l"/>
                <a:tab pos="5664200" algn="l"/>
                <a:tab pos="6069013" algn="l"/>
                <a:tab pos="6473825" algn="l"/>
                <a:tab pos="6878638" algn="l"/>
                <a:tab pos="7283450" algn="l"/>
                <a:tab pos="7688263" algn="l"/>
                <a:tab pos="8093075"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03225" algn="l"/>
                <a:tab pos="808038" algn="l"/>
                <a:tab pos="1212850" algn="l"/>
                <a:tab pos="1617663" algn="l"/>
                <a:tab pos="2022475" algn="l"/>
                <a:tab pos="2425700" algn="l"/>
                <a:tab pos="2830513" algn="l"/>
                <a:tab pos="3235325" algn="l"/>
                <a:tab pos="3640138" algn="l"/>
                <a:tab pos="4044950" algn="l"/>
                <a:tab pos="4449763" algn="l"/>
                <a:tab pos="4854575" algn="l"/>
                <a:tab pos="5259388" algn="l"/>
                <a:tab pos="5664200" algn="l"/>
                <a:tab pos="6069013" algn="l"/>
                <a:tab pos="6473825" algn="l"/>
                <a:tab pos="6878638" algn="l"/>
                <a:tab pos="7283450" algn="l"/>
                <a:tab pos="7688263" algn="l"/>
                <a:tab pos="8093075"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03225" algn="l"/>
                <a:tab pos="808038" algn="l"/>
                <a:tab pos="1212850" algn="l"/>
                <a:tab pos="1617663" algn="l"/>
                <a:tab pos="2022475" algn="l"/>
                <a:tab pos="2425700" algn="l"/>
                <a:tab pos="2830513" algn="l"/>
                <a:tab pos="3235325" algn="l"/>
                <a:tab pos="3640138" algn="l"/>
                <a:tab pos="4044950" algn="l"/>
                <a:tab pos="4449763" algn="l"/>
                <a:tab pos="4854575" algn="l"/>
                <a:tab pos="5259388" algn="l"/>
                <a:tab pos="5664200" algn="l"/>
                <a:tab pos="6069013" algn="l"/>
                <a:tab pos="6473825" algn="l"/>
                <a:tab pos="6878638" algn="l"/>
                <a:tab pos="7283450" algn="l"/>
                <a:tab pos="7688263" algn="l"/>
                <a:tab pos="8093075"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03225" algn="l"/>
                <a:tab pos="808038" algn="l"/>
                <a:tab pos="1212850" algn="l"/>
                <a:tab pos="1617663" algn="l"/>
                <a:tab pos="2022475" algn="l"/>
                <a:tab pos="2425700" algn="l"/>
                <a:tab pos="2830513" algn="l"/>
                <a:tab pos="3235325" algn="l"/>
                <a:tab pos="3640138" algn="l"/>
                <a:tab pos="4044950" algn="l"/>
                <a:tab pos="4449763" algn="l"/>
                <a:tab pos="4854575" algn="l"/>
                <a:tab pos="5259388" algn="l"/>
                <a:tab pos="5664200" algn="l"/>
                <a:tab pos="6069013" algn="l"/>
                <a:tab pos="6473825" algn="l"/>
                <a:tab pos="6878638" algn="l"/>
                <a:tab pos="7283450" algn="l"/>
                <a:tab pos="7688263" algn="l"/>
                <a:tab pos="8093075"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03225" algn="l"/>
                <a:tab pos="808038" algn="l"/>
                <a:tab pos="1212850" algn="l"/>
                <a:tab pos="1617663" algn="l"/>
                <a:tab pos="2022475" algn="l"/>
                <a:tab pos="2425700" algn="l"/>
                <a:tab pos="2830513" algn="l"/>
                <a:tab pos="3235325" algn="l"/>
                <a:tab pos="3640138" algn="l"/>
                <a:tab pos="4044950" algn="l"/>
                <a:tab pos="4449763" algn="l"/>
                <a:tab pos="4854575" algn="l"/>
                <a:tab pos="5259388" algn="l"/>
                <a:tab pos="5664200" algn="l"/>
                <a:tab pos="6069013" algn="l"/>
                <a:tab pos="6473825" algn="l"/>
                <a:tab pos="6878638" algn="l"/>
                <a:tab pos="7283450" algn="l"/>
                <a:tab pos="7688263" algn="l"/>
                <a:tab pos="8093075"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03225" algn="l"/>
                <a:tab pos="808038" algn="l"/>
                <a:tab pos="1212850" algn="l"/>
                <a:tab pos="1617663" algn="l"/>
                <a:tab pos="2022475" algn="l"/>
                <a:tab pos="2425700" algn="l"/>
                <a:tab pos="2830513" algn="l"/>
                <a:tab pos="3235325" algn="l"/>
                <a:tab pos="3640138" algn="l"/>
                <a:tab pos="4044950" algn="l"/>
                <a:tab pos="4449763" algn="l"/>
                <a:tab pos="4854575" algn="l"/>
                <a:tab pos="5259388" algn="l"/>
                <a:tab pos="5664200" algn="l"/>
                <a:tab pos="6069013" algn="l"/>
                <a:tab pos="6473825" algn="l"/>
                <a:tab pos="6878638" algn="l"/>
                <a:tab pos="7283450" algn="l"/>
                <a:tab pos="7688263" algn="l"/>
                <a:tab pos="8093075"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03225" algn="l"/>
                <a:tab pos="808038" algn="l"/>
                <a:tab pos="1212850" algn="l"/>
                <a:tab pos="1617663" algn="l"/>
                <a:tab pos="2022475" algn="l"/>
                <a:tab pos="2425700" algn="l"/>
                <a:tab pos="2830513" algn="l"/>
                <a:tab pos="3235325" algn="l"/>
                <a:tab pos="3640138" algn="l"/>
                <a:tab pos="4044950" algn="l"/>
                <a:tab pos="4449763" algn="l"/>
                <a:tab pos="4854575" algn="l"/>
                <a:tab pos="5259388" algn="l"/>
                <a:tab pos="5664200" algn="l"/>
                <a:tab pos="6069013" algn="l"/>
                <a:tab pos="6473825" algn="l"/>
                <a:tab pos="6878638" algn="l"/>
                <a:tab pos="7283450" algn="l"/>
                <a:tab pos="7688263" algn="l"/>
                <a:tab pos="8093075" algn="l"/>
              </a:tabLst>
              <a:defRPr sz="1200">
                <a:solidFill>
                  <a:srgbClr val="000000"/>
                </a:solidFill>
                <a:latin typeface="Times New Roman" panose="02020603050405020304" pitchFamily="18" charset="0"/>
              </a:defRPr>
            </a:lvl9pPr>
          </a:lstStyle>
          <a:p>
            <a:pPr>
              <a:spcBef>
                <a:spcPct val="0"/>
              </a:spcBef>
              <a:buClrTx/>
              <a:buFontTx/>
              <a:buNone/>
            </a:pPr>
            <a:fld id="{30638000-12B3-4C8E-AB77-A832972B493B}" type="slidenum">
              <a:rPr lang="en-GB" altLang="en-US" sz="1300" smtClean="0">
                <a:latin typeface="Calibri" panose="020F0502020204030204" pitchFamily="34" charset="0"/>
                <a:ea typeface="MS PGothic" panose="020B0600070205080204" pitchFamily="34" charset="-128"/>
                <a:cs typeface="Arial Unicode MS" pitchFamily="34" charset="-128"/>
              </a:rPr>
              <a:pPr>
                <a:spcBef>
                  <a:spcPct val="0"/>
                </a:spcBef>
                <a:buClrTx/>
                <a:buFontTx/>
                <a:buNone/>
              </a:pPr>
              <a:t>7</a:t>
            </a:fld>
            <a:endParaRPr lang="en-GB" altLang="en-US" sz="1300">
              <a:latin typeface="Calibri" panose="020F0502020204030204" pitchFamily="34" charset="0"/>
              <a:ea typeface="MS PGothic" panose="020B0600070205080204" pitchFamily="34" charset="-128"/>
              <a:cs typeface="Arial Unicode MS" pitchFamily="34" charset="-128"/>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Image Placeholder 1"/>
          <p:cNvSpPr>
            <a:spLocks noGrp="1" noRot="1" noChangeAspect="1" noTextEdit="1"/>
          </p:cNvSpPr>
          <p:nvPr>
            <p:ph type="sldImg"/>
          </p:nvPr>
        </p:nvSpPr>
        <p:spPr>
          <a:xfrm>
            <a:off x="80963" y="742950"/>
            <a:ext cx="6496050" cy="3654425"/>
          </a:xfrm>
        </p:spPr>
      </p:sp>
      <p:sp>
        <p:nvSpPr>
          <p:cNvPr id="23555"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
        <p:nvSpPr>
          <p:cNvPr id="23556" name="Slide Number Placeholder 3"/>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403225" algn="l"/>
                <a:tab pos="808038" algn="l"/>
                <a:tab pos="1212850" algn="l"/>
                <a:tab pos="1617663" algn="l"/>
                <a:tab pos="2022475" algn="l"/>
                <a:tab pos="2425700" algn="l"/>
                <a:tab pos="2830513" algn="l"/>
                <a:tab pos="3235325" algn="l"/>
                <a:tab pos="3640138" algn="l"/>
                <a:tab pos="4044950" algn="l"/>
                <a:tab pos="4449763" algn="l"/>
                <a:tab pos="4854575" algn="l"/>
                <a:tab pos="5259388" algn="l"/>
                <a:tab pos="5664200" algn="l"/>
                <a:tab pos="6069013" algn="l"/>
                <a:tab pos="6473825" algn="l"/>
                <a:tab pos="6878638" algn="l"/>
                <a:tab pos="7283450" algn="l"/>
                <a:tab pos="7688263" algn="l"/>
                <a:tab pos="8093075" algn="l"/>
              </a:tabLst>
              <a:defRPr sz="2000">
                <a:solidFill>
                  <a:schemeClr val="bg1"/>
                </a:solidFill>
                <a:latin typeface="Arial" panose="020B0604020202020204" pitchFamily="34" charset="0"/>
                <a:ea typeface="Arial Unicode MS" pitchFamily="34" charset="-128"/>
              </a:defRPr>
            </a:lvl1pPr>
            <a:lvl2pPr>
              <a:tabLst>
                <a:tab pos="0" algn="l"/>
                <a:tab pos="403225" algn="l"/>
                <a:tab pos="808038" algn="l"/>
                <a:tab pos="1212850" algn="l"/>
                <a:tab pos="1617663" algn="l"/>
                <a:tab pos="2022475" algn="l"/>
                <a:tab pos="2425700" algn="l"/>
                <a:tab pos="2830513" algn="l"/>
                <a:tab pos="3235325" algn="l"/>
                <a:tab pos="3640138" algn="l"/>
                <a:tab pos="4044950" algn="l"/>
                <a:tab pos="4449763" algn="l"/>
                <a:tab pos="4854575" algn="l"/>
                <a:tab pos="5259388" algn="l"/>
                <a:tab pos="5664200" algn="l"/>
                <a:tab pos="6069013" algn="l"/>
                <a:tab pos="6473825" algn="l"/>
                <a:tab pos="6878638" algn="l"/>
                <a:tab pos="7283450" algn="l"/>
                <a:tab pos="7688263" algn="l"/>
                <a:tab pos="8093075" algn="l"/>
              </a:tabLst>
              <a:defRPr sz="2000">
                <a:solidFill>
                  <a:schemeClr val="bg1"/>
                </a:solidFill>
                <a:latin typeface="Arial" panose="020B0604020202020204" pitchFamily="34" charset="0"/>
                <a:ea typeface="Arial Unicode MS" pitchFamily="34" charset="-128"/>
              </a:defRPr>
            </a:lvl2pPr>
            <a:lvl3pPr>
              <a:tabLst>
                <a:tab pos="0" algn="l"/>
                <a:tab pos="403225" algn="l"/>
                <a:tab pos="808038" algn="l"/>
                <a:tab pos="1212850" algn="l"/>
                <a:tab pos="1617663" algn="l"/>
                <a:tab pos="2022475" algn="l"/>
                <a:tab pos="2425700" algn="l"/>
                <a:tab pos="2830513" algn="l"/>
                <a:tab pos="3235325" algn="l"/>
                <a:tab pos="3640138" algn="l"/>
                <a:tab pos="4044950" algn="l"/>
                <a:tab pos="4449763" algn="l"/>
                <a:tab pos="4854575" algn="l"/>
                <a:tab pos="5259388" algn="l"/>
                <a:tab pos="5664200" algn="l"/>
                <a:tab pos="6069013" algn="l"/>
                <a:tab pos="6473825" algn="l"/>
                <a:tab pos="6878638" algn="l"/>
                <a:tab pos="7283450" algn="l"/>
                <a:tab pos="7688263" algn="l"/>
                <a:tab pos="8093075" algn="l"/>
              </a:tabLst>
              <a:defRPr sz="2000">
                <a:solidFill>
                  <a:schemeClr val="bg1"/>
                </a:solidFill>
                <a:latin typeface="Arial" panose="020B0604020202020204" pitchFamily="34" charset="0"/>
                <a:ea typeface="Arial Unicode MS" pitchFamily="34" charset="-128"/>
              </a:defRPr>
            </a:lvl3pPr>
            <a:lvl4pPr>
              <a:tabLst>
                <a:tab pos="0" algn="l"/>
                <a:tab pos="403225" algn="l"/>
                <a:tab pos="808038" algn="l"/>
                <a:tab pos="1212850" algn="l"/>
                <a:tab pos="1617663" algn="l"/>
                <a:tab pos="2022475" algn="l"/>
                <a:tab pos="2425700" algn="l"/>
                <a:tab pos="2830513" algn="l"/>
                <a:tab pos="3235325" algn="l"/>
                <a:tab pos="3640138" algn="l"/>
                <a:tab pos="4044950" algn="l"/>
                <a:tab pos="4449763" algn="l"/>
                <a:tab pos="4854575" algn="l"/>
                <a:tab pos="5259388" algn="l"/>
                <a:tab pos="5664200" algn="l"/>
                <a:tab pos="6069013" algn="l"/>
                <a:tab pos="6473825" algn="l"/>
                <a:tab pos="6878638" algn="l"/>
                <a:tab pos="7283450" algn="l"/>
                <a:tab pos="7688263" algn="l"/>
                <a:tab pos="8093075" algn="l"/>
              </a:tabLst>
              <a:defRPr sz="2000">
                <a:solidFill>
                  <a:schemeClr val="bg1"/>
                </a:solidFill>
                <a:latin typeface="Arial" panose="020B0604020202020204" pitchFamily="34" charset="0"/>
                <a:ea typeface="Arial Unicode MS" pitchFamily="34" charset="-128"/>
              </a:defRPr>
            </a:lvl4pPr>
            <a:lvl5pPr>
              <a:tabLst>
                <a:tab pos="0" algn="l"/>
                <a:tab pos="403225" algn="l"/>
                <a:tab pos="808038" algn="l"/>
                <a:tab pos="1212850" algn="l"/>
                <a:tab pos="1617663" algn="l"/>
                <a:tab pos="2022475" algn="l"/>
                <a:tab pos="2425700" algn="l"/>
                <a:tab pos="2830513" algn="l"/>
                <a:tab pos="3235325" algn="l"/>
                <a:tab pos="3640138" algn="l"/>
                <a:tab pos="4044950" algn="l"/>
                <a:tab pos="4449763" algn="l"/>
                <a:tab pos="4854575" algn="l"/>
                <a:tab pos="5259388" algn="l"/>
                <a:tab pos="5664200" algn="l"/>
                <a:tab pos="6069013" algn="l"/>
                <a:tab pos="6473825" algn="l"/>
                <a:tab pos="6878638" algn="l"/>
                <a:tab pos="7283450" algn="l"/>
                <a:tab pos="7688263" algn="l"/>
                <a:tab pos="8093075" algn="l"/>
              </a:tabLst>
              <a:defRPr sz="2000">
                <a:solidFill>
                  <a:schemeClr val="bg1"/>
                </a:solidFill>
                <a:latin typeface="Arial" panose="020B0604020202020204" pitchFamily="34" charset="0"/>
                <a:ea typeface="Arial Unicode MS" pitchFamily="34" charset="-128"/>
              </a:defRPr>
            </a:lvl5pPr>
            <a:lvl6pPr marL="2514600" indent="-228600" defTabSz="449263" eaLnBrk="0" fontAlgn="base" hangingPunct="0">
              <a:spcBef>
                <a:spcPct val="0"/>
              </a:spcBef>
              <a:spcAft>
                <a:spcPct val="0"/>
              </a:spcAft>
              <a:tabLst>
                <a:tab pos="0" algn="l"/>
                <a:tab pos="403225" algn="l"/>
                <a:tab pos="808038" algn="l"/>
                <a:tab pos="1212850" algn="l"/>
                <a:tab pos="1617663" algn="l"/>
                <a:tab pos="2022475" algn="l"/>
                <a:tab pos="2425700" algn="l"/>
                <a:tab pos="2830513" algn="l"/>
                <a:tab pos="3235325" algn="l"/>
                <a:tab pos="3640138" algn="l"/>
                <a:tab pos="4044950" algn="l"/>
                <a:tab pos="4449763" algn="l"/>
                <a:tab pos="4854575" algn="l"/>
                <a:tab pos="5259388" algn="l"/>
                <a:tab pos="5664200" algn="l"/>
                <a:tab pos="6069013" algn="l"/>
                <a:tab pos="6473825" algn="l"/>
                <a:tab pos="6878638" algn="l"/>
                <a:tab pos="7283450" algn="l"/>
                <a:tab pos="7688263" algn="l"/>
                <a:tab pos="8093075" algn="l"/>
              </a:tabLst>
              <a:defRPr sz="2000">
                <a:solidFill>
                  <a:schemeClr val="bg1"/>
                </a:solidFill>
                <a:latin typeface="Arial" panose="020B0604020202020204" pitchFamily="34" charset="0"/>
                <a:ea typeface="Arial Unicode MS" pitchFamily="34" charset="-128"/>
              </a:defRPr>
            </a:lvl6pPr>
            <a:lvl7pPr marL="2971800" indent="-228600" defTabSz="449263" eaLnBrk="0" fontAlgn="base" hangingPunct="0">
              <a:spcBef>
                <a:spcPct val="0"/>
              </a:spcBef>
              <a:spcAft>
                <a:spcPct val="0"/>
              </a:spcAft>
              <a:tabLst>
                <a:tab pos="0" algn="l"/>
                <a:tab pos="403225" algn="l"/>
                <a:tab pos="808038" algn="l"/>
                <a:tab pos="1212850" algn="l"/>
                <a:tab pos="1617663" algn="l"/>
                <a:tab pos="2022475" algn="l"/>
                <a:tab pos="2425700" algn="l"/>
                <a:tab pos="2830513" algn="l"/>
                <a:tab pos="3235325" algn="l"/>
                <a:tab pos="3640138" algn="l"/>
                <a:tab pos="4044950" algn="l"/>
                <a:tab pos="4449763" algn="l"/>
                <a:tab pos="4854575" algn="l"/>
                <a:tab pos="5259388" algn="l"/>
                <a:tab pos="5664200" algn="l"/>
                <a:tab pos="6069013" algn="l"/>
                <a:tab pos="6473825" algn="l"/>
                <a:tab pos="6878638" algn="l"/>
                <a:tab pos="7283450" algn="l"/>
                <a:tab pos="7688263" algn="l"/>
                <a:tab pos="8093075" algn="l"/>
              </a:tabLst>
              <a:defRPr sz="2000">
                <a:solidFill>
                  <a:schemeClr val="bg1"/>
                </a:solidFill>
                <a:latin typeface="Arial" panose="020B0604020202020204" pitchFamily="34" charset="0"/>
                <a:ea typeface="Arial Unicode MS" pitchFamily="34" charset="-128"/>
              </a:defRPr>
            </a:lvl7pPr>
            <a:lvl8pPr marL="3429000" indent="-228600" defTabSz="449263" eaLnBrk="0" fontAlgn="base" hangingPunct="0">
              <a:spcBef>
                <a:spcPct val="0"/>
              </a:spcBef>
              <a:spcAft>
                <a:spcPct val="0"/>
              </a:spcAft>
              <a:tabLst>
                <a:tab pos="0" algn="l"/>
                <a:tab pos="403225" algn="l"/>
                <a:tab pos="808038" algn="l"/>
                <a:tab pos="1212850" algn="l"/>
                <a:tab pos="1617663" algn="l"/>
                <a:tab pos="2022475" algn="l"/>
                <a:tab pos="2425700" algn="l"/>
                <a:tab pos="2830513" algn="l"/>
                <a:tab pos="3235325" algn="l"/>
                <a:tab pos="3640138" algn="l"/>
                <a:tab pos="4044950" algn="l"/>
                <a:tab pos="4449763" algn="l"/>
                <a:tab pos="4854575" algn="l"/>
                <a:tab pos="5259388" algn="l"/>
                <a:tab pos="5664200" algn="l"/>
                <a:tab pos="6069013" algn="l"/>
                <a:tab pos="6473825" algn="l"/>
                <a:tab pos="6878638" algn="l"/>
                <a:tab pos="7283450" algn="l"/>
                <a:tab pos="7688263" algn="l"/>
                <a:tab pos="8093075" algn="l"/>
              </a:tabLst>
              <a:defRPr sz="2000">
                <a:solidFill>
                  <a:schemeClr val="bg1"/>
                </a:solidFill>
                <a:latin typeface="Arial" panose="020B0604020202020204" pitchFamily="34" charset="0"/>
                <a:ea typeface="Arial Unicode MS" pitchFamily="34" charset="-128"/>
              </a:defRPr>
            </a:lvl8pPr>
            <a:lvl9pPr marL="3886200" indent="-228600" defTabSz="449263" eaLnBrk="0" fontAlgn="base" hangingPunct="0">
              <a:spcBef>
                <a:spcPct val="0"/>
              </a:spcBef>
              <a:spcAft>
                <a:spcPct val="0"/>
              </a:spcAft>
              <a:tabLst>
                <a:tab pos="0" algn="l"/>
                <a:tab pos="403225" algn="l"/>
                <a:tab pos="808038" algn="l"/>
                <a:tab pos="1212850" algn="l"/>
                <a:tab pos="1617663" algn="l"/>
                <a:tab pos="2022475" algn="l"/>
                <a:tab pos="2425700" algn="l"/>
                <a:tab pos="2830513" algn="l"/>
                <a:tab pos="3235325" algn="l"/>
                <a:tab pos="3640138" algn="l"/>
                <a:tab pos="4044950" algn="l"/>
                <a:tab pos="4449763" algn="l"/>
                <a:tab pos="4854575" algn="l"/>
                <a:tab pos="5259388" algn="l"/>
                <a:tab pos="5664200" algn="l"/>
                <a:tab pos="6069013" algn="l"/>
                <a:tab pos="6473825" algn="l"/>
                <a:tab pos="6878638" algn="l"/>
                <a:tab pos="7283450" algn="l"/>
                <a:tab pos="7688263" algn="l"/>
                <a:tab pos="8093075" algn="l"/>
              </a:tabLst>
              <a:defRPr sz="2000">
                <a:solidFill>
                  <a:schemeClr val="bg1"/>
                </a:solidFill>
                <a:latin typeface="Arial" panose="020B0604020202020204" pitchFamily="34" charset="0"/>
                <a:ea typeface="Arial Unicode MS" pitchFamily="34" charset="-128"/>
              </a:defRPr>
            </a:lvl9pPr>
          </a:lstStyle>
          <a:p>
            <a:fld id="{1DC3CEC1-F24A-454F-A728-3A272B2422C7}" type="slidenum">
              <a:rPr lang="en-US" altLang="en-US" sz="1300" smtClean="0">
                <a:solidFill>
                  <a:srgbClr val="000000"/>
                </a:solidFill>
                <a:latin typeface="Times New Roman" panose="02020603050405020304" pitchFamily="18" charset="0"/>
              </a:rPr>
              <a:pPr/>
              <a:t>9</a:t>
            </a:fld>
            <a:endParaRPr lang="en-US" altLang="en-US" sz="1300">
              <a:solidFill>
                <a:srgbClr val="000000"/>
              </a:solidFill>
              <a:latin typeface="Times New Roman" panose="02020603050405020304" pitchFamily="18"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8" name="Slide Image Placeholder 1"/>
          <p:cNvSpPr>
            <a:spLocks noGrp="1" noRot="1" noChangeAspect="1" noTextEdit="1"/>
          </p:cNvSpPr>
          <p:nvPr>
            <p:ph type="sldImg"/>
          </p:nvPr>
        </p:nvSpPr>
        <p:spPr>
          <a:xfrm>
            <a:off x="220663" y="812800"/>
            <a:ext cx="7105650" cy="3997325"/>
          </a:xfrm>
        </p:spPr>
      </p:sp>
      <p:sp>
        <p:nvSpPr>
          <p:cNvPr id="34819"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en-GB" altLang="en-US" dirty="0">
                <a:latin typeface="Times New Roman" panose="02020603050405020304" pitchFamily="18" charset="0"/>
              </a:rPr>
              <a:t>Link to resource list here </a:t>
            </a:r>
          </a:p>
        </p:txBody>
      </p:sp>
      <p:sp>
        <p:nvSpPr>
          <p:cNvPr id="34820" name="Slide Number Placeholder 3"/>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chemeClr val="bg1"/>
                </a:solidFill>
                <a:latin typeface="Arial" panose="020B0604020202020204" pitchFamily="34" charset="0"/>
                <a:ea typeface="Arial Unicode MS" pitchFamily="34" charset="-128"/>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chemeClr val="bg1"/>
                </a:solidFill>
                <a:latin typeface="Arial" panose="020B0604020202020204" pitchFamily="34" charset="0"/>
                <a:ea typeface="Arial Unicode MS" pitchFamily="34" charset="-128"/>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chemeClr val="bg1"/>
                </a:solidFill>
                <a:latin typeface="Arial" panose="020B0604020202020204" pitchFamily="34" charset="0"/>
                <a:ea typeface="Arial Unicode MS" pitchFamily="34" charset="-128"/>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chemeClr val="bg1"/>
                </a:solidFill>
                <a:latin typeface="Arial" panose="020B0604020202020204" pitchFamily="34" charset="0"/>
                <a:ea typeface="Arial Unicode MS" pitchFamily="34" charset="-128"/>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chemeClr val="bg1"/>
                </a:solidFill>
                <a:latin typeface="Arial" panose="020B0604020202020204" pitchFamily="34" charset="0"/>
                <a:ea typeface="Arial Unicode MS" pitchFamily="34" charset="-128"/>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chemeClr val="bg1"/>
                </a:solidFill>
                <a:latin typeface="Arial" panose="020B0604020202020204" pitchFamily="34" charset="0"/>
                <a:ea typeface="Arial Unicode MS" pitchFamily="34" charset="-128"/>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chemeClr val="bg1"/>
                </a:solidFill>
                <a:latin typeface="Arial" panose="020B0604020202020204" pitchFamily="34" charset="0"/>
                <a:ea typeface="Arial Unicode MS" pitchFamily="34" charset="-128"/>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chemeClr val="bg1"/>
                </a:solidFill>
                <a:latin typeface="Arial" panose="020B0604020202020204" pitchFamily="34" charset="0"/>
                <a:ea typeface="Arial Unicode MS" pitchFamily="34" charset="-128"/>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chemeClr val="bg1"/>
                </a:solidFill>
                <a:latin typeface="Arial" panose="020B0604020202020204" pitchFamily="34" charset="0"/>
                <a:ea typeface="Arial Unicode MS" pitchFamily="34" charset="-128"/>
              </a:defRPr>
            </a:lvl9pPr>
          </a:lstStyle>
          <a:p>
            <a:fld id="{2EAD06B7-08EE-4246-8840-BB59FEC4DC4E}" type="slidenum">
              <a:rPr lang="en-US" altLang="en-US" sz="1400" smtClean="0">
                <a:solidFill>
                  <a:srgbClr val="000000"/>
                </a:solidFill>
                <a:latin typeface="Times New Roman" panose="02020603050405020304" pitchFamily="18" charset="0"/>
              </a:rPr>
              <a:pPr/>
              <a:t>10</a:t>
            </a:fld>
            <a:endParaRPr lang="en-US" altLang="en-US" sz="140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36389721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Slide Image Placeholder 1"/>
          <p:cNvSpPr>
            <a:spLocks noGrp="1" noRot="1" noChangeAspect="1" noTextEdit="1"/>
          </p:cNvSpPr>
          <p:nvPr>
            <p:ph type="sldImg"/>
          </p:nvPr>
        </p:nvSpPr>
        <p:spPr>
          <a:xfrm>
            <a:off x="220663" y="812800"/>
            <a:ext cx="7105650" cy="3997325"/>
          </a:xfrm>
        </p:spPr>
      </p:sp>
      <p:sp>
        <p:nvSpPr>
          <p:cNvPr id="36867"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
        <p:nvSpPr>
          <p:cNvPr id="36868" name="Slide Number Placeholder 3"/>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chemeClr val="bg1"/>
                </a:solidFill>
                <a:latin typeface="Arial" panose="020B0604020202020204" pitchFamily="34" charset="0"/>
                <a:ea typeface="Arial Unicode MS" pitchFamily="34" charset="-128"/>
              </a:defRPr>
            </a:lvl1pPr>
            <a:lvl2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chemeClr val="bg1"/>
                </a:solidFill>
                <a:latin typeface="Arial" panose="020B0604020202020204" pitchFamily="34" charset="0"/>
                <a:ea typeface="Arial Unicode MS" pitchFamily="34" charset="-128"/>
              </a:defRPr>
            </a:lvl2pPr>
            <a:lvl3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chemeClr val="bg1"/>
                </a:solidFill>
                <a:latin typeface="Arial" panose="020B0604020202020204" pitchFamily="34" charset="0"/>
                <a:ea typeface="Arial Unicode MS" pitchFamily="34" charset="-128"/>
              </a:defRPr>
            </a:lvl3pPr>
            <a:lvl4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chemeClr val="bg1"/>
                </a:solidFill>
                <a:latin typeface="Arial" panose="020B0604020202020204" pitchFamily="34" charset="0"/>
                <a:ea typeface="Arial Unicode MS" pitchFamily="34" charset="-128"/>
              </a:defRPr>
            </a:lvl4pPr>
            <a:lvl5pPr>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chemeClr val="bg1"/>
                </a:solidFill>
                <a:latin typeface="Arial" panose="020B0604020202020204" pitchFamily="34" charset="0"/>
                <a:ea typeface="Arial Unicode MS" pitchFamily="34" charset="-128"/>
              </a:defRPr>
            </a:lvl5pPr>
            <a:lvl6pPr marL="25146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chemeClr val="bg1"/>
                </a:solidFill>
                <a:latin typeface="Arial" panose="020B0604020202020204" pitchFamily="34" charset="0"/>
                <a:ea typeface="Arial Unicode MS" pitchFamily="34" charset="-128"/>
              </a:defRPr>
            </a:lvl6pPr>
            <a:lvl7pPr marL="29718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chemeClr val="bg1"/>
                </a:solidFill>
                <a:latin typeface="Arial" panose="020B0604020202020204" pitchFamily="34" charset="0"/>
                <a:ea typeface="Arial Unicode MS" pitchFamily="34" charset="-128"/>
              </a:defRPr>
            </a:lvl7pPr>
            <a:lvl8pPr marL="34290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chemeClr val="bg1"/>
                </a:solidFill>
                <a:latin typeface="Arial" panose="020B0604020202020204" pitchFamily="34" charset="0"/>
                <a:ea typeface="Arial Unicode MS" pitchFamily="34" charset="-128"/>
              </a:defRPr>
            </a:lvl8pPr>
            <a:lvl9pPr marL="3886200" indent="-228600" defTabSz="449263" eaLnBrk="0" fontAlgn="base" hangingPunct="0">
              <a:spcBef>
                <a:spcPct val="0"/>
              </a:spcBef>
              <a:spcAft>
                <a:spcPct val="0"/>
              </a:spcAft>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defRPr sz="2000">
                <a:solidFill>
                  <a:schemeClr val="bg1"/>
                </a:solidFill>
                <a:latin typeface="Arial" panose="020B0604020202020204" pitchFamily="34" charset="0"/>
                <a:ea typeface="Arial Unicode MS" pitchFamily="34" charset="-128"/>
              </a:defRPr>
            </a:lvl9pPr>
          </a:lstStyle>
          <a:p>
            <a:fld id="{CDD78267-8F92-4E6D-A178-02D1954FE429}" type="slidenum">
              <a:rPr lang="en-US" altLang="en-US" sz="1400" smtClean="0">
                <a:solidFill>
                  <a:srgbClr val="000000"/>
                </a:solidFill>
                <a:latin typeface="Times New Roman" panose="02020603050405020304" pitchFamily="18" charset="0"/>
              </a:rPr>
              <a:pPr/>
              <a:t>13</a:t>
            </a:fld>
            <a:endParaRPr lang="en-US" altLang="en-US" sz="1400">
              <a:solidFill>
                <a:srgbClr val="000000"/>
              </a:solidFill>
              <a:latin typeface="Times New Roman" panose="02020603050405020304" pitchFamily="18" charset="0"/>
            </a:endParaRPr>
          </a:p>
        </p:txBody>
      </p:sp>
    </p:spTree>
    <p:extLst>
      <p:ext uri="{BB962C8B-B14F-4D97-AF65-F5344CB8AC3E}">
        <p14:creationId xmlns:p14="http://schemas.microsoft.com/office/powerpoint/2010/main" val="31100410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p:nvPr>
        </p:nvSpPr>
        <p:spPr/>
        <p:txBody>
          <a:bodyPr/>
          <a:lstStyle/>
          <a:p>
            <a:pPr>
              <a:defRPr/>
            </a:pPr>
            <a:fld id="{EDBC5AC9-95FD-4AD8-820E-3A4451B0A957}" type="slidenum">
              <a:rPr lang="en-US" altLang="en-US" smtClean="0"/>
              <a:pPr>
                <a:defRPr/>
              </a:pPr>
              <a:t>14</a:t>
            </a:fld>
            <a:endParaRPr lang="en-US" altLang="en-US"/>
          </a:p>
        </p:txBody>
      </p:sp>
    </p:spTree>
    <p:extLst>
      <p:ext uri="{BB962C8B-B14F-4D97-AF65-F5344CB8AC3E}">
        <p14:creationId xmlns:p14="http://schemas.microsoft.com/office/powerpoint/2010/main" val="244753339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p:nvPr>
        </p:nvSpPr>
        <p:spPr/>
        <p:txBody>
          <a:bodyPr/>
          <a:lstStyle/>
          <a:p>
            <a:pPr>
              <a:defRPr/>
            </a:pPr>
            <a:fld id="{EDBC5AC9-95FD-4AD8-820E-3A4451B0A957}" type="slidenum">
              <a:rPr lang="en-US" altLang="en-US" smtClean="0"/>
              <a:pPr>
                <a:defRPr/>
              </a:pPr>
              <a:t>15</a:t>
            </a:fld>
            <a:endParaRPr lang="en-US" altLang="en-US"/>
          </a:p>
        </p:txBody>
      </p:sp>
    </p:spTree>
    <p:extLst>
      <p:ext uri="{BB962C8B-B14F-4D97-AF65-F5344CB8AC3E}">
        <p14:creationId xmlns:p14="http://schemas.microsoft.com/office/powerpoint/2010/main" val="387523321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Slide Image Placeholder 1">
            <a:extLst>
              <a:ext uri="{FF2B5EF4-FFF2-40B4-BE49-F238E27FC236}">
                <a16:creationId xmlns:a16="http://schemas.microsoft.com/office/drawing/2014/main" id="{9C6FA2BC-7259-CA09-80E6-9D2590B49E90}"/>
              </a:ext>
            </a:extLst>
          </p:cNvPr>
          <p:cNvSpPr>
            <a:spLocks noGrp="1" noRot="1" noChangeAspect="1" noChangeArrowheads="1" noTextEdit="1"/>
          </p:cNvSpPr>
          <p:nvPr>
            <p:ph type="sldImg"/>
          </p:nvPr>
        </p:nvSpPr>
        <p:spPr/>
      </p:sp>
      <p:sp>
        <p:nvSpPr>
          <p:cNvPr id="41987" name="Notes Placeholder 2">
            <a:extLst>
              <a:ext uri="{FF2B5EF4-FFF2-40B4-BE49-F238E27FC236}">
                <a16:creationId xmlns:a16="http://schemas.microsoft.com/office/drawing/2014/main" id="{10AFDE73-5C05-B623-7D83-26BE9841B3A5}"/>
              </a:ext>
            </a:extLst>
          </p:cNvPr>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dirty="0">
              <a:latin typeface="Times New Roman" panose="02020603050405020304" pitchFamily="18" charset="0"/>
            </a:endParaRPr>
          </a:p>
        </p:txBody>
      </p:sp>
      <p:sp>
        <p:nvSpPr>
          <p:cNvPr id="41988" name="Slide Number Placeholder 3">
            <a:extLst>
              <a:ext uri="{FF2B5EF4-FFF2-40B4-BE49-F238E27FC236}">
                <a16:creationId xmlns:a16="http://schemas.microsoft.com/office/drawing/2014/main" id="{3B9BF82F-92B6-ADAB-AC6F-833B2AF8C16C}"/>
              </a:ext>
            </a:extLst>
          </p:cNvPr>
          <p:cNvSpPr>
            <a:spLocks noGrp="1"/>
          </p:cNvSpPr>
          <p:nvPr>
            <p:ph type="sldNum" sz="quarter"/>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spcBef>
                <a:spcPct val="30000"/>
              </a:spcBef>
              <a:buClr>
                <a:srgbClr val="000000"/>
              </a:buClr>
              <a:buSzPct val="100000"/>
              <a:buFont typeface="Times New Roman" panose="02020603050405020304" pitchFamily="18" charset="0"/>
              <a:tabLst>
                <a:tab pos="0" algn="l"/>
                <a:tab pos="409575" algn="l"/>
                <a:tab pos="822325" algn="l"/>
                <a:tab pos="1235075" algn="l"/>
                <a:tab pos="1646238" algn="l"/>
                <a:tab pos="2058988" algn="l"/>
                <a:tab pos="2470150" algn="l"/>
                <a:tab pos="2881313" algn="l"/>
                <a:tab pos="3294063" algn="l"/>
                <a:tab pos="3706813" algn="l"/>
                <a:tab pos="4119563" algn="l"/>
                <a:tab pos="4530725" algn="l"/>
                <a:tab pos="4943475" algn="l"/>
                <a:tab pos="5356225" algn="l"/>
                <a:tab pos="5768975" algn="l"/>
                <a:tab pos="6180138" algn="l"/>
                <a:tab pos="6592888" algn="l"/>
                <a:tab pos="7005638" algn="l"/>
                <a:tab pos="7416800" algn="l"/>
                <a:tab pos="7829550" algn="l"/>
                <a:tab pos="8242300" algn="l"/>
              </a:tabLst>
              <a:defRPr sz="1200">
                <a:solidFill>
                  <a:srgbClr val="000000"/>
                </a:solidFill>
                <a:latin typeface="Times New Roman" panose="02020603050405020304" pitchFamily="18" charset="0"/>
              </a:defRPr>
            </a:lvl1pPr>
            <a:lvl2pPr>
              <a:spcBef>
                <a:spcPct val="30000"/>
              </a:spcBef>
              <a:buClr>
                <a:srgbClr val="000000"/>
              </a:buClr>
              <a:buSzPct val="100000"/>
              <a:buFont typeface="Times New Roman" panose="02020603050405020304" pitchFamily="18" charset="0"/>
              <a:tabLst>
                <a:tab pos="0" algn="l"/>
                <a:tab pos="409575" algn="l"/>
                <a:tab pos="822325" algn="l"/>
                <a:tab pos="1235075" algn="l"/>
                <a:tab pos="1646238" algn="l"/>
                <a:tab pos="2058988" algn="l"/>
                <a:tab pos="2470150" algn="l"/>
                <a:tab pos="2881313" algn="l"/>
                <a:tab pos="3294063" algn="l"/>
                <a:tab pos="3706813" algn="l"/>
                <a:tab pos="4119563" algn="l"/>
                <a:tab pos="4530725" algn="l"/>
                <a:tab pos="4943475" algn="l"/>
                <a:tab pos="5356225" algn="l"/>
                <a:tab pos="5768975" algn="l"/>
                <a:tab pos="6180138" algn="l"/>
                <a:tab pos="6592888" algn="l"/>
                <a:tab pos="7005638" algn="l"/>
                <a:tab pos="7416800" algn="l"/>
                <a:tab pos="7829550" algn="l"/>
                <a:tab pos="8242300" algn="l"/>
              </a:tabLst>
              <a:defRPr sz="1200">
                <a:solidFill>
                  <a:srgbClr val="000000"/>
                </a:solidFill>
                <a:latin typeface="Times New Roman" panose="02020603050405020304" pitchFamily="18" charset="0"/>
              </a:defRPr>
            </a:lvl2pPr>
            <a:lvl3pPr>
              <a:spcBef>
                <a:spcPct val="30000"/>
              </a:spcBef>
              <a:buClr>
                <a:srgbClr val="000000"/>
              </a:buClr>
              <a:buSzPct val="100000"/>
              <a:buFont typeface="Times New Roman" panose="02020603050405020304" pitchFamily="18" charset="0"/>
              <a:tabLst>
                <a:tab pos="0" algn="l"/>
                <a:tab pos="409575" algn="l"/>
                <a:tab pos="822325" algn="l"/>
                <a:tab pos="1235075" algn="l"/>
                <a:tab pos="1646238" algn="l"/>
                <a:tab pos="2058988" algn="l"/>
                <a:tab pos="2470150" algn="l"/>
                <a:tab pos="2881313" algn="l"/>
                <a:tab pos="3294063" algn="l"/>
                <a:tab pos="3706813" algn="l"/>
                <a:tab pos="4119563" algn="l"/>
                <a:tab pos="4530725" algn="l"/>
                <a:tab pos="4943475" algn="l"/>
                <a:tab pos="5356225" algn="l"/>
                <a:tab pos="5768975" algn="l"/>
                <a:tab pos="6180138" algn="l"/>
                <a:tab pos="6592888" algn="l"/>
                <a:tab pos="7005638" algn="l"/>
                <a:tab pos="7416800" algn="l"/>
                <a:tab pos="7829550" algn="l"/>
                <a:tab pos="8242300" algn="l"/>
              </a:tabLst>
              <a:defRPr sz="1200">
                <a:solidFill>
                  <a:srgbClr val="000000"/>
                </a:solidFill>
                <a:latin typeface="Times New Roman" panose="02020603050405020304" pitchFamily="18" charset="0"/>
              </a:defRPr>
            </a:lvl3pPr>
            <a:lvl4pPr>
              <a:spcBef>
                <a:spcPct val="30000"/>
              </a:spcBef>
              <a:buClr>
                <a:srgbClr val="000000"/>
              </a:buClr>
              <a:buSzPct val="100000"/>
              <a:buFont typeface="Times New Roman" panose="02020603050405020304" pitchFamily="18" charset="0"/>
              <a:tabLst>
                <a:tab pos="0" algn="l"/>
                <a:tab pos="409575" algn="l"/>
                <a:tab pos="822325" algn="l"/>
                <a:tab pos="1235075" algn="l"/>
                <a:tab pos="1646238" algn="l"/>
                <a:tab pos="2058988" algn="l"/>
                <a:tab pos="2470150" algn="l"/>
                <a:tab pos="2881313" algn="l"/>
                <a:tab pos="3294063" algn="l"/>
                <a:tab pos="3706813" algn="l"/>
                <a:tab pos="4119563" algn="l"/>
                <a:tab pos="4530725" algn="l"/>
                <a:tab pos="4943475" algn="l"/>
                <a:tab pos="5356225" algn="l"/>
                <a:tab pos="5768975" algn="l"/>
                <a:tab pos="6180138" algn="l"/>
                <a:tab pos="6592888" algn="l"/>
                <a:tab pos="7005638" algn="l"/>
                <a:tab pos="7416800" algn="l"/>
                <a:tab pos="7829550" algn="l"/>
                <a:tab pos="8242300" algn="l"/>
              </a:tabLst>
              <a:defRPr sz="1200">
                <a:solidFill>
                  <a:srgbClr val="000000"/>
                </a:solidFill>
                <a:latin typeface="Times New Roman" panose="02020603050405020304" pitchFamily="18" charset="0"/>
              </a:defRPr>
            </a:lvl4pPr>
            <a:lvl5pPr>
              <a:spcBef>
                <a:spcPct val="30000"/>
              </a:spcBef>
              <a:buClr>
                <a:srgbClr val="000000"/>
              </a:buClr>
              <a:buSzPct val="100000"/>
              <a:buFont typeface="Times New Roman" panose="02020603050405020304" pitchFamily="18" charset="0"/>
              <a:tabLst>
                <a:tab pos="0" algn="l"/>
                <a:tab pos="409575" algn="l"/>
                <a:tab pos="822325" algn="l"/>
                <a:tab pos="1235075" algn="l"/>
                <a:tab pos="1646238" algn="l"/>
                <a:tab pos="2058988" algn="l"/>
                <a:tab pos="2470150" algn="l"/>
                <a:tab pos="2881313" algn="l"/>
                <a:tab pos="3294063" algn="l"/>
                <a:tab pos="3706813" algn="l"/>
                <a:tab pos="4119563" algn="l"/>
                <a:tab pos="4530725" algn="l"/>
                <a:tab pos="4943475" algn="l"/>
                <a:tab pos="5356225" algn="l"/>
                <a:tab pos="5768975" algn="l"/>
                <a:tab pos="6180138" algn="l"/>
                <a:tab pos="6592888" algn="l"/>
                <a:tab pos="7005638" algn="l"/>
                <a:tab pos="7416800" algn="l"/>
                <a:tab pos="7829550" algn="l"/>
                <a:tab pos="8242300" algn="l"/>
              </a:tabLst>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09575" algn="l"/>
                <a:tab pos="822325" algn="l"/>
                <a:tab pos="1235075" algn="l"/>
                <a:tab pos="1646238" algn="l"/>
                <a:tab pos="2058988" algn="l"/>
                <a:tab pos="2470150" algn="l"/>
                <a:tab pos="2881313" algn="l"/>
                <a:tab pos="3294063" algn="l"/>
                <a:tab pos="3706813" algn="l"/>
                <a:tab pos="4119563" algn="l"/>
                <a:tab pos="4530725" algn="l"/>
                <a:tab pos="4943475" algn="l"/>
                <a:tab pos="5356225" algn="l"/>
                <a:tab pos="5768975" algn="l"/>
                <a:tab pos="6180138" algn="l"/>
                <a:tab pos="6592888" algn="l"/>
                <a:tab pos="7005638" algn="l"/>
                <a:tab pos="7416800" algn="l"/>
                <a:tab pos="7829550" algn="l"/>
                <a:tab pos="8242300" algn="l"/>
              </a:tabLst>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09575" algn="l"/>
                <a:tab pos="822325" algn="l"/>
                <a:tab pos="1235075" algn="l"/>
                <a:tab pos="1646238" algn="l"/>
                <a:tab pos="2058988" algn="l"/>
                <a:tab pos="2470150" algn="l"/>
                <a:tab pos="2881313" algn="l"/>
                <a:tab pos="3294063" algn="l"/>
                <a:tab pos="3706813" algn="l"/>
                <a:tab pos="4119563" algn="l"/>
                <a:tab pos="4530725" algn="l"/>
                <a:tab pos="4943475" algn="l"/>
                <a:tab pos="5356225" algn="l"/>
                <a:tab pos="5768975" algn="l"/>
                <a:tab pos="6180138" algn="l"/>
                <a:tab pos="6592888" algn="l"/>
                <a:tab pos="7005638" algn="l"/>
                <a:tab pos="7416800" algn="l"/>
                <a:tab pos="7829550" algn="l"/>
                <a:tab pos="8242300" algn="l"/>
              </a:tabLst>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09575" algn="l"/>
                <a:tab pos="822325" algn="l"/>
                <a:tab pos="1235075" algn="l"/>
                <a:tab pos="1646238" algn="l"/>
                <a:tab pos="2058988" algn="l"/>
                <a:tab pos="2470150" algn="l"/>
                <a:tab pos="2881313" algn="l"/>
                <a:tab pos="3294063" algn="l"/>
                <a:tab pos="3706813" algn="l"/>
                <a:tab pos="4119563" algn="l"/>
                <a:tab pos="4530725" algn="l"/>
                <a:tab pos="4943475" algn="l"/>
                <a:tab pos="5356225" algn="l"/>
                <a:tab pos="5768975" algn="l"/>
                <a:tab pos="6180138" algn="l"/>
                <a:tab pos="6592888" algn="l"/>
                <a:tab pos="7005638" algn="l"/>
                <a:tab pos="7416800" algn="l"/>
                <a:tab pos="7829550" algn="l"/>
                <a:tab pos="8242300" algn="l"/>
              </a:tabLst>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tabLst>
                <a:tab pos="0" algn="l"/>
                <a:tab pos="409575" algn="l"/>
                <a:tab pos="822325" algn="l"/>
                <a:tab pos="1235075" algn="l"/>
                <a:tab pos="1646238" algn="l"/>
                <a:tab pos="2058988" algn="l"/>
                <a:tab pos="2470150" algn="l"/>
                <a:tab pos="2881313" algn="l"/>
                <a:tab pos="3294063" algn="l"/>
                <a:tab pos="3706813" algn="l"/>
                <a:tab pos="4119563" algn="l"/>
                <a:tab pos="4530725" algn="l"/>
                <a:tab pos="4943475" algn="l"/>
                <a:tab pos="5356225" algn="l"/>
                <a:tab pos="5768975" algn="l"/>
                <a:tab pos="6180138" algn="l"/>
                <a:tab pos="6592888" algn="l"/>
                <a:tab pos="7005638" algn="l"/>
                <a:tab pos="7416800" algn="l"/>
                <a:tab pos="7829550" algn="l"/>
                <a:tab pos="8242300" algn="l"/>
              </a:tabLst>
              <a:defRPr sz="1200">
                <a:solidFill>
                  <a:srgbClr val="000000"/>
                </a:solidFill>
                <a:latin typeface="Times New Roman" panose="02020603050405020304" pitchFamily="18" charset="0"/>
              </a:defRPr>
            </a:lvl9pPr>
          </a:lstStyle>
          <a:p>
            <a:pPr>
              <a:spcBef>
                <a:spcPct val="0"/>
              </a:spcBef>
              <a:buClrTx/>
              <a:buFontTx/>
              <a:buNone/>
            </a:pPr>
            <a:fld id="{0AE75BFE-446A-4FC8-B53B-24DEE8E284B6}" type="slidenum">
              <a:rPr lang="en-US" altLang="en-US" sz="1300"/>
              <a:pPr>
                <a:spcBef>
                  <a:spcPct val="0"/>
                </a:spcBef>
                <a:buClrTx/>
                <a:buFontTx/>
                <a:buNone/>
              </a:pPr>
              <a:t>16</a:t>
            </a:fld>
            <a:endParaRPr lang="en-US" altLang="en-US" sz="130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Slide Image Placeholder 1"/>
          <p:cNvSpPr>
            <a:spLocks noGrp="1" noRot="1" noChangeAspect="1" noTextEdit="1"/>
          </p:cNvSpPr>
          <p:nvPr>
            <p:ph type="sldImg"/>
          </p:nvPr>
        </p:nvSpPr>
        <p:spPr>
          <a:xfrm>
            <a:off x="220663" y="812800"/>
            <a:ext cx="7105650" cy="3997325"/>
          </a:xfrm>
        </p:spPr>
      </p:sp>
      <p:sp>
        <p:nvSpPr>
          <p:cNvPr id="40963" name="Notes Placeholder 2"/>
          <p:cNvSpPr>
            <a:spLocks noGrp="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GB" altLang="en-US" dirty="0">
              <a:latin typeface="Times New Roman" panose="02020603050405020304" pitchFamily="18" charset="0"/>
            </a:endParaRPr>
          </a:p>
        </p:txBody>
      </p:sp>
      <p:sp>
        <p:nvSpPr>
          <p:cNvPr id="4" name="Slide Number Placeholder 3"/>
          <p:cNvSpPr>
            <a:spLocks noGrp="1"/>
          </p:cNvSpPr>
          <p:nvPr>
            <p:ph type="sldNum" sz="quarter"/>
          </p:nvPr>
        </p:nvSpPr>
        <p:spPr/>
        <p:txBody>
          <a:bodyPr/>
          <a:lstStyle/>
          <a:p>
            <a:pPr defTabSz="914400" fontAlgn="auto" hangingPunct="1">
              <a:lnSpc>
                <a:spcPct val="100000"/>
              </a:lnSpc>
              <a:spcBef>
                <a:spcPts val="0"/>
              </a:spcBef>
              <a:spcAft>
                <a:spcPts val="0"/>
              </a:spcAft>
              <a:buSzTx/>
              <a:tabLst/>
              <a:defRPr/>
            </a:pPr>
            <a:fld id="{05777DB3-79D8-4836-B03F-DDDD6B9A1476}" type="slidenum">
              <a:rPr lang="en-GB" sz="1200" smtClean="0">
                <a:solidFill>
                  <a:prstClr val="black"/>
                </a:solidFill>
                <a:latin typeface="Calibri" panose="020F0502020204030204"/>
                <a:ea typeface="+mn-ea"/>
              </a:rPr>
              <a:pPr defTabSz="914400" fontAlgn="auto" hangingPunct="1">
                <a:lnSpc>
                  <a:spcPct val="100000"/>
                </a:lnSpc>
                <a:spcBef>
                  <a:spcPts val="0"/>
                </a:spcBef>
                <a:spcAft>
                  <a:spcPts val="0"/>
                </a:spcAft>
                <a:buSzTx/>
                <a:tabLst/>
                <a:defRPr/>
              </a:pPr>
              <a:t>17</a:t>
            </a:fld>
            <a:endParaRPr lang="en-GB" sz="1200">
              <a:solidFill>
                <a:prstClr val="black"/>
              </a:solidFill>
              <a:latin typeface="Calibri" panose="020F0502020204030204"/>
              <a:ea typeface="+mn-ea"/>
            </a:endParaRPr>
          </a:p>
        </p:txBody>
      </p:sp>
    </p:spTree>
    <p:extLst>
      <p:ext uri="{BB962C8B-B14F-4D97-AF65-F5344CB8AC3E}">
        <p14:creationId xmlns:p14="http://schemas.microsoft.com/office/powerpoint/2010/main" val="58943271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7" name="Freeform: Shape 6">
            <a:extLst>
              <a:ext uri="{FF2B5EF4-FFF2-40B4-BE49-F238E27FC236}">
                <a16:creationId xmlns:a16="http://schemas.microsoft.com/office/drawing/2014/main" id="{EA67E988-5919-57BB-C7DE-D3EAD38A3045}"/>
              </a:ext>
              <a:ext uri="{C183D7F6-B498-43B3-948B-1728B52AA6E4}">
                <adec:decorative xmlns:adec="http://schemas.microsoft.com/office/drawing/2017/decorative" val="1"/>
              </a:ext>
            </a:extLst>
          </p:cNvPr>
          <p:cNvSpPr/>
          <p:nvPr/>
        </p:nvSpPr>
        <p:spPr>
          <a:xfrm>
            <a:off x="517870" y="6209925"/>
            <a:ext cx="11155680" cy="45719"/>
          </a:xfrm>
          <a:custGeom>
            <a:avLst/>
            <a:gdLst>
              <a:gd name="connsiteX0" fmla="*/ 0 w 8715708"/>
              <a:gd name="connsiteY0" fmla="*/ 0 h 45719"/>
              <a:gd name="connsiteX1" fmla="*/ 3694525 w 8715708"/>
              <a:gd name="connsiteY1" fmla="*/ 0 h 45719"/>
              <a:gd name="connsiteX2" fmla="*/ 5021183 w 8715708"/>
              <a:gd name="connsiteY2" fmla="*/ 0 h 45719"/>
              <a:gd name="connsiteX3" fmla="*/ 8715708 w 8715708"/>
              <a:gd name="connsiteY3" fmla="*/ 0 h 45719"/>
              <a:gd name="connsiteX4" fmla="*/ 8715708 w 8715708"/>
              <a:gd name="connsiteY4" fmla="*/ 45719 h 45719"/>
              <a:gd name="connsiteX5" fmla="*/ 5021183 w 8715708"/>
              <a:gd name="connsiteY5" fmla="*/ 45719 h 45719"/>
              <a:gd name="connsiteX6" fmla="*/ 3694525 w 8715708"/>
              <a:gd name="connsiteY6" fmla="*/ 45719 h 45719"/>
              <a:gd name="connsiteX7" fmla="*/ 0 w 8715708"/>
              <a:gd name="connsiteY7" fmla="*/ 45719 h 457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715708" h="45719">
                <a:moveTo>
                  <a:pt x="0" y="0"/>
                </a:moveTo>
                <a:lnTo>
                  <a:pt x="3694525" y="0"/>
                </a:lnTo>
                <a:lnTo>
                  <a:pt x="5021183" y="0"/>
                </a:lnTo>
                <a:lnTo>
                  <a:pt x="8715708" y="0"/>
                </a:lnTo>
                <a:lnTo>
                  <a:pt x="8715708" y="45719"/>
                </a:lnTo>
                <a:lnTo>
                  <a:pt x="5021183" y="45719"/>
                </a:lnTo>
                <a:lnTo>
                  <a:pt x="3694525" y="45719"/>
                </a:lnTo>
                <a:lnTo>
                  <a:pt x="0" y="4571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B2327B2-BA4B-2C04-0751-5CB63D4AA425}"/>
              </a:ext>
            </a:extLst>
          </p:cNvPr>
          <p:cNvSpPr>
            <a:spLocks noGrp="1"/>
          </p:cNvSpPr>
          <p:nvPr>
            <p:ph type="ctrTitle"/>
          </p:nvPr>
        </p:nvSpPr>
        <p:spPr>
          <a:xfrm>
            <a:off x="521208" y="978408"/>
            <a:ext cx="11155680" cy="3429000"/>
          </a:xfrm>
        </p:spPr>
        <p:txBody>
          <a:bodyPr anchor="t">
            <a:normAutofit/>
          </a:bodyPr>
          <a:lstStyle>
            <a:lvl1pPr algn="l">
              <a:defRPr sz="7200"/>
            </a:lvl1pPr>
          </a:lstStyle>
          <a:p>
            <a:r>
              <a:rPr lang="en-US" dirty="0"/>
              <a:t>Click to edit Master title style</a:t>
            </a:r>
          </a:p>
        </p:txBody>
      </p:sp>
      <p:sp>
        <p:nvSpPr>
          <p:cNvPr id="3" name="Subtitle 2">
            <a:extLst>
              <a:ext uri="{FF2B5EF4-FFF2-40B4-BE49-F238E27FC236}">
                <a16:creationId xmlns:a16="http://schemas.microsoft.com/office/drawing/2014/main" id="{E7201176-DC7A-4C3D-3D8F-352526DA7B5D}"/>
              </a:ext>
            </a:extLst>
          </p:cNvPr>
          <p:cNvSpPr>
            <a:spLocks noGrp="1"/>
          </p:cNvSpPr>
          <p:nvPr>
            <p:ph type="subTitle" idx="1"/>
          </p:nvPr>
        </p:nvSpPr>
        <p:spPr>
          <a:xfrm>
            <a:off x="521208" y="4480560"/>
            <a:ext cx="7104888" cy="1399032"/>
          </a:xfrm>
        </p:spPr>
        <p:txBody>
          <a:bodyPr anchor="b">
            <a:normAutofit/>
          </a:bodyPr>
          <a:lstStyle>
            <a:lvl1pPr marL="0" indent="0" algn="l">
              <a:buNone/>
              <a:defRPr sz="2200" i="1"/>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C67DC221-9A2E-7459-102F-C3CFB27CC389}"/>
              </a:ext>
            </a:extLst>
          </p:cNvPr>
          <p:cNvSpPr>
            <a:spLocks noGrp="1"/>
          </p:cNvSpPr>
          <p:nvPr>
            <p:ph type="dt" sz="half" idx="10"/>
          </p:nvPr>
        </p:nvSpPr>
        <p:spPr/>
        <p:txBody>
          <a:bodyPr/>
          <a:lstStyle/>
          <a:p>
            <a:fld id="{E80C50CD-E178-4744-9B35-B2F624D6C5E9}" type="datetimeFigureOut">
              <a:rPr lang="en-US" smtClean="0"/>
              <a:t>10/20/26</a:t>
            </a:fld>
            <a:endParaRPr lang="en-US"/>
          </a:p>
        </p:txBody>
      </p:sp>
      <p:sp>
        <p:nvSpPr>
          <p:cNvPr id="5" name="Footer Placeholder 4">
            <a:extLst>
              <a:ext uri="{FF2B5EF4-FFF2-40B4-BE49-F238E27FC236}">
                <a16:creationId xmlns:a16="http://schemas.microsoft.com/office/drawing/2014/main" id="{A5020671-6F7D-3A03-EEC1-661A87F96F4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2453D3A-E0F9-8386-2A6C-96671FBB15A5}"/>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224124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A26D03-149A-DAB3-4B2A-E9B74F2E251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C1E73D-41A7-9934-0990-9208B952329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8BB2A3F-E719-673C-5D56-F663712D0E7F}"/>
              </a:ext>
            </a:extLst>
          </p:cNvPr>
          <p:cNvSpPr>
            <a:spLocks noGrp="1"/>
          </p:cNvSpPr>
          <p:nvPr>
            <p:ph type="dt" sz="half" idx="10"/>
          </p:nvPr>
        </p:nvSpPr>
        <p:spPr/>
        <p:txBody>
          <a:bodyPr/>
          <a:lstStyle/>
          <a:p>
            <a:fld id="{E80C50CD-E178-4744-9B35-B2F624D6C5E9}" type="datetimeFigureOut">
              <a:rPr lang="en-US" smtClean="0"/>
              <a:t>10/20/26</a:t>
            </a:fld>
            <a:endParaRPr lang="en-US"/>
          </a:p>
        </p:txBody>
      </p:sp>
      <p:sp>
        <p:nvSpPr>
          <p:cNvPr id="5" name="Footer Placeholder 4">
            <a:extLst>
              <a:ext uri="{FF2B5EF4-FFF2-40B4-BE49-F238E27FC236}">
                <a16:creationId xmlns:a16="http://schemas.microsoft.com/office/drawing/2014/main" id="{04AE594A-52F5-D85E-343C-ADFEE3C72E0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7D5C9C-B2E2-FC26-E459-9E880EF975B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905024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9D51F-B2D5-2804-4F7C-C99850FBD05B}"/>
              </a:ext>
            </a:extLst>
          </p:cNvPr>
          <p:cNvSpPr>
            <a:spLocks noGrp="1"/>
          </p:cNvSpPr>
          <p:nvPr>
            <p:ph type="title"/>
          </p:nvPr>
        </p:nvSpPr>
        <p:spPr>
          <a:xfrm>
            <a:off x="521208" y="978408"/>
            <a:ext cx="5020056" cy="4288536"/>
          </a:xfrm>
        </p:spPr>
        <p:txBody>
          <a:bodyPr anchor="t">
            <a:normAutofit/>
          </a:bodyPr>
          <a:lstStyle>
            <a:lvl1pPr>
              <a:defRPr sz="5400"/>
            </a:lvl1pPr>
          </a:lstStyle>
          <a:p>
            <a:r>
              <a:rPr lang="en-US" dirty="0"/>
              <a:t>Click to edit Master title style</a:t>
            </a:r>
          </a:p>
        </p:txBody>
      </p:sp>
      <p:sp>
        <p:nvSpPr>
          <p:cNvPr id="3" name="Text Placeholder 2">
            <a:extLst>
              <a:ext uri="{FF2B5EF4-FFF2-40B4-BE49-F238E27FC236}">
                <a16:creationId xmlns:a16="http://schemas.microsoft.com/office/drawing/2014/main" id="{15FE5516-03B6-C488-EB4A-68AE681EDFB8}"/>
              </a:ext>
            </a:extLst>
          </p:cNvPr>
          <p:cNvSpPr>
            <a:spLocks noGrp="1"/>
          </p:cNvSpPr>
          <p:nvPr>
            <p:ph type="body" idx="1"/>
          </p:nvPr>
        </p:nvSpPr>
        <p:spPr>
          <a:xfrm>
            <a:off x="521208" y="5266944"/>
            <a:ext cx="5020056" cy="1088136"/>
          </a:xfrm>
        </p:spPr>
        <p:txBody>
          <a:bodyPr anchor="b">
            <a:normAutofit/>
          </a:bodyPr>
          <a:lstStyle>
            <a:lvl1pPr marL="0" indent="0">
              <a:buNone/>
              <a:defRPr sz="2200" i="1">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50ECB4D7-49A7-D050-70B9-11A1E2D445D8}"/>
              </a:ext>
            </a:extLst>
          </p:cNvPr>
          <p:cNvSpPr>
            <a:spLocks noGrp="1"/>
          </p:cNvSpPr>
          <p:nvPr>
            <p:ph type="dt" sz="half" idx="10"/>
          </p:nvPr>
        </p:nvSpPr>
        <p:spPr/>
        <p:txBody>
          <a:bodyPr/>
          <a:lstStyle/>
          <a:p>
            <a:fld id="{E80C50CD-E178-4744-9B35-B2F624D6C5E9}" type="datetimeFigureOut">
              <a:rPr lang="en-US" smtClean="0"/>
              <a:t>10/20/26</a:t>
            </a:fld>
            <a:endParaRPr lang="en-US"/>
          </a:p>
        </p:txBody>
      </p:sp>
      <p:sp>
        <p:nvSpPr>
          <p:cNvPr id="5" name="Footer Placeholder 4">
            <a:extLst>
              <a:ext uri="{FF2B5EF4-FFF2-40B4-BE49-F238E27FC236}">
                <a16:creationId xmlns:a16="http://schemas.microsoft.com/office/drawing/2014/main" id="{8A9A913F-AD00-C1EE-B01A-8590671C01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14FC386-B2AF-6FAD-D053-E22D48CD7285}"/>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4E1E1B67-3BFF-F04B-52F4-7E724FB3B24D}"/>
              </a:ext>
            </a:extLst>
          </p:cNvPr>
          <p:cNvSpPr/>
          <p:nvPr/>
        </p:nvSpPr>
        <p:spPr>
          <a:xfrm>
            <a:off x="517870" y="508090"/>
            <a:ext cx="5021183"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7842410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CE3B21-CF4D-1B01-0F4E-D32C1B218B63}"/>
              </a:ext>
            </a:extLst>
          </p:cNvPr>
          <p:cNvSpPr>
            <a:spLocks noGrp="1"/>
          </p:cNvSpPr>
          <p:nvPr>
            <p:ph type="title"/>
          </p:nvPr>
        </p:nvSpPr>
        <p:spPr/>
        <p:txBody>
          <a:bodyPr/>
          <a:lstStyle/>
          <a:p>
            <a:r>
              <a:rPr lang="en-US" dirty="0"/>
              <a:t>Click to edit Master title style</a:t>
            </a:r>
          </a:p>
        </p:txBody>
      </p:sp>
      <p:sp>
        <p:nvSpPr>
          <p:cNvPr id="3" name="Content Placeholder 2">
            <a:extLst>
              <a:ext uri="{FF2B5EF4-FFF2-40B4-BE49-F238E27FC236}">
                <a16:creationId xmlns:a16="http://schemas.microsoft.com/office/drawing/2014/main" id="{1FB39FF2-6858-B514-B695-58442557D0C1}"/>
              </a:ext>
            </a:extLst>
          </p:cNvPr>
          <p:cNvSpPr>
            <a:spLocks noGrp="1"/>
          </p:cNvSpPr>
          <p:nvPr>
            <p:ph sz="half" idx="1"/>
          </p:nvPr>
        </p:nvSpPr>
        <p:spPr>
          <a:xfrm>
            <a:off x="521208"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8FA30130-974D-B91D-5B93-EC52AABDB5B0}"/>
              </a:ext>
            </a:extLst>
          </p:cNvPr>
          <p:cNvSpPr>
            <a:spLocks noGrp="1"/>
          </p:cNvSpPr>
          <p:nvPr>
            <p:ph sz="half" idx="2"/>
          </p:nvPr>
        </p:nvSpPr>
        <p:spPr>
          <a:xfrm>
            <a:off x="6519672" y="2578608"/>
            <a:ext cx="5166360" cy="376732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515BED99-6FD7-9C6B-1152-A6E42715BB79}"/>
              </a:ext>
            </a:extLst>
          </p:cNvPr>
          <p:cNvSpPr>
            <a:spLocks noGrp="1"/>
          </p:cNvSpPr>
          <p:nvPr>
            <p:ph type="dt" sz="half" idx="10"/>
          </p:nvPr>
        </p:nvSpPr>
        <p:spPr/>
        <p:txBody>
          <a:bodyPr/>
          <a:lstStyle/>
          <a:p>
            <a:fld id="{E80C50CD-E178-4744-9B35-B2F624D6C5E9}" type="datetimeFigureOut">
              <a:rPr lang="en-US" smtClean="0"/>
              <a:t>10/20/26</a:t>
            </a:fld>
            <a:endParaRPr lang="en-US"/>
          </a:p>
        </p:txBody>
      </p:sp>
      <p:sp>
        <p:nvSpPr>
          <p:cNvPr id="6" name="Footer Placeholder 5">
            <a:extLst>
              <a:ext uri="{FF2B5EF4-FFF2-40B4-BE49-F238E27FC236}">
                <a16:creationId xmlns:a16="http://schemas.microsoft.com/office/drawing/2014/main" id="{BA253AAC-5967-2565-A715-82D3505ABF0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4B51313-69FB-E016-3CC1-62CA476ED214}"/>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63987598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B3DF9D-B849-CE37-97E4-AD37F880677F}"/>
              </a:ext>
            </a:extLst>
          </p:cNvPr>
          <p:cNvSpPr>
            <a:spLocks noGrp="1"/>
          </p:cNvSpPr>
          <p:nvPr>
            <p:ph type="title"/>
          </p:nvPr>
        </p:nvSpPr>
        <p:spPr>
          <a:xfrm>
            <a:off x="521208" y="978408"/>
            <a:ext cx="11164824" cy="1216152"/>
          </a:xfrm>
        </p:spPr>
        <p:txBody>
          <a:bodyPr/>
          <a:lstStyle/>
          <a:p>
            <a:r>
              <a:rPr lang="en-US"/>
              <a:t>Click to edit Master title style</a:t>
            </a:r>
          </a:p>
        </p:txBody>
      </p:sp>
      <p:sp>
        <p:nvSpPr>
          <p:cNvPr id="3" name="Text Placeholder 2">
            <a:extLst>
              <a:ext uri="{FF2B5EF4-FFF2-40B4-BE49-F238E27FC236}">
                <a16:creationId xmlns:a16="http://schemas.microsoft.com/office/drawing/2014/main" id="{79D4C626-4008-960A-E601-6AA9F4BB8D8B}"/>
              </a:ext>
            </a:extLst>
          </p:cNvPr>
          <p:cNvSpPr>
            <a:spLocks noGrp="1"/>
          </p:cNvSpPr>
          <p:nvPr>
            <p:ph type="body" idx="1"/>
          </p:nvPr>
        </p:nvSpPr>
        <p:spPr>
          <a:xfrm>
            <a:off x="521208"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806E8D6C-AC07-ED6B-2EA8-9C40A5AEA748}"/>
              </a:ext>
            </a:extLst>
          </p:cNvPr>
          <p:cNvSpPr>
            <a:spLocks noGrp="1"/>
          </p:cNvSpPr>
          <p:nvPr>
            <p:ph sz="half" idx="2"/>
          </p:nvPr>
        </p:nvSpPr>
        <p:spPr>
          <a:xfrm>
            <a:off x="521208"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a:extLst>
              <a:ext uri="{FF2B5EF4-FFF2-40B4-BE49-F238E27FC236}">
                <a16:creationId xmlns:a16="http://schemas.microsoft.com/office/drawing/2014/main" id="{3C52617E-C6D9-246B-E7B7-8159DF17C0A3}"/>
              </a:ext>
            </a:extLst>
          </p:cNvPr>
          <p:cNvSpPr>
            <a:spLocks noGrp="1"/>
          </p:cNvSpPr>
          <p:nvPr>
            <p:ph type="body" sz="quarter" idx="3"/>
          </p:nvPr>
        </p:nvSpPr>
        <p:spPr>
          <a:xfrm>
            <a:off x="6519672" y="2340864"/>
            <a:ext cx="5166360" cy="658368"/>
          </a:xfrm>
        </p:spPr>
        <p:txBody>
          <a:bodyPr anchor="b">
            <a:normAutofit/>
          </a:bodyPr>
          <a:lstStyle>
            <a:lvl1pPr marL="0" indent="0">
              <a:buNone/>
              <a:defRPr sz="2200" b="0" i="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3DBC2094-7EBC-02C5-5AB5-233E63080A9C}"/>
              </a:ext>
            </a:extLst>
          </p:cNvPr>
          <p:cNvSpPr>
            <a:spLocks noGrp="1"/>
          </p:cNvSpPr>
          <p:nvPr>
            <p:ph sz="quarter" idx="4"/>
          </p:nvPr>
        </p:nvSpPr>
        <p:spPr>
          <a:xfrm>
            <a:off x="6519672" y="3035808"/>
            <a:ext cx="5166360" cy="3310128"/>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a:extLst>
              <a:ext uri="{FF2B5EF4-FFF2-40B4-BE49-F238E27FC236}">
                <a16:creationId xmlns:a16="http://schemas.microsoft.com/office/drawing/2014/main" id="{23010BD2-59B4-FD2E-3C5E-C83AE6003985}"/>
              </a:ext>
            </a:extLst>
          </p:cNvPr>
          <p:cNvSpPr>
            <a:spLocks noGrp="1"/>
          </p:cNvSpPr>
          <p:nvPr>
            <p:ph type="dt" sz="half" idx="10"/>
          </p:nvPr>
        </p:nvSpPr>
        <p:spPr/>
        <p:txBody>
          <a:bodyPr/>
          <a:lstStyle/>
          <a:p>
            <a:fld id="{E80C50CD-E178-4744-9B35-B2F624D6C5E9}" type="datetimeFigureOut">
              <a:rPr lang="en-US" smtClean="0"/>
              <a:t>10/20/26</a:t>
            </a:fld>
            <a:endParaRPr lang="en-US"/>
          </a:p>
        </p:txBody>
      </p:sp>
      <p:sp>
        <p:nvSpPr>
          <p:cNvPr id="8" name="Footer Placeholder 7">
            <a:extLst>
              <a:ext uri="{FF2B5EF4-FFF2-40B4-BE49-F238E27FC236}">
                <a16:creationId xmlns:a16="http://schemas.microsoft.com/office/drawing/2014/main" id="{E72B35C4-A654-7759-BDA0-94D9D1A21663}"/>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55F4347-2EC0-CA6E-2637-8048456D7ECB}"/>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0921789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4716D-52F2-C7FB-83B1-2DA1AD375EAE}"/>
              </a:ext>
            </a:extLst>
          </p:cNvPr>
          <p:cNvSpPr>
            <a:spLocks noGrp="1"/>
          </p:cNvSpPr>
          <p:nvPr>
            <p:ph type="title"/>
          </p:nvPr>
        </p:nvSpPr>
        <p:spPr/>
        <p:txBody>
          <a:bodyPr/>
          <a:lstStyle/>
          <a:p>
            <a:r>
              <a:rPr lang="en-US" dirty="0"/>
              <a:t>Click to edit Master title style</a:t>
            </a:r>
          </a:p>
        </p:txBody>
      </p:sp>
      <p:sp>
        <p:nvSpPr>
          <p:cNvPr id="3" name="Date Placeholder 2">
            <a:extLst>
              <a:ext uri="{FF2B5EF4-FFF2-40B4-BE49-F238E27FC236}">
                <a16:creationId xmlns:a16="http://schemas.microsoft.com/office/drawing/2014/main" id="{56F4A371-AC27-6A28-32E6-74A28371BF55}"/>
              </a:ext>
            </a:extLst>
          </p:cNvPr>
          <p:cNvSpPr>
            <a:spLocks noGrp="1"/>
          </p:cNvSpPr>
          <p:nvPr>
            <p:ph type="dt" sz="half" idx="10"/>
          </p:nvPr>
        </p:nvSpPr>
        <p:spPr/>
        <p:txBody>
          <a:bodyPr/>
          <a:lstStyle/>
          <a:p>
            <a:fld id="{E80C50CD-E178-4744-9B35-B2F624D6C5E9}" type="datetimeFigureOut">
              <a:rPr lang="en-US" smtClean="0"/>
              <a:t>10/20/26</a:t>
            </a:fld>
            <a:endParaRPr lang="en-US"/>
          </a:p>
        </p:txBody>
      </p:sp>
      <p:sp>
        <p:nvSpPr>
          <p:cNvPr id="4" name="Footer Placeholder 3">
            <a:extLst>
              <a:ext uri="{FF2B5EF4-FFF2-40B4-BE49-F238E27FC236}">
                <a16:creationId xmlns:a16="http://schemas.microsoft.com/office/drawing/2014/main" id="{D155941A-A24E-885D-E894-0326F4C400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9D5E5B4-971F-FF6A-1B07-A5C8537055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98535229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99F431F-E6DC-4137-3092-A30A0A3628EC}"/>
              </a:ext>
            </a:extLst>
          </p:cNvPr>
          <p:cNvSpPr>
            <a:spLocks noGrp="1"/>
          </p:cNvSpPr>
          <p:nvPr>
            <p:ph type="dt" sz="half" idx="10"/>
          </p:nvPr>
        </p:nvSpPr>
        <p:spPr/>
        <p:txBody>
          <a:bodyPr/>
          <a:lstStyle/>
          <a:p>
            <a:fld id="{E80C50CD-E178-4744-9B35-B2F624D6C5E9}" type="datetimeFigureOut">
              <a:rPr lang="en-US" smtClean="0"/>
              <a:t>10/20/26</a:t>
            </a:fld>
            <a:endParaRPr lang="en-US"/>
          </a:p>
        </p:txBody>
      </p:sp>
      <p:sp>
        <p:nvSpPr>
          <p:cNvPr id="3" name="Footer Placeholder 2">
            <a:extLst>
              <a:ext uri="{FF2B5EF4-FFF2-40B4-BE49-F238E27FC236}">
                <a16:creationId xmlns:a16="http://schemas.microsoft.com/office/drawing/2014/main" id="{06AC814B-67B4-C70F-FA51-6205D5E2CB81}"/>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91EAA9C9-D895-DD20-1089-EA75EA42895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32424740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B50562-884C-9053-70C1-3B72A0B45EA6}"/>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Content Placeholder 2">
            <a:extLst>
              <a:ext uri="{FF2B5EF4-FFF2-40B4-BE49-F238E27FC236}">
                <a16:creationId xmlns:a16="http://schemas.microsoft.com/office/drawing/2014/main" id="{0318F509-68F0-39D5-1A8B-CE246715AE46}"/>
              </a:ext>
            </a:extLst>
          </p:cNvPr>
          <p:cNvSpPr>
            <a:spLocks noGrp="1"/>
          </p:cNvSpPr>
          <p:nvPr>
            <p:ph idx="1"/>
          </p:nvPr>
        </p:nvSpPr>
        <p:spPr>
          <a:xfrm>
            <a:off x="6519672" y="987424"/>
            <a:ext cx="5166360" cy="5358384"/>
          </a:xfrm>
        </p:spPr>
        <p:txBody>
          <a:bodyPr>
            <a:normAutofit/>
          </a:bodyPr>
          <a:lstStyle>
            <a:lvl1pPr>
              <a:defRPr sz="2000"/>
            </a:lvl1pPr>
            <a:lvl2pPr>
              <a:defRPr sz="1800"/>
            </a:lvl2pPr>
            <a:lvl3pPr>
              <a:defRPr sz="1600"/>
            </a:lvl3pPr>
            <a:lvl4pPr>
              <a:defRPr sz="1400"/>
            </a:lvl4pPr>
            <a:lvl5pPr>
              <a:defRPr sz="1400"/>
            </a:lvl5pPr>
            <a:lvl6pPr>
              <a:defRPr sz="2000"/>
            </a:lvl6pPr>
            <a:lvl7pPr>
              <a:defRPr sz="2000"/>
            </a:lvl7pPr>
            <a:lvl8pPr>
              <a:defRPr sz="2000"/>
            </a:lvl8pPr>
            <a:lvl9pPr>
              <a:defRPr sz="20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Text Placeholder 3">
            <a:extLst>
              <a:ext uri="{FF2B5EF4-FFF2-40B4-BE49-F238E27FC236}">
                <a16:creationId xmlns:a16="http://schemas.microsoft.com/office/drawing/2014/main" id="{F158E37C-27CE-3A84-FC74-BDCCD8A9A3EC}"/>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2A95F79-E23E-11D2-40BF-66ED340195DB}"/>
              </a:ext>
            </a:extLst>
          </p:cNvPr>
          <p:cNvSpPr>
            <a:spLocks noGrp="1"/>
          </p:cNvSpPr>
          <p:nvPr>
            <p:ph type="dt" sz="half" idx="10"/>
          </p:nvPr>
        </p:nvSpPr>
        <p:spPr/>
        <p:txBody>
          <a:bodyPr/>
          <a:lstStyle/>
          <a:p>
            <a:fld id="{E80C50CD-E178-4744-9B35-B2F624D6C5E9}" type="datetimeFigureOut">
              <a:rPr lang="en-US" smtClean="0"/>
              <a:t>10/20/26</a:t>
            </a:fld>
            <a:endParaRPr lang="en-US"/>
          </a:p>
        </p:txBody>
      </p:sp>
      <p:sp>
        <p:nvSpPr>
          <p:cNvPr id="6" name="Footer Placeholder 5">
            <a:extLst>
              <a:ext uri="{FF2B5EF4-FFF2-40B4-BE49-F238E27FC236}">
                <a16:creationId xmlns:a16="http://schemas.microsoft.com/office/drawing/2014/main" id="{4457F7FC-06F3-3D89-5D1A-4EC4B1D7355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554ACD5-6E0B-5713-DC9A-41E9D62AB12D}"/>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62692272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5B2D45-7CDB-D38C-2AAE-273F797674E1}"/>
              </a:ext>
            </a:extLst>
          </p:cNvPr>
          <p:cNvSpPr>
            <a:spLocks noGrp="1"/>
          </p:cNvSpPr>
          <p:nvPr>
            <p:ph type="title"/>
          </p:nvPr>
        </p:nvSpPr>
        <p:spPr>
          <a:xfrm>
            <a:off x="521208" y="978408"/>
            <a:ext cx="5020056" cy="2459736"/>
          </a:xfrm>
        </p:spPr>
        <p:txBody>
          <a:bodyPr anchor="t">
            <a:noAutofit/>
          </a:bodyPr>
          <a:lstStyle>
            <a:lvl1pPr>
              <a:defRPr sz="4400"/>
            </a:lvl1pPr>
          </a:lstStyle>
          <a:p>
            <a:r>
              <a:rPr lang="en-US" dirty="0"/>
              <a:t>Click to edit Master title style</a:t>
            </a:r>
          </a:p>
        </p:txBody>
      </p:sp>
      <p:sp>
        <p:nvSpPr>
          <p:cNvPr id="3" name="Picture Placeholder 2">
            <a:extLst>
              <a:ext uri="{FF2B5EF4-FFF2-40B4-BE49-F238E27FC236}">
                <a16:creationId xmlns:a16="http://schemas.microsoft.com/office/drawing/2014/main" id="{CCBF0855-1744-56E4-B115-3A3C5EA7834B}"/>
              </a:ext>
            </a:extLst>
          </p:cNvPr>
          <p:cNvSpPr>
            <a:spLocks noGrp="1"/>
          </p:cNvSpPr>
          <p:nvPr>
            <p:ph type="pic" idx="1"/>
          </p:nvPr>
        </p:nvSpPr>
        <p:spPr>
          <a:xfrm>
            <a:off x="6519672" y="987424"/>
            <a:ext cx="5166360" cy="535838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85E8A1D-28AE-4A19-BD96-401D4822A53D}"/>
              </a:ext>
            </a:extLst>
          </p:cNvPr>
          <p:cNvSpPr>
            <a:spLocks noGrp="1"/>
          </p:cNvSpPr>
          <p:nvPr>
            <p:ph type="body" sz="half" idx="2"/>
          </p:nvPr>
        </p:nvSpPr>
        <p:spPr>
          <a:xfrm>
            <a:off x="521208" y="3575304"/>
            <a:ext cx="5020056" cy="2770632"/>
          </a:xfrm>
        </p:spPr>
        <p:txBody>
          <a:bodyPr>
            <a:normAutofit/>
          </a:bodyPr>
          <a:lstStyle>
            <a:lvl1pPr marL="0" indent="0">
              <a:buNone/>
              <a:defRPr sz="2200" i="1"/>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7327DDB-CE95-4C89-DFC5-7DDBFC24E89C}"/>
              </a:ext>
            </a:extLst>
          </p:cNvPr>
          <p:cNvSpPr>
            <a:spLocks noGrp="1"/>
          </p:cNvSpPr>
          <p:nvPr>
            <p:ph type="dt" sz="half" idx="10"/>
          </p:nvPr>
        </p:nvSpPr>
        <p:spPr/>
        <p:txBody>
          <a:bodyPr/>
          <a:lstStyle/>
          <a:p>
            <a:fld id="{E80C50CD-E178-4744-9B35-B2F624D6C5E9}" type="datetimeFigureOut">
              <a:rPr lang="en-US" smtClean="0"/>
              <a:t>10/20/26</a:t>
            </a:fld>
            <a:endParaRPr lang="en-US"/>
          </a:p>
        </p:txBody>
      </p:sp>
      <p:sp>
        <p:nvSpPr>
          <p:cNvPr id="6" name="Footer Placeholder 5">
            <a:extLst>
              <a:ext uri="{FF2B5EF4-FFF2-40B4-BE49-F238E27FC236}">
                <a16:creationId xmlns:a16="http://schemas.microsoft.com/office/drawing/2014/main" id="{0522C835-F3B5-943C-FFC4-D5BA9666AF3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68709891-6E3C-ADED-01DD-15FCED37AF4A}"/>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288132413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C36771-E72D-FAD8-771E-3E196DD2E1C8}"/>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DB5BB827-257D-60D9-792F-E695900429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E5D2E7-C856-F78A-E88C-375474982A5F}"/>
              </a:ext>
            </a:extLst>
          </p:cNvPr>
          <p:cNvSpPr>
            <a:spLocks noGrp="1"/>
          </p:cNvSpPr>
          <p:nvPr>
            <p:ph type="dt" sz="half" idx="10"/>
          </p:nvPr>
        </p:nvSpPr>
        <p:spPr/>
        <p:txBody>
          <a:bodyPr/>
          <a:lstStyle/>
          <a:p>
            <a:fld id="{E80C50CD-E178-4744-9B35-B2F624D6C5E9}" type="datetimeFigureOut">
              <a:rPr lang="en-US" smtClean="0"/>
              <a:t>10/20/26</a:t>
            </a:fld>
            <a:endParaRPr lang="en-US"/>
          </a:p>
        </p:txBody>
      </p:sp>
      <p:sp>
        <p:nvSpPr>
          <p:cNvPr id="5" name="Footer Placeholder 4">
            <a:extLst>
              <a:ext uri="{FF2B5EF4-FFF2-40B4-BE49-F238E27FC236}">
                <a16:creationId xmlns:a16="http://schemas.microsoft.com/office/drawing/2014/main" id="{0FDAB289-9591-51C9-9E3C-B6F2ACC6A62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7FE037C-790D-7442-8E43-D2740B3952B1}"/>
              </a:ext>
            </a:extLst>
          </p:cNvPr>
          <p:cNvSpPr>
            <a:spLocks noGrp="1"/>
          </p:cNvSpPr>
          <p:nvPr>
            <p:ph type="sldNum" sz="quarter" idx="12"/>
          </p:nvPr>
        </p:nvSpPr>
        <p:spPr/>
        <p:txBody>
          <a:bodyPr/>
          <a:lstStyle/>
          <a:p>
            <a:fld id="{148CC95F-0247-41B6-91CF-DC97C76A7088}" type="slidenum">
              <a:rPr lang="en-US" smtClean="0"/>
              <a:t>‹#›</a:t>
            </a:fld>
            <a:endParaRPr lang="en-US"/>
          </a:p>
        </p:txBody>
      </p:sp>
    </p:spTree>
    <p:extLst>
      <p:ext uri="{BB962C8B-B14F-4D97-AF65-F5344CB8AC3E}">
        <p14:creationId xmlns:p14="http://schemas.microsoft.com/office/powerpoint/2010/main" val="170999589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2635151-A38B-3766-6A32-FF1DF7687D9F}"/>
              </a:ext>
            </a:extLst>
          </p:cNvPr>
          <p:cNvSpPr>
            <a:spLocks noGrp="1"/>
          </p:cNvSpPr>
          <p:nvPr>
            <p:ph type="title" orient="vert"/>
          </p:nvPr>
        </p:nvSpPr>
        <p:spPr>
          <a:xfrm>
            <a:off x="8659368" y="978408"/>
            <a:ext cx="2551176" cy="5367528"/>
          </a:xfrm>
        </p:spPr>
        <p:txBody>
          <a:bodyPr vert="eaVert"/>
          <a:lstStyle/>
          <a:p>
            <a:r>
              <a:rPr lang="en-US" dirty="0"/>
              <a:t>Click to edit Master title style</a:t>
            </a:r>
          </a:p>
        </p:txBody>
      </p:sp>
      <p:sp>
        <p:nvSpPr>
          <p:cNvPr id="3" name="Vertical Text Placeholder 2">
            <a:extLst>
              <a:ext uri="{FF2B5EF4-FFF2-40B4-BE49-F238E27FC236}">
                <a16:creationId xmlns:a16="http://schemas.microsoft.com/office/drawing/2014/main" id="{33D132D1-640C-FB9A-AD6F-D845738349F6}"/>
              </a:ext>
            </a:extLst>
          </p:cNvPr>
          <p:cNvSpPr>
            <a:spLocks noGrp="1"/>
          </p:cNvSpPr>
          <p:nvPr>
            <p:ph type="body" orient="vert" idx="1"/>
          </p:nvPr>
        </p:nvSpPr>
        <p:spPr>
          <a:xfrm>
            <a:off x="521208" y="978408"/>
            <a:ext cx="8010144" cy="5367528"/>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6955F80A-4BA7-8ED8-9A62-B92194272620}"/>
              </a:ext>
            </a:extLst>
          </p:cNvPr>
          <p:cNvSpPr>
            <a:spLocks noGrp="1"/>
          </p:cNvSpPr>
          <p:nvPr>
            <p:ph type="dt" sz="half" idx="10"/>
          </p:nvPr>
        </p:nvSpPr>
        <p:spPr/>
        <p:txBody>
          <a:bodyPr/>
          <a:lstStyle/>
          <a:p>
            <a:fld id="{E80C50CD-E178-4744-9B35-B2F624D6C5E9}" type="datetimeFigureOut">
              <a:rPr lang="en-US" smtClean="0"/>
              <a:t>10/20/26</a:t>
            </a:fld>
            <a:endParaRPr lang="en-US"/>
          </a:p>
        </p:txBody>
      </p:sp>
      <p:sp>
        <p:nvSpPr>
          <p:cNvPr id="5" name="Footer Placeholder 4">
            <a:extLst>
              <a:ext uri="{FF2B5EF4-FFF2-40B4-BE49-F238E27FC236}">
                <a16:creationId xmlns:a16="http://schemas.microsoft.com/office/drawing/2014/main" id="{85E38113-D55A-A1A0-D1FE-53C95860FB6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8919DDB-F89D-4B2D-21A2-82AF1D1023E4}"/>
              </a:ext>
            </a:extLst>
          </p:cNvPr>
          <p:cNvSpPr>
            <a:spLocks noGrp="1"/>
          </p:cNvSpPr>
          <p:nvPr>
            <p:ph type="sldNum" sz="quarter" idx="12"/>
          </p:nvPr>
        </p:nvSpPr>
        <p:spPr/>
        <p:txBody>
          <a:bodyPr/>
          <a:lstStyle/>
          <a:p>
            <a:fld id="{148CC95F-0247-41B6-91CF-DC97C76A7088}" type="slidenum">
              <a:rPr lang="en-US" smtClean="0"/>
              <a:t>‹#›</a:t>
            </a:fld>
            <a:endParaRPr lang="en-US"/>
          </a:p>
        </p:txBody>
      </p:sp>
      <p:sp>
        <p:nvSpPr>
          <p:cNvPr id="7" name="Rectangle 6">
            <a:extLst>
              <a:ext uri="{FF2B5EF4-FFF2-40B4-BE49-F238E27FC236}">
                <a16:creationId xmlns:a16="http://schemas.microsoft.com/office/drawing/2014/main" id="{262572D8-D485-1DB1-34B1-C35C61C89940}"/>
              </a:ext>
            </a:extLst>
          </p:cNvPr>
          <p:cNvSpPr/>
          <p:nvPr/>
        </p:nvSpPr>
        <p:spPr>
          <a:xfrm rot="5400000">
            <a:off x="8936623" y="3585018"/>
            <a:ext cx="5325734" cy="149279"/>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353822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1A28D7-6581-4956-AAE3-9104804DF55B}"/>
              </a:ext>
            </a:extLst>
          </p:cNvPr>
          <p:cNvSpPr>
            <a:spLocks noGrp="1"/>
          </p:cNvSpPr>
          <p:nvPr>
            <p:ph type="title"/>
          </p:nvPr>
        </p:nvSpPr>
        <p:spPr>
          <a:xfrm>
            <a:off x="521208" y="978408"/>
            <a:ext cx="11155680" cy="1463040"/>
          </a:xfrm>
          <a:prstGeom prst="rect">
            <a:avLst/>
          </a:prstGeom>
        </p:spPr>
        <p:txBody>
          <a:bodyPr vert="horz" lIns="91440" tIns="45720" rIns="91440" bIns="45720" rtlCol="0" anchor="t">
            <a:normAutofit/>
          </a:bodyPr>
          <a:lstStyle/>
          <a:p>
            <a:r>
              <a:rPr lang="en-US" dirty="0"/>
              <a:t>Click to edit Master title style</a:t>
            </a:r>
          </a:p>
        </p:txBody>
      </p:sp>
      <p:sp>
        <p:nvSpPr>
          <p:cNvPr id="3" name="Text Placeholder 2">
            <a:extLst>
              <a:ext uri="{FF2B5EF4-FFF2-40B4-BE49-F238E27FC236}">
                <a16:creationId xmlns:a16="http://schemas.microsoft.com/office/drawing/2014/main" id="{F3CFCCA4-57A4-08A1-FC45-D2BBA66FABFA}"/>
              </a:ext>
            </a:extLst>
          </p:cNvPr>
          <p:cNvSpPr>
            <a:spLocks noGrp="1"/>
          </p:cNvSpPr>
          <p:nvPr>
            <p:ph type="body" idx="1"/>
          </p:nvPr>
        </p:nvSpPr>
        <p:spPr>
          <a:xfrm>
            <a:off x="521208" y="2578608"/>
            <a:ext cx="11155680" cy="376732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B0FAA0F4-2442-8D45-3C3D-1B8F55C8683A}"/>
              </a:ext>
            </a:extLst>
          </p:cNvPr>
          <p:cNvSpPr>
            <a:spLocks noGrp="1"/>
          </p:cNvSpPr>
          <p:nvPr>
            <p:ph type="dt" sz="half" idx="2"/>
          </p:nvPr>
        </p:nvSpPr>
        <p:spPr>
          <a:xfrm>
            <a:off x="521208" y="6419088"/>
            <a:ext cx="2743200" cy="365125"/>
          </a:xfrm>
          <a:prstGeom prst="rect">
            <a:avLst/>
          </a:prstGeom>
        </p:spPr>
        <p:txBody>
          <a:bodyPr vert="horz" lIns="91440" tIns="45720" rIns="91440" bIns="45720" rtlCol="0" anchor="ctr"/>
          <a:lstStyle>
            <a:lvl1pPr algn="l">
              <a:defRPr sz="900">
                <a:solidFill>
                  <a:schemeClr val="tx1"/>
                </a:solidFill>
              </a:defRPr>
            </a:lvl1pPr>
          </a:lstStyle>
          <a:p>
            <a:fld id="{E80C50CD-E178-4744-9B35-B2F624D6C5E9}" type="datetimeFigureOut">
              <a:rPr lang="en-US" smtClean="0"/>
              <a:pPr/>
              <a:t>10/20/26</a:t>
            </a:fld>
            <a:endParaRPr lang="en-US"/>
          </a:p>
        </p:txBody>
      </p:sp>
      <p:sp>
        <p:nvSpPr>
          <p:cNvPr id="5" name="Footer Placeholder 4">
            <a:extLst>
              <a:ext uri="{FF2B5EF4-FFF2-40B4-BE49-F238E27FC236}">
                <a16:creationId xmlns:a16="http://schemas.microsoft.com/office/drawing/2014/main" id="{9E03785E-FB42-1D54-92AC-D0A61A8FABD4}"/>
              </a:ext>
            </a:extLst>
          </p:cNvPr>
          <p:cNvSpPr>
            <a:spLocks noGrp="1"/>
          </p:cNvSpPr>
          <p:nvPr>
            <p:ph type="ftr" sz="quarter" idx="3"/>
          </p:nvPr>
        </p:nvSpPr>
        <p:spPr>
          <a:xfrm>
            <a:off x="521208" y="100584"/>
            <a:ext cx="4114800" cy="365125"/>
          </a:xfrm>
          <a:prstGeom prst="rect">
            <a:avLst/>
          </a:prstGeom>
        </p:spPr>
        <p:txBody>
          <a:bodyPr vert="horz" lIns="91440" tIns="45720" rIns="91440" bIns="45720" rtlCol="0" anchor="ctr"/>
          <a:lstStyle>
            <a:lvl1pPr algn="l">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BCC9CF34-1274-DB45-4809-90E5D244A9AE}"/>
              </a:ext>
            </a:extLst>
          </p:cNvPr>
          <p:cNvSpPr>
            <a:spLocks noGrp="1"/>
          </p:cNvSpPr>
          <p:nvPr>
            <p:ph type="sldNum" sz="quarter" idx="4"/>
          </p:nvPr>
        </p:nvSpPr>
        <p:spPr>
          <a:xfrm>
            <a:off x="11457432" y="6419088"/>
            <a:ext cx="640080" cy="365125"/>
          </a:xfrm>
          <a:prstGeom prst="rect">
            <a:avLst/>
          </a:prstGeom>
        </p:spPr>
        <p:txBody>
          <a:bodyPr vert="horz" lIns="91440" tIns="45720" rIns="91440" bIns="45720" rtlCol="0" anchor="ctr"/>
          <a:lstStyle>
            <a:lvl1pPr algn="r">
              <a:defRPr sz="900">
                <a:solidFill>
                  <a:schemeClr val="tx1"/>
                </a:solidFill>
              </a:defRPr>
            </a:lvl1pPr>
          </a:lstStyle>
          <a:p>
            <a:fld id="{148CC95F-0247-41B6-91CF-DC97C76A7088}" type="slidenum">
              <a:rPr lang="en-US" smtClean="0"/>
              <a:pPr/>
              <a:t>‹#›</a:t>
            </a:fld>
            <a:endParaRPr lang="en-US"/>
          </a:p>
        </p:txBody>
      </p:sp>
      <p:sp>
        <p:nvSpPr>
          <p:cNvPr id="7" name="Freeform: Shape 6">
            <a:extLst>
              <a:ext uri="{FF2B5EF4-FFF2-40B4-BE49-F238E27FC236}">
                <a16:creationId xmlns:a16="http://schemas.microsoft.com/office/drawing/2014/main" id="{774A975B-A886-5202-0489-6965514A0D14}"/>
              </a:ext>
              <a:ext uri="{C183D7F6-B498-43B3-948B-1728B52AA6E4}">
                <adec:decorative xmlns:adec="http://schemas.microsoft.com/office/drawing/2017/decorative" val="1"/>
              </a:ext>
            </a:extLst>
          </p:cNvPr>
          <p:cNvSpPr/>
          <p:nvPr/>
        </p:nvSpPr>
        <p:spPr>
          <a:xfrm>
            <a:off x="517869" y="508090"/>
            <a:ext cx="11153214" cy="149279"/>
          </a:xfrm>
          <a:custGeom>
            <a:avLst/>
            <a:gdLst>
              <a:gd name="connsiteX0" fmla="*/ 0 w 8085002"/>
              <a:gd name="connsiteY0" fmla="*/ 0 h 149279"/>
              <a:gd name="connsiteX1" fmla="*/ 8085002 w 8085002"/>
              <a:gd name="connsiteY1" fmla="*/ 0 h 149279"/>
              <a:gd name="connsiteX2" fmla="*/ 8085002 w 8085002"/>
              <a:gd name="connsiteY2" fmla="*/ 149279 h 149279"/>
              <a:gd name="connsiteX3" fmla="*/ 0 w 8085002"/>
              <a:gd name="connsiteY3" fmla="*/ 149279 h 149279"/>
            </a:gdLst>
            <a:ahLst/>
            <a:cxnLst>
              <a:cxn ang="0">
                <a:pos x="connsiteX0" y="connsiteY0"/>
              </a:cxn>
              <a:cxn ang="0">
                <a:pos x="connsiteX1" y="connsiteY1"/>
              </a:cxn>
              <a:cxn ang="0">
                <a:pos x="connsiteX2" y="connsiteY2"/>
              </a:cxn>
              <a:cxn ang="0">
                <a:pos x="connsiteX3" y="connsiteY3"/>
              </a:cxn>
            </a:cxnLst>
            <a:rect l="l" t="t" r="r" b="b"/>
            <a:pathLst>
              <a:path w="8085002" h="149279">
                <a:moveTo>
                  <a:pt x="0" y="0"/>
                </a:moveTo>
                <a:lnTo>
                  <a:pt x="8085002" y="0"/>
                </a:lnTo>
                <a:lnTo>
                  <a:pt x="8085002" y="149279"/>
                </a:lnTo>
                <a:lnTo>
                  <a:pt x="0" y="149279"/>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2055261813"/>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72" r:id="rId6"/>
    <p:sldLayoutId id="2147483667" r:id="rId7"/>
    <p:sldLayoutId id="2147483668" r:id="rId8"/>
    <p:sldLayoutId id="2147483669" r:id="rId9"/>
    <p:sldLayoutId id="2147483671" r:id="rId10"/>
    <p:sldLayoutId id="2147483670" r:id="rId11"/>
  </p:sldLayoutIdLst>
  <p:txStyles>
    <p:titleStyle>
      <a:lvl1pPr algn="l" defTabSz="914400" rtl="0" eaLnBrk="1" latinLnBrk="0" hangingPunct="1">
        <a:lnSpc>
          <a:spcPct val="10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10000"/>
        </a:lnSpc>
        <a:spcBef>
          <a:spcPts val="1000"/>
        </a:spcBef>
        <a:buFont typeface="Arial" panose="020B0604020202020204" pitchFamily="34" charset="0"/>
        <a:buChar char="•"/>
        <a:defRPr sz="1800" kern="1200">
          <a:solidFill>
            <a:schemeClr val="tx1"/>
          </a:solidFill>
          <a:latin typeface="+mn-lt"/>
          <a:ea typeface="+mn-ea"/>
          <a:cs typeface="+mn-cs"/>
        </a:defRPr>
      </a:lvl1pPr>
      <a:lvl2pPr marL="685800" indent="-228600" algn="l" defTabSz="914400" rtl="0" eaLnBrk="1" latinLnBrk="0" hangingPunct="1">
        <a:lnSpc>
          <a:spcPct val="110000"/>
        </a:lnSpc>
        <a:spcBef>
          <a:spcPts val="500"/>
        </a:spcBef>
        <a:buFont typeface="Arial" panose="020B0604020202020204" pitchFamily="34" charset="0"/>
        <a:buChar char="•"/>
        <a:defRPr sz="1600" kern="1200">
          <a:solidFill>
            <a:schemeClr val="tx1"/>
          </a:solidFill>
          <a:latin typeface="+mn-lt"/>
          <a:ea typeface="+mn-ea"/>
          <a:cs typeface="+mn-cs"/>
        </a:defRPr>
      </a:lvl2pPr>
      <a:lvl3pPr marL="1143000" indent="-228600" algn="l" defTabSz="914400"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4pPr>
      <a:lvl5pPr marL="2057400" indent="-228600" algn="l" defTabSz="914400" rtl="0" eaLnBrk="1" latinLnBrk="0" hangingPunct="1">
        <a:lnSpc>
          <a:spcPct val="11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ljiang3@ed.ac.uk"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mailto:ljiang3@ed.ac.uk"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hyperlink" Target="https://registryservices.ed.ac.uk/exceptional-circumstances" TargetMode="External"/><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gov.scot/publications/statutory-guidance-accompany-social-care-self-directed-support-scotland-act-2013-2" TargetMode="Externa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citethemrightonline-com.ezproxy.is.ed.ac.uk/" TargetMode="Externa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hyperlink" Target="http://www.ed.ac.uk/institute-academic-development/undergraduate/good-practice" TargetMode="External"/></Relationships>
</file>

<file path=ppt/slides/_rels/slide18.xml.rels><?xml version="1.0" encoding="UTF-8" standalone="yes"?>
<Relationships xmlns="http://schemas.openxmlformats.org/package/2006/relationships"><Relationship Id="rId3" Type="http://schemas.openxmlformats.org/officeDocument/2006/relationships/hyperlink" Target="mailto:ljiang3@ed.ac.uk"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3" Type="http://schemas.openxmlformats.org/officeDocument/2006/relationships/hyperlink" Target="mailto:ljiang3@ed.ac.uk" TargetMode="External"/><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30C11E1-FEE4-0786-8ED9-508A83B6A12A}"/>
            </a:ext>
          </a:extLst>
        </p:cNvPr>
        <p:cNvGrpSpPr/>
        <p:nvPr/>
      </p:nvGrpSpPr>
      <p:grpSpPr>
        <a:xfrm>
          <a:off x="0" y="0"/>
          <a:ext cx="0" cy="0"/>
          <a:chOff x="0" y="0"/>
          <a:chExt cx="0" cy="0"/>
        </a:xfrm>
      </p:grpSpPr>
      <p:pic>
        <p:nvPicPr>
          <p:cNvPr id="4" name="Picture 3" descr="Top view of a background splashed with colors">
            <a:extLst>
              <a:ext uri="{FF2B5EF4-FFF2-40B4-BE49-F238E27FC236}">
                <a16:creationId xmlns:a16="http://schemas.microsoft.com/office/drawing/2014/main" id="{49093066-8239-7EEA-2A75-2F2C8B80DB5B}"/>
              </a:ext>
            </a:extLst>
          </p:cNvPr>
          <p:cNvPicPr>
            <a:picLocks noChangeAspect="1"/>
          </p:cNvPicPr>
          <p:nvPr/>
        </p:nvPicPr>
        <p:blipFill>
          <a:blip r:embed="rId2"/>
          <a:srcRect t="1747"/>
          <a:stretch>
            <a:fillRect/>
          </a:stretch>
        </p:blipFill>
        <p:spPr>
          <a:xfrm>
            <a:off x="20" y="10"/>
            <a:ext cx="12191980" cy="6857990"/>
          </a:xfrm>
          <a:prstGeom prst="rect">
            <a:avLst/>
          </a:prstGeom>
        </p:spPr>
      </p:pic>
      <p:sp>
        <p:nvSpPr>
          <p:cNvPr id="3" name="Subtitle 2">
            <a:extLst>
              <a:ext uri="{FF2B5EF4-FFF2-40B4-BE49-F238E27FC236}">
                <a16:creationId xmlns:a16="http://schemas.microsoft.com/office/drawing/2014/main" id="{CF7A3FC4-CE2E-00E4-5FA3-4BBE0FD9CA77}"/>
              </a:ext>
            </a:extLst>
          </p:cNvPr>
          <p:cNvSpPr>
            <a:spLocks noGrp="1"/>
          </p:cNvSpPr>
          <p:nvPr>
            <p:ph type="subTitle" idx="1"/>
          </p:nvPr>
        </p:nvSpPr>
        <p:spPr>
          <a:xfrm>
            <a:off x="4068978" y="6025357"/>
            <a:ext cx="3392781" cy="960120"/>
          </a:xfrm>
        </p:spPr>
        <p:txBody>
          <a:bodyPr anchor="ctr">
            <a:normAutofit/>
          </a:bodyPr>
          <a:lstStyle/>
          <a:p>
            <a:pPr algn="ctr"/>
            <a:r>
              <a:rPr lang="en-US" sz="2000" i="0" dirty="0">
                <a:hlinkClick r:id="rId3">
                  <a:extLst>
                    <a:ext uri="{A12FA001-AC4F-418D-AE19-62706E023703}">
                      <ahyp:hlinkClr xmlns:ahyp="http://schemas.microsoft.com/office/drawing/2018/hyperlinkcolor" val="tx"/>
                    </a:ext>
                  </a:extLst>
                </a:hlinkClick>
              </a:rPr>
              <a:t>✉️</a:t>
            </a:r>
            <a:r>
              <a:rPr lang="zh-CN" altLang="en-US" sz="2000" i="0" dirty="0">
                <a:hlinkClick r:id="rId3">
                  <a:extLst>
                    <a:ext uri="{A12FA001-AC4F-418D-AE19-62706E023703}">
                      <ahyp:hlinkClr xmlns:ahyp="http://schemas.microsoft.com/office/drawing/2018/hyperlinkcolor" val="tx"/>
                    </a:ext>
                  </a:extLst>
                </a:hlinkClick>
              </a:rPr>
              <a:t> </a:t>
            </a:r>
            <a:r>
              <a:rPr lang="en-US" sz="2000" i="0" dirty="0">
                <a:hlinkClick r:id="rId3">
                  <a:extLst>
                    <a:ext uri="{A12FA001-AC4F-418D-AE19-62706E023703}">
                      <ahyp:hlinkClr xmlns:ahyp="http://schemas.microsoft.com/office/drawing/2018/hyperlinkcolor" val="tx"/>
                    </a:ext>
                  </a:extLst>
                </a:hlinkClick>
              </a:rPr>
              <a:t>ljiang3@ed.ac.uk</a:t>
            </a:r>
            <a:endParaRPr lang="en-US" sz="2000" i="0" dirty="0"/>
          </a:p>
        </p:txBody>
      </p:sp>
      <p:sp>
        <p:nvSpPr>
          <p:cNvPr id="5" name="TextBox 4">
            <a:extLst>
              <a:ext uri="{FF2B5EF4-FFF2-40B4-BE49-F238E27FC236}">
                <a16:creationId xmlns:a16="http://schemas.microsoft.com/office/drawing/2014/main" id="{10067197-3AF9-9771-5B6E-8F981AF09968}"/>
              </a:ext>
            </a:extLst>
          </p:cNvPr>
          <p:cNvSpPr txBox="1"/>
          <p:nvPr/>
        </p:nvSpPr>
        <p:spPr>
          <a:xfrm>
            <a:off x="980008" y="1860174"/>
            <a:ext cx="9570719" cy="3139321"/>
          </a:xfrm>
          <a:prstGeom prst="rect">
            <a:avLst/>
          </a:prstGeom>
          <a:noFill/>
          <a:ln>
            <a:noFill/>
          </a:ln>
        </p:spPr>
        <p:txBody>
          <a:bodyPr wrap="square" rtlCol="0">
            <a:spAutoFit/>
          </a:bodyPr>
          <a:lstStyle/>
          <a:p>
            <a:pPr algn="ctr"/>
            <a:r>
              <a:rPr lang="en-US" sz="6600" b="1" dirty="0">
                <a:latin typeface="Bradley Hand" pitchFamily="2" charset="77"/>
                <a:cs typeface="Algerian" panose="020F0502020204030204" pitchFamily="34" charset="0"/>
              </a:rPr>
              <a:t>Human Rights and Social Justice: </a:t>
            </a:r>
          </a:p>
          <a:p>
            <a:pPr algn="ctr"/>
            <a:r>
              <a:rPr lang="en-US" sz="6600" b="1" dirty="0">
                <a:latin typeface="Bradley Hand" pitchFamily="2" charset="77"/>
                <a:cs typeface="Algerian" panose="020F0502020204030204" pitchFamily="34" charset="0"/>
              </a:rPr>
              <a:t>social work and the law</a:t>
            </a:r>
          </a:p>
        </p:txBody>
      </p:sp>
      <p:sp>
        <p:nvSpPr>
          <p:cNvPr id="6" name="Title 1">
            <a:extLst>
              <a:ext uri="{FF2B5EF4-FFF2-40B4-BE49-F238E27FC236}">
                <a16:creationId xmlns:a16="http://schemas.microsoft.com/office/drawing/2014/main" id="{89E9597E-D990-77C2-6C33-FDDAF27E2314}"/>
              </a:ext>
            </a:extLst>
          </p:cNvPr>
          <p:cNvSpPr txBox="1">
            <a:spLocks/>
          </p:cNvSpPr>
          <p:nvPr/>
        </p:nvSpPr>
        <p:spPr>
          <a:xfrm>
            <a:off x="320038" y="545156"/>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solidFill>
                  <a:schemeClr val="bg1"/>
                </a:solidFill>
              </a:rPr>
              <a:t>W2 Tutorial</a:t>
            </a:r>
          </a:p>
        </p:txBody>
      </p:sp>
      <p:sp>
        <p:nvSpPr>
          <p:cNvPr id="10" name="TextBox 9">
            <a:extLst>
              <a:ext uri="{FF2B5EF4-FFF2-40B4-BE49-F238E27FC236}">
                <a16:creationId xmlns:a16="http://schemas.microsoft.com/office/drawing/2014/main" id="{467CB549-BE6B-D234-5E84-17084F3630EC}"/>
              </a:ext>
            </a:extLst>
          </p:cNvPr>
          <p:cNvSpPr txBox="1"/>
          <p:nvPr/>
        </p:nvSpPr>
        <p:spPr>
          <a:xfrm>
            <a:off x="-3450336" y="-1706880"/>
            <a:ext cx="184731" cy="369332"/>
          </a:xfrm>
          <a:prstGeom prst="rect">
            <a:avLst/>
          </a:prstGeom>
          <a:noFill/>
        </p:spPr>
        <p:txBody>
          <a:bodyPr wrap="none" rtlCol="0">
            <a:spAutoFit/>
          </a:bodyPr>
          <a:lstStyle/>
          <a:p>
            <a:endParaRPr lang="en-US"/>
          </a:p>
        </p:txBody>
      </p:sp>
      <p:sp>
        <p:nvSpPr>
          <p:cNvPr id="2" name="Title 1">
            <a:extLst>
              <a:ext uri="{FF2B5EF4-FFF2-40B4-BE49-F238E27FC236}">
                <a16:creationId xmlns:a16="http://schemas.microsoft.com/office/drawing/2014/main" id="{E193F5D6-FFEA-B1E7-896A-002FB10E31C9}"/>
              </a:ext>
            </a:extLst>
          </p:cNvPr>
          <p:cNvSpPr txBox="1">
            <a:spLocks/>
          </p:cNvSpPr>
          <p:nvPr/>
        </p:nvSpPr>
        <p:spPr>
          <a:xfrm>
            <a:off x="435862" y="450032"/>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t>W5 Tutorial</a:t>
            </a:r>
          </a:p>
        </p:txBody>
      </p:sp>
    </p:spTree>
    <p:extLst>
      <p:ext uri="{BB962C8B-B14F-4D97-AF65-F5344CB8AC3E}">
        <p14:creationId xmlns:p14="http://schemas.microsoft.com/office/powerpoint/2010/main" val="48078075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7381D4-6C09-3C09-80A3-E92FEBC38C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011E4F-5F21-2C17-9309-10495C28DAEB}"/>
              </a:ext>
            </a:extLst>
          </p:cNvPr>
          <p:cNvSpPr>
            <a:spLocks noGrp="1"/>
          </p:cNvSpPr>
          <p:nvPr>
            <p:ph type="title"/>
          </p:nvPr>
        </p:nvSpPr>
        <p:spPr/>
        <p:txBody>
          <a:bodyPr/>
          <a:lstStyle/>
          <a:p>
            <a:r>
              <a:rPr lang="en-US" dirty="0"/>
              <a:t>Recap (10min)</a:t>
            </a:r>
          </a:p>
        </p:txBody>
      </p:sp>
      <p:sp>
        <p:nvSpPr>
          <p:cNvPr id="3" name="Content Placeholder 2">
            <a:extLst>
              <a:ext uri="{FF2B5EF4-FFF2-40B4-BE49-F238E27FC236}">
                <a16:creationId xmlns:a16="http://schemas.microsoft.com/office/drawing/2014/main" id="{B5DA9CE5-9BAA-DA36-AC9D-4662963BF2CC}"/>
              </a:ext>
            </a:extLst>
          </p:cNvPr>
          <p:cNvSpPr>
            <a:spLocks noGrp="1"/>
          </p:cNvSpPr>
          <p:nvPr>
            <p:ph idx="1"/>
          </p:nvPr>
        </p:nvSpPr>
        <p:spPr>
          <a:xfrm>
            <a:off x="521208" y="2082800"/>
            <a:ext cx="11155680" cy="4263136"/>
          </a:xfrm>
        </p:spPr>
        <p:txBody>
          <a:bodyPr>
            <a:normAutofit/>
          </a:bodyPr>
          <a:lstStyle/>
          <a:p>
            <a:r>
              <a:rPr lang="en-US" sz="2800" b="1" dirty="0"/>
              <a:t>What did you think of the Lecture?</a:t>
            </a:r>
          </a:p>
          <a:p>
            <a:pPr lvl="1"/>
            <a:r>
              <a:rPr lang="en-US" sz="2400" dirty="0"/>
              <a:t>What did you learn?</a:t>
            </a:r>
          </a:p>
          <a:p>
            <a:pPr lvl="1"/>
            <a:r>
              <a:rPr lang="en-US" sz="2400" dirty="0"/>
              <a:t>What points stood out?</a:t>
            </a:r>
          </a:p>
          <a:p>
            <a:pPr lvl="1"/>
            <a:r>
              <a:rPr lang="en-US" sz="2400" dirty="0"/>
              <a:t>Any questions?</a:t>
            </a:r>
          </a:p>
        </p:txBody>
      </p:sp>
    </p:spTree>
    <p:extLst>
      <p:ext uri="{BB962C8B-B14F-4D97-AF65-F5344CB8AC3E}">
        <p14:creationId xmlns:p14="http://schemas.microsoft.com/office/powerpoint/2010/main" val="25542050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4BB1E8-90F6-6B81-EEB6-3D3E2CC8EA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9CF7B3-8755-F00D-B7DD-9EB6793D85AE}"/>
              </a:ext>
            </a:extLst>
          </p:cNvPr>
          <p:cNvSpPr>
            <a:spLocks noGrp="1"/>
          </p:cNvSpPr>
          <p:nvPr>
            <p:ph type="title"/>
          </p:nvPr>
        </p:nvSpPr>
        <p:spPr/>
        <p:txBody>
          <a:bodyPr/>
          <a:lstStyle/>
          <a:p>
            <a:r>
              <a:rPr lang="en-US"/>
              <a:t>Activity (</a:t>
            </a:r>
            <a:r>
              <a:rPr lang="en-US" altLang="zh-CN"/>
              <a:t>35</a:t>
            </a:r>
            <a:r>
              <a:rPr lang="en-US"/>
              <a:t>-</a:t>
            </a:r>
            <a:r>
              <a:rPr lang="en-US" altLang="zh-CN"/>
              <a:t>40</a:t>
            </a:r>
            <a:r>
              <a:rPr lang="en-US"/>
              <a:t>min</a:t>
            </a:r>
            <a:r>
              <a:rPr lang="en-US" dirty="0"/>
              <a:t>)</a:t>
            </a:r>
          </a:p>
        </p:txBody>
      </p:sp>
      <p:sp>
        <p:nvSpPr>
          <p:cNvPr id="3" name="Content Placeholder 2">
            <a:extLst>
              <a:ext uri="{FF2B5EF4-FFF2-40B4-BE49-F238E27FC236}">
                <a16:creationId xmlns:a16="http://schemas.microsoft.com/office/drawing/2014/main" id="{DBCE3DAE-7E37-656C-6810-1D3B143FB1FB}"/>
              </a:ext>
            </a:extLst>
          </p:cNvPr>
          <p:cNvSpPr>
            <a:spLocks noGrp="1"/>
          </p:cNvSpPr>
          <p:nvPr>
            <p:ph idx="1"/>
          </p:nvPr>
        </p:nvSpPr>
        <p:spPr>
          <a:xfrm>
            <a:off x="521208" y="2015067"/>
            <a:ext cx="11155680" cy="4330869"/>
          </a:xfrm>
        </p:spPr>
        <p:txBody>
          <a:bodyPr>
            <a:normAutofit/>
          </a:bodyPr>
          <a:lstStyle/>
          <a:p>
            <a:pPr marL="0" indent="0">
              <a:buNone/>
            </a:pPr>
            <a:endParaRPr lang="en-GB" dirty="0"/>
          </a:p>
          <a:p>
            <a:pPr marL="0" indent="0">
              <a:buNone/>
            </a:pPr>
            <a:r>
              <a:rPr lang="en-GB" sz="2400" b="1" dirty="0"/>
              <a:t>Task</a:t>
            </a:r>
          </a:p>
          <a:p>
            <a:pPr marL="0" indent="0">
              <a:buNone/>
            </a:pPr>
            <a:r>
              <a:rPr lang="en-GB" dirty="0"/>
              <a:t>Listen to the podcast by Baroness Lister and read the IFSW and BASW papers</a:t>
            </a:r>
          </a:p>
          <a:p>
            <a:pPr marL="0" indent="0">
              <a:buNone/>
            </a:pPr>
            <a:endParaRPr lang="en-GB" dirty="0"/>
          </a:p>
          <a:p>
            <a:pPr marL="0" indent="0">
              <a:buNone/>
            </a:pPr>
            <a:r>
              <a:rPr lang="en-GB" dirty="0"/>
              <a:t>Questions for the tutorial:</a:t>
            </a:r>
          </a:p>
          <a:p>
            <a:r>
              <a:rPr lang="en-GB" dirty="0"/>
              <a:t>What is the relationship between social care and poverty?</a:t>
            </a:r>
          </a:p>
          <a:p>
            <a:r>
              <a:rPr lang="en-GB" dirty="0"/>
              <a:t>What can social workers do to address poverty issues?</a:t>
            </a:r>
          </a:p>
          <a:p>
            <a:pPr lvl="0"/>
            <a:r>
              <a:rPr lang="en-GB" dirty="0"/>
              <a:t>What do you understand by the ‘PANEL’ principles (Scottish Human Rights Commission)? </a:t>
            </a:r>
          </a:p>
          <a:p>
            <a:pPr lvl="0"/>
            <a:r>
              <a:rPr lang="en-GB" dirty="0"/>
              <a:t>How could these be used in social work practice?</a:t>
            </a:r>
            <a:br>
              <a:rPr lang="en-GB" dirty="0"/>
            </a:br>
            <a:endParaRPr lang="en-GB" dirty="0"/>
          </a:p>
        </p:txBody>
      </p:sp>
    </p:spTree>
    <p:extLst>
      <p:ext uri="{BB962C8B-B14F-4D97-AF65-F5344CB8AC3E}">
        <p14:creationId xmlns:p14="http://schemas.microsoft.com/office/powerpoint/2010/main" val="42449273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F6D92C-3DE3-2920-9C1D-38C680EA14E3}"/>
            </a:ext>
          </a:extLst>
        </p:cNvPr>
        <p:cNvGrpSpPr/>
        <p:nvPr/>
      </p:nvGrpSpPr>
      <p:grpSpPr>
        <a:xfrm>
          <a:off x="0" y="0"/>
          <a:ext cx="0" cy="0"/>
          <a:chOff x="0" y="0"/>
          <a:chExt cx="0" cy="0"/>
        </a:xfrm>
      </p:grpSpPr>
      <p:pic>
        <p:nvPicPr>
          <p:cNvPr id="4" name="Picture 3" descr="Top view of a background splashed with colors">
            <a:extLst>
              <a:ext uri="{FF2B5EF4-FFF2-40B4-BE49-F238E27FC236}">
                <a16:creationId xmlns:a16="http://schemas.microsoft.com/office/drawing/2014/main" id="{4F2B7EE7-90EE-FD03-2690-927DF88A011B}"/>
              </a:ext>
            </a:extLst>
          </p:cNvPr>
          <p:cNvPicPr>
            <a:picLocks noChangeAspect="1"/>
          </p:cNvPicPr>
          <p:nvPr/>
        </p:nvPicPr>
        <p:blipFill>
          <a:blip r:embed="rId2"/>
          <a:srcRect t="1747"/>
          <a:stretch>
            <a:fillRect/>
          </a:stretch>
        </p:blipFill>
        <p:spPr>
          <a:xfrm>
            <a:off x="20" y="10"/>
            <a:ext cx="12191980" cy="6857990"/>
          </a:xfrm>
          <a:prstGeom prst="rect">
            <a:avLst/>
          </a:prstGeom>
        </p:spPr>
      </p:pic>
      <p:sp>
        <p:nvSpPr>
          <p:cNvPr id="3" name="Subtitle 2">
            <a:extLst>
              <a:ext uri="{FF2B5EF4-FFF2-40B4-BE49-F238E27FC236}">
                <a16:creationId xmlns:a16="http://schemas.microsoft.com/office/drawing/2014/main" id="{4435B2FC-81ED-FC7E-ED1C-17389BC296A1}"/>
              </a:ext>
            </a:extLst>
          </p:cNvPr>
          <p:cNvSpPr>
            <a:spLocks noGrp="1"/>
          </p:cNvSpPr>
          <p:nvPr>
            <p:ph type="subTitle" idx="1"/>
          </p:nvPr>
        </p:nvSpPr>
        <p:spPr>
          <a:xfrm>
            <a:off x="4068978" y="6025357"/>
            <a:ext cx="3392781" cy="960120"/>
          </a:xfrm>
        </p:spPr>
        <p:txBody>
          <a:bodyPr anchor="ctr">
            <a:normAutofit/>
          </a:bodyPr>
          <a:lstStyle/>
          <a:p>
            <a:pPr algn="ctr"/>
            <a:r>
              <a:rPr lang="en-US" sz="2000" i="0" dirty="0">
                <a:hlinkClick r:id="rId3">
                  <a:extLst>
                    <a:ext uri="{A12FA001-AC4F-418D-AE19-62706E023703}">
                      <ahyp:hlinkClr xmlns:ahyp="http://schemas.microsoft.com/office/drawing/2018/hyperlinkcolor" val="tx"/>
                    </a:ext>
                  </a:extLst>
                </a:hlinkClick>
              </a:rPr>
              <a:t>✉️</a:t>
            </a:r>
            <a:r>
              <a:rPr lang="zh-CN" altLang="en-US" sz="2000" i="0" dirty="0">
                <a:hlinkClick r:id="rId3">
                  <a:extLst>
                    <a:ext uri="{A12FA001-AC4F-418D-AE19-62706E023703}">
                      <ahyp:hlinkClr xmlns:ahyp="http://schemas.microsoft.com/office/drawing/2018/hyperlinkcolor" val="tx"/>
                    </a:ext>
                  </a:extLst>
                </a:hlinkClick>
              </a:rPr>
              <a:t> </a:t>
            </a:r>
            <a:r>
              <a:rPr lang="en-US" sz="2000" i="0" dirty="0">
                <a:hlinkClick r:id="rId3">
                  <a:extLst>
                    <a:ext uri="{A12FA001-AC4F-418D-AE19-62706E023703}">
                      <ahyp:hlinkClr xmlns:ahyp="http://schemas.microsoft.com/office/drawing/2018/hyperlinkcolor" val="tx"/>
                    </a:ext>
                  </a:extLst>
                </a:hlinkClick>
              </a:rPr>
              <a:t>ljiang3@ed.ac.uk</a:t>
            </a:r>
            <a:endParaRPr lang="en-US" sz="2000" i="0" dirty="0"/>
          </a:p>
        </p:txBody>
      </p:sp>
      <p:sp>
        <p:nvSpPr>
          <p:cNvPr id="5" name="TextBox 4">
            <a:extLst>
              <a:ext uri="{FF2B5EF4-FFF2-40B4-BE49-F238E27FC236}">
                <a16:creationId xmlns:a16="http://schemas.microsoft.com/office/drawing/2014/main" id="{C01E1BE1-B8EA-0BEA-A585-992B36AF66DC}"/>
              </a:ext>
            </a:extLst>
          </p:cNvPr>
          <p:cNvSpPr txBox="1"/>
          <p:nvPr/>
        </p:nvSpPr>
        <p:spPr>
          <a:xfrm>
            <a:off x="980008" y="1860174"/>
            <a:ext cx="9570719" cy="3139321"/>
          </a:xfrm>
          <a:prstGeom prst="rect">
            <a:avLst/>
          </a:prstGeom>
          <a:noFill/>
          <a:ln>
            <a:noFill/>
          </a:ln>
        </p:spPr>
        <p:txBody>
          <a:bodyPr wrap="square" rtlCol="0">
            <a:spAutoFit/>
          </a:bodyPr>
          <a:lstStyle/>
          <a:p>
            <a:pPr algn="ctr"/>
            <a:r>
              <a:rPr lang="en-US" sz="6600" b="1" dirty="0">
                <a:latin typeface="Bradley Hand" pitchFamily="2" charset="77"/>
                <a:cs typeface="Algerian" panose="020F0502020204030204" pitchFamily="34" charset="0"/>
              </a:rPr>
              <a:t>Human Rights and Social Justice: </a:t>
            </a:r>
          </a:p>
          <a:p>
            <a:pPr algn="ctr"/>
            <a:r>
              <a:rPr lang="en-US" sz="6600" b="1" dirty="0">
                <a:latin typeface="Bradley Hand" pitchFamily="2" charset="77"/>
                <a:cs typeface="Algerian" panose="020F0502020204030204" pitchFamily="34" charset="0"/>
              </a:rPr>
              <a:t>social work and the law</a:t>
            </a:r>
          </a:p>
        </p:txBody>
      </p:sp>
      <p:sp>
        <p:nvSpPr>
          <p:cNvPr id="6" name="Title 1">
            <a:extLst>
              <a:ext uri="{FF2B5EF4-FFF2-40B4-BE49-F238E27FC236}">
                <a16:creationId xmlns:a16="http://schemas.microsoft.com/office/drawing/2014/main" id="{A20A884D-D695-855E-2710-53A050F27B03}"/>
              </a:ext>
            </a:extLst>
          </p:cNvPr>
          <p:cNvSpPr txBox="1">
            <a:spLocks/>
          </p:cNvSpPr>
          <p:nvPr/>
        </p:nvSpPr>
        <p:spPr>
          <a:xfrm>
            <a:off x="320038" y="545156"/>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solidFill>
                  <a:schemeClr val="bg1"/>
                </a:solidFill>
              </a:rPr>
              <a:t>W2 Tutorial</a:t>
            </a:r>
          </a:p>
        </p:txBody>
      </p:sp>
      <p:sp>
        <p:nvSpPr>
          <p:cNvPr id="10" name="TextBox 9">
            <a:extLst>
              <a:ext uri="{FF2B5EF4-FFF2-40B4-BE49-F238E27FC236}">
                <a16:creationId xmlns:a16="http://schemas.microsoft.com/office/drawing/2014/main" id="{AC43517A-B412-9081-3487-C600F5604218}"/>
              </a:ext>
            </a:extLst>
          </p:cNvPr>
          <p:cNvSpPr txBox="1"/>
          <p:nvPr/>
        </p:nvSpPr>
        <p:spPr>
          <a:xfrm>
            <a:off x="-3450336" y="-1706880"/>
            <a:ext cx="184731" cy="369332"/>
          </a:xfrm>
          <a:prstGeom prst="rect">
            <a:avLst/>
          </a:prstGeom>
          <a:noFill/>
        </p:spPr>
        <p:txBody>
          <a:bodyPr wrap="none" rtlCol="0">
            <a:spAutoFit/>
          </a:bodyPr>
          <a:lstStyle/>
          <a:p>
            <a:endParaRPr lang="en-US"/>
          </a:p>
        </p:txBody>
      </p:sp>
      <p:sp>
        <p:nvSpPr>
          <p:cNvPr id="2" name="Title 1">
            <a:extLst>
              <a:ext uri="{FF2B5EF4-FFF2-40B4-BE49-F238E27FC236}">
                <a16:creationId xmlns:a16="http://schemas.microsoft.com/office/drawing/2014/main" id="{6CFA603B-40D4-3C65-C957-62F56B13EE16}"/>
              </a:ext>
            </a:extLst>
          </p:cNvPr>
          <p:cNvSpPr txBox="1">
            <a:spLocks/>
          </p:cNvSpPr>
          <p:nvPr/>
        </p:nvSpPr>
        <p:spPr>
          <a:xfrm>
            <a:off x="435862" y="450032"/>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t>W4 Tutorial</a:t>
            </a:r>
          </a:p>
        </p:txBody>
      </p:sp>
    </p:spTree>
    <p:extLst>
      <p:ext uri="{BB962C8B-B14F-4D97-AF65-F5344CB8AC3E}">
        <p14:creationId xmlns:p14="http://schemas.microsoft.com/office/powerpoint/2010/main" val="4487003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652FDA-6B9C-28D4-06BB-B0828FB9E60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5EDD04-11E9-4B4F-588E-B7D33CCA8B6E}"/>
              </a:ext>
            </a:extLst>
          </p:cNvPr>
          <p:cNvSpPr>
            <a:spLocks noGrp="1"/>
          </p:cNvSpPr>
          <p:nvPr>
            <p:ph type="title"/>
          </p:nvPr>
        </p:nvSpPr>
        <p:spPr/>
        <p:txBody>
          <a:bodyPr/>
          <a:lstStyle/>
          <a:p>
            <a:r>
              <a:rPr lang="en-US" dirty="0"/>
              <a:t>Recap (10min)</a:t>
            </a:r>
          </a:p>
        </p:txBody>
      </p:sp>
      <p:sp>
        <p:nvSpPr>
          <p:cNvPr id="3" name="Content Placeholder 2">
            <a:extLst>
              <a:ext uri="{FF2B5EF4-FFF2-40B4-BE49-F238E27FC236}">
                <a16:creationId xmlns:a16="http://schemas.microsoft.com/office/drawing/2014/main" id="{B03B41FD-8840-3B87-64E3-702772ACA1DF}"/>
              </a:ext>
            </a:extLst>
          </p:cNvPr>
          <p:cNvSpPr>
            <a:spLocks noGrp="1"/>
          </p:cNvSpPr>
          <p:nvPr>
            <p:ph idx="1"/>
          </p:nvPr>
        </p:nvSpPr>
        <p:spPr>
          <a:xfrm>
            <a:off x="521208" y="2082800"/>
            <a:ext cx="11155680" cy="4263136"/>
          </a:xfrm>
        </p:spPr>
        <p:txBody>
          <a:bodyPr>
            <a:normAutofit/>
          </a:bodyPr>
          <a:lstStyle/>
          <a:p>
            <a:r>
              <a:rPr lang="en-US" sz="2800" b="1" dirty="0"/>
              <a:t>What did you think of the Lecture?</a:t>
            </a:r>
          </a:p>
          <a:p>
            <a:pPr lvl="1"/>
            <a:r>
              <a:rPr lang="en-US" sz="2400" dirty="0"/>
              <a:t>What did you learn?</a:t>
            </a:r>
          </a:p>
          <a:p>
            <a:pPr lvl="1"/>
            <a:r>
              <a:rPr lang="en-US" sz="2400" dirty="0"/>
              <a:t>What points stood out?</a:t>
            </a:r>
          </a:p>
          <a:p>
            <a:pPr lvl="1"/>
            <a:r>
              <a:rPr lang="en-US" sz="2400" dirty="0"/>
              <a:t>Any questions?</a:t>
            </a:r>
          </a:p>
        </p:txBody>
      </p:sp>
    </p:spTree>
    <p:extLst>
      <p:ext uri="{BB962C8B-B14F-4D97-AF65-F5344CB8AC3E}">
        <p14:creationId xmlns:p14="http://schemas.microsoft.com/office/powerpoint/2010/main" val="140215961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26978-44FC-E103-A0A5-B336318AEF4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1A6BB5-BAAC-7374-0BFC-EEFF9B9C31E4}"/>
              </a:ext>
            </a:extLst>
          </p:cNvPr>
          <p:cNvSpPr>
            <a:spLocks noGrp="1"/>
          </p:cNvSpPr>
          <p:nvPr>
            <p:ph type="title"/>
          </p:nvPr>
        </p:nvSpPr>
        <p:spPr/>
        <p:txBody>
          <a:bodyPr/>
          <a:lstStyle/>
          <a:p>
            <a:r>
              <a:rPr lang="en-US" dirty="0"/>
              <a:t>Activity (25-30min)</a:t>
            </a:r>
          </a:p>
        </p:txBody>
      </p:sp>
      <p:sp>
        <p:nvSpPr>
          <p:cNvPr id="3" name="Content Placeholder 2">
            <a:extLst>
              <a:ext uri="{FF2B5EF4-FFF2-40B4-BE49-F238E27FC236}">
                <a16:creationId xmlns:a16="http://schemas.microsoft.com/office/drawing/2014/main" id="{66721436-7999-4A8D-A47B-C8C0EEA8E7EC}"/>
              </a:ext>
            </a:extLst>
          </p:cNvPr>
          <p:cNvSpPr>
            <a:spLocks noGrp="1"/>
          </p:cNvSpPr>
          <p:nvPr>
            <p:ph idx="1"/>
          </p:nvPr>
        </p:nvSpPr>
        <p:spPr>
          <a:xfrm>
            <a:off x="521208" y="2015067"/>
            <a:ext cx="11155680" cy="4330869"/>
          </a:xfrm>
        </p:spPr>
        <p:txBody>
          <a:bodyPr>
            <a:normAutofit/>
          </a:bodyPr>
          <a:lstStyle/>
          <a:p>
            <a:pPr marL="0" indent="0">
              <a:buNone/>
            </a:pPr>
            <a:endParaRPr lang="en-GB" dirty="0"/>
          </a:p>
          <a:p>
            <a:pPr marL="0" indent="0">
              <a:buNone/>
            </a:pPr>
            <a:r>
              <a:rPr lang="en-GB" sz="2400" b="1" dirty="0"/>
              <a:t>Task</a:t>
            </a:r>
          </a:p>
          <a:p>
            <a:pPr marL="0" indent="0">
              <a:buNone/>
            </a:pPr>
            <a:r>
              <a:rPr lang="en-GB" dirty="0"/>
              <a:t>The reading provides information about refugees and asylum seekers in different settings, including in Uganda and in Scotland.</a:t>
            </a:r>
          </a:p>
          <a:p>
            <a:r>
              <a:rPr lang="en-GB" dirty="0"/>
              <a:t>What did you learn from the reading?</a:t>
            </a:r>
          </a:p>
          <a:p>
            <a:r>
              <a:rPr lang="en-GB" dirty="0"/>
              <a:t>What are the key issues for social work practice in supporting refugees and asylum seekers?</a:t>
            </a:r>
          </a:p>
          <a:p>
            <a:r>
              <a:rPr lang="en-GB" dirty="0"/>
              <a:t> How can you use human rights principles to support refugees and asylum seekers?</a:t>
            </a:r>
          </a:p>
        </p:txBody>
      </p:sp>
    </p:spTree>
    <p:extLst>
      <p:ext uri="{BB962C8B-B14F-4D97-AF65-F5344CB8AC3E}">
        <p14:creationId xmlns:p14="http://schemas.microsoft.com/office/powerpoint/2010/main" val="81764648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Title 1"/>
          <p:cNvSpPr>
            <a:spLocks noGrp="1"/>
          </p:cNvSpPr>
          <p:nvPr>
            <p:ph type="ctrTitle"/>
          </p:nvPr>
        </p:nvSpPr>
        <p:spPr>
          <a:xfrm>
            <a:off x="2896069" y="1252989"/>
            <a:ext cx="7240890" cy="1468916"/>
          </a:xfrm>
        </p:spPr>
        <p:txBody>
          <a:bodyPr>
            <a:normAutofit/>
          </a:bodyPr>
          <a:lstStyle/>
          <a:p>
            <a:pPr algn="ctr" eaLnBrk="1" hangingPunct="1">
              <a:defRPr/>
            </a:pPr>
            <a:r>
              <a:rPr lang="en-GB" altLang="en-US" sz="3200" dirty="0"/>
              <a:t>Human Rights and Social Justice: social work and the law</a:t>
            </a:r>
            <a:endParaRPr lang="en-US" altLang="en-US" sz="3200" dirty="0"/>
          </a:p>
        </p:txBody>
      </p:sp>
      <p:sp>
        <p:nvSpPr>
          <p:cNvPr id="3" name="Subtitle 2"/>
          <p:cNvSpPr>
            <a:spLocks noGrp="1"/>
          </p:cNvSpPr>
          <p:nvPr>
            <p:ph type="subTitle" idx="1"/>
          </p:nvPr>
        </p:nvSpPr>
        <p:spPr>
          <a:xfrm>
            <a:off x="3090484" y="4408279"/>
            <a:ext cx="6401304" cy="1752618"/>
          </a:xfrm>
        </p:spPr>
        <p:txBody>
          <a:bodyPr/>
          <a:lstStyle/>
          <a:p>
            <a:pPr eaLnBrk="1" hangingPunct="1">
              <a:defRPr/>
            </a:pPr>
            <a:r>
              <a:rPr lang="en-US" sz="3200" dirty="0"/>
              <a:t>Dr Jackie Gulland</a:t>
            </a:r>
          </a:p>
          <a:p>
            <a:pPr eaLnBrk="1" hangingPunct="1">
              <a:defRPr/>
            </a:pPr>
            <a:r>
              <a:rPr lang="en-US" sz="3200" dirty="0"/>
              <a:t>Jackie.gulland@ed.ac.uk</a:t>
            </a:r>
          </a:p>
        </p:txBody>
      </p:sp>
      <p:sp>
        <p:nvSpPr>
          <p:cNvPr id="16388" name="TextBox 1"/>
          <p:cNvSpPr txBox="1">
            <a:spLocks noChangeArrowheads="1"/>
          </p:cNvSpPr>
          <p:nvPr/>
        </p:nvSpPr>
        <p:spPr bwMode="auto">
          <a:xfrm>
            <a:off x="3613245" y="3364196"/>
            <a:ext cx="6075838" cy="48320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pPr algn="ctr"/>
            <a:r>
              <a:rPr lang="en-GB" altLang="en-US" sz="2540" dirty="0"/>
              <a:t>Short essay advice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A2593E-B53E-5496-A01A-A3FC104CD10C}"/>
              </a:ext>
            </a:extLst>
          </p:cNvPr>
          <p:cNvSpPr>
            <a:spLocks noGrp="1"/>
          </p:cNvSpPr>
          <p:nvPr>
            <p:ph type="title"/>
          </p:nvPr>
        </p:nvSpPr>
        <p:spPr/>
        <p:txBody>
          <a:bodyPr/>
          <a:lstStyle/>
          <a:p>
            <a:r>
              <a:rPr lang="en-GB" dirty="0"/>
              <a:t>Purpose of the assignment</a:t>
            </a:r>
          </a:p>
        </p:txBody>
      </p:sp>
      <p:sp>
        <p:nvSpPr>
          <p:cNvPr id="3" name="Content Placeholder 2">
            <a:extLst>
              <a:ext uri="{FF2B5EF4-FFF2-40B4-BE49-F238E27FC236}">
                <a16:creationId xmlns:a16="http://schemas.microsoft.com/office/drawing/2014/main" id="{B7E12152-8835-C79B-0967-7CF45B21A2B6}"/>
              </a:ext>
            </a:extLst>
          </p:cNvPr>
          <p:cNvSpPr>
            <a:spLocks noGrp="1"/>
          </p:cNvSpPr>
          <p:nvPr>
            <p:ph idx="1"/>
          </p:nvPr>
        </p:nvSpPr>
        <p:spPr>
          <a:xfrm>
            <a:off x="1784705" y="1981240"/>
            <a:ext cx="9492895" cy="4114692"/>
          </a:xfrm>
        </p:spPr>
        <p:txBody>
          <a:bodyPr/>
          <a:lstStyle/>
          <a:p>
            <a:r>
              <a:rPr lang="en-GB" dirty="0"/>
              <a:t>For you to demonstrate your learning on this course</a:t>
            </a:r>
          </a:p>
          <a:p>
            <a:r>
              <a:rPr lang="en-GB" dirty="0"/>
              <a:t>For you to demonstrate your ability to explain some of the concepts and topics that we have covered</a:t>
            </a:r>
          </a:p>
          <a:p>
            <a:endParaRPr lang="en-GB" dirty="0"/>
          </a:p>
          <a:p>
            <a:pPr marL="0" indent="0">
              <a:buNone/>
            </a:pPr>
            <a:r>
              <a:rPr lang="en-GB" dirty="0"/>
              <a:t>NOT</a:t>
            </a:r>
          </a:p>
          <a:p>
            <a:r>
              <a:rPr lang="en-GB" dirty="0"/>
              <a:t>Intended to trick or catch you out</a:t>
            </a:r>
          </a:p>
          <a:p>
            <a:r>
              <a:rPr lang="en-GB" dirty="0"/>
              <a:t>a need for you to go off and research a completely new topic that we have not covered</a:t>
            </a:r>
          </a:p>
        </p:txBody>
      </p:sp>
    </p:spTree>
    <p:extLst>
      <p:ext uri="{BB962C8B-B14F-4D97-AF65-F5344CB8AC3E}">
        <p14:creationId xmlns:p14="http://schemas.microsoft.com/office/powerpoint/2010/main" val="21145535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p:cNvSpPr>
            <a:spLocks noGrp="1"/>
          </p:cNvSpPr>
          <p:nvPr>
            <p:ph type="title"/>
          </p:nvPr>
        </p:nvSpPr>
        <p:spPr/>
        <p:txBody>
          <a:bodyPr/>
          <a:lstStyle/>
          <a:p>
            <a:r>
              <a:rPr lang="en-GB" altLang="en-US"/>
              <a:t>Things to think about</a:t>
            </a:r>
          </a:p>
        </p:txBody>
      </p:sp>
      <p:sp>
        <p:nvSpPr>
          <p:cNvPr id="22531" name="Content Placeholder 2"/>
          <p:cNvSpPr>
            <a:spLocks noGrp="1"/>
          </p:cNvSpPr>
          <p:nvPr>
            <p:ph idx="1"/>
          </p:nvPr>
        </p:nvSpPr>
        <p:spPr>
          <a:xfrm>
            <a:off x="1850028" y="1981687"/>
            <a:ext cx="8883879" cy="4114404"/>
          </a:xfrm>
        </p:spPr>
        <p:txBody>
          <a:bodyPr/>
          <a:lstStyle/>
          <a:p>
            <a:r>
              <a:rPr lang="en-GB" altLang="en-US" sz="2540" dirty="0"/>
              <a:t>Write this as a briefing paper </a:t>
            </a:r>
          </a:p>
          <a:p>
            <a:r>
              <a:rPr lang="en-GB" altLang="en-US" sz="2540" dirty="0"/>
              <a:t>Provide a clear structure and headings</a:t>
            </a:r>
          </a:p>
          <a:p>
            <a:r>
              <a:rPr lang="en-GB" altLang="en-US" sz="2540" dirty="0"/>
              <a:t>You will have to upload a Word document so don’t use graphics or images</a:t>
            </a:r>
          </a:p>
          <a:p>
            <a:r>
              <a:rPr lang="en-GB" altLang="en-US" sz="2540" dirty="0"/>
              <a:t>Make sure you provide adequate references for your sources</a:t>
            </a:r>
          </a:p>
          <a:p>
            <a:r>
              <a:rPr lang="en-GB" altLang="en-US" sz="2540" dirty="0"/>
              <a:t>Don’t plagiarise (e.g., make sure you don’t simply reuse something you’ve found online or using AI or in one of the readings)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defRPr/>
            </a:pPr>
            <a:r>
              <a:rPr lang="en-GB" dirty="0">
                <a:ea typeface="ＭＳ Ｐゴシック" panose="020B0600070205080204" pitchFamily="34" charset="-128"/>
              </a:rPr>
              <a:t>Using the resource list</a:t>
            </a:r>
          </a:p>
        </p:txBody>
      </p:sp>
      <p:sp>
        <p:nvSpPr>
          <p:cNvPr id="6" name="Content Placeholder 5">
            <a:extLst>
              <a:ext uri="{FF2B5EF4-FFF2-40B4-BE49-F238E27FC236}">
                <a16:creationId xmlns:a16="http://schemas.microsoft.com/office/drawing/2014/main" id="{2932E2AF-41CC-4ABA-B48F-225051279FDA}"/>
              </a:ext>
            </a:extLst>
          </p:cNvPr>
          <p:cNvSpPr>
            <a:spLocks noGrp="1"/>
          </p:cNvSpPr>
          <p:nvPr>
            <p:ph idx="1"/>
          </p:nvPr>
        </p:nvSpPr>
        <p:spPr>
          <a:xfrm>
            <a:off x="1850029" y="1981240"/>
            <a:ext cx="9427571" cy="4114692"/>
          </a:xfrm>
        </p:spPr>
        <p:txBody>
          <a:bodyPr>
            <a:normAutofit lnSpcReduction="10000"/>
          </a:bodyPr>
          <a:lstStyle/>
          <a:p>
            <a:pPr marL="0" indent="0" defTabSz="407571" eaLnBrk="0" fontAlgn="base" hangingPunct="0">
              <a:lnSpc>
                <a:spcPct val="100000"/>
              </a:lnSpc>
              <a:spcBef>
                <a:spcPct val="0"/>
              </a:spcBef>
              <a:spcAft>
                <a:spcPct val="0"/>
              </a:spcAft>
              <a:buNone/>
              <a:defRPr/>
            </a:pPr>
            <a:r>
              <a:rPr lang="en-GB" sz="1814" dirty="0">
                <a:solidFill>
                  <a:srgbClr val="000000"/>
                </a:solidFill>
                <a:latin typeface="Arial" panose="020B0604020202020204" pitchFamily="34" charset="0"/>
                <a:ea typeface="Arial Unicode MS" pitchFamily="34" charset="-128"/>
              </a:rPr>
              <a:t>The resource list provides further reading on each of the topics covered by the course and has a section on study skills and report writing.</a:t>
            </a:r>
          </a:p>
          <a:p>
            <a:pPr marL="0" indent="0" defTabSz="407571" eaLnBrk="0" fontAlgn="base" hangingPunct="0">
              <a:lnSpc>
                <a:spcPct val="100000"/>
              </a:lnSpc>
              <a:spcBef>
                <a:spcPct val="0"/>
              </a:spcBef>
              <a:spcAft>
                <a:spcPct val="0"/>
              </a:spcAft>
              <a:buNone/>
              <a:defRPr/>
            </a:pPr>
            <a:endParaRPr lang="en-GB" sz="1814" dirty="0">
              <a:solidFill>
                <a:srgbClr val="000000"/>
              </a:solidFill>
              <a:latin typeface="Arial" panose="020B0604020202020204" pitchFamily="34" charset="0"/>
              <a:ea typeface="Arial Unicode MS" pitchFamily="34" charset="-128"/>
            </a:endParaRPr>
          </a:p>
          <a:p>
            <a:pPr marL="0" indent="0" defTabSz="407571" eaLnBrk="0" fontAlgn="base" hangingPunct="0">
              <a:lnSpc>
                <a:spcPct val="100000"/>
              </a:lnSpc>
              <a:spcBef>
                <a:spcPct val="0"/>
              </a:spcBef>
              <a:spcAft>
                <a:spcPct val="0"/>
              </a:spcAft>
              <a:buNone/>
              <a:defRPr/>
            </a:pPr>
            <a:r>
              <a:rPr lang="en-GB" sz="1814" dirty="0">
                <a:solidFill>
                  <a:srgbClr val="000000"/>
                </a:solidFill>
                <a:latin typeface="Arial" panose="020B0604020202020204" pitchFamily="34" charset="0"/>
                <a:ea typeface="Arial Unicode MS" pitchFamily="34" charset="-128"/>
              </a:rPr>
              <a:t>Use the resource list to back up the information which we have provided in lectures. Individual lecturers may also have provided references on their slides</a:t>
            </a:r>
          </a:p>
          <a:p>
            <a:pPr marL="0" indent="0" defTabSz="407571" eaLnBrk="0" fontAlgn="base" hangingPunct="0">
              <a:lnSpc>
                <a:spcPct val="100000"/>
              </a:lnSpc>
              <a:spcBef>
                <a:spcPct val="0"/>
              </a:spcBef>
              <a:spcAft>
                <a:spcPct val="0"/>
              </a:spcAft>
              <a:buNone/>
              <a:defRPr/>
            </a:pPr>
            <a:endParaRPr lang="en-GB" sz="1814" dirty="0">
              <a:solidFill>
                <a:srgbClr val="000000"/>
              </a:solidFill>
              <a:latin typeface="Arial" panose="020B0604020202020204" pitchFamily="34" charset="0"/>
              <a:ea typeface="Arial Unicode MS" pitchFamily="34" charset="-128"/>
            </a:endParaRPr>
          </a:p>
          <a:p>
            <a:pPr marL="0" indent="0" defTabSz="407571" eaLnBrk="0" fontAlgn="base" hangingPunct="0">
              <a:lnSpc>
                <a:spcPct val="100000"/>
              </a:lnSpc>
              <a:spcBef>
                <a:spcPct val="0"/>
              </a:spcBef>
              <a:spcAft>
                <a:spcPct val="0"/>
              </a:spcAft>
              <a:buNone/>
              <a:defRPr/>
            </a:pPr>
            <a:r>
              <a:rPr lang="en-GB" sz="1814" dirty="0">
                <a:solidFill>
                  <a:srgbClr val="000000"/>
                </a:solidFill>
                <a:latin typeface="Arial" panose="020B0604020202020204" pitchFamily="34" charset="0"/>
                <a:ea typeface="Arial Unicode MS" pitchFamily="34" charset="-128"/>
              </a:rPr>
              <a:t>The sections on ‘Social Work and the Law’ and ‘Human Rights and Equality’ also have useful books which have sections on particular areas of human rights</a:t>
            </a:r>
          </a:p>
          <a:p>
            <a:pPr marL="0" indent="0" defTabSz="407571" eaLnBrk="0" fontAlgn="base" hangingPunct="0">
              <a:lnSpc>
                <a:spcPct val="100000"/>
              </a:lnSpc>
              <a:spcBef>
                <a:spcPct val="0"/>
              </a:spcBef>
              <a:spcAft>
                <a:spcPct val="0"/>
              </a:spcAft>
              <a:buNone/>
              <a:defRPr/>
            </a:pPr>
            <a:endParaRPr lang="en-GB" sz="1814" dirty="0">
              <a:solidFill>
                <a:srgbClr val="000000"/>
              </a:solidFill>
              <a:latin typeface="Arial" panose="020B0604020202020204" pitchFamily="34" charset="0"/>
              <a:ea typeface="Arial Unicode MS" pitchFamily="34" charset="-128"/>
            </a:endParaRPr>
          </a:p>
          <a:p>
            <a:pPr marL="0" indent="0" defTabSz="407571" eaLnBrk="0" fontAlgn="base" hangingPunct="0">
              <a:lnSpc>
                <a:spcPct val="100000"/>
              </a:lnSpc>
              <a:spcBef>
                <a:spcPct val="0"/>
              </a:spcBef>
              <a:spcAft>
                <a:spcPct val="0"/>
              </a:spcAft>
              <a:buNone/>
              <a:defRPr/>
            </a:pPr>
            <a:r>
              <a:rPr lang="en-GB" sz="1814" dirty="0">
                <a:solidFill>
                  <a:srgbClr val="000000"/>
                </a:solidFill>
                <a:latin typeface="Arial" panose="020B0604020202020204" pitchFamily="34" charset="0"/>
                <a:ea typeface="Arial Unicode MS" pitchFamily="34" charset="-128"/>
              </a:rPr>
              <a:t>The section on ‘Resources for study skills and report writing’ provides advice on report writing</a:t>
            </a:r>
          </a:p>
          <a:p>
            <a:pPr marL="0" indent="0" defTabSz="407571" eaLnBrk="0" fontAlgn="base" hangingPunct="0">
              <a:lnSpc>
                <a:spcPct val="100000"/>
              </a:lnSpc>
              <a:spcBef>
                <a:spcPct val="0"/>
              </a:spcBef>
              <a:spcAft>
                <a:spcPct val="0"/>
              </a:spcAft>
              <a:buNone/>
              <a:defRPr/>
            </a:pPr>
            <a:endParaRPr lang="en-GB" sz="1814" dirty="0">
              <a:solidFill>
                <a:srgbClr val="000000"/>
              </a:solidFill>
              <a:latin typeface="Arial" panose="020B0604020202020204" pitchFamily="34" charset="0"/>
              <a:ea typeface="Arial Unicode MS" pitchFamily="34" charset="-128"/>
            </a:endParaRPr>
          </a:p>
          <a:p>
            <a:pPr marL="0" indent="0" defTabSz="407571" eaLnBrk="0" fontAlgn="base" hangingPunct="0">
              <a:lnSpc>
                <a:spcPct val="100000"/>
              </a:lnSpc>
              <a:spcBef>
                <a:spcPct val="0"/>
              </a:spcBef>
              <a:spcAft>
                <a:spcPct val="0"/>
              </a:spcAft>
              <a:buNone/>
              <a:defRPr/>
            </a:pPr>
            <a:r>
              <a:rPr lang="en-GB" sz="1814" dirty="0">
                <a:solidFill>
                  <a:srgbClr val="000000"/>
                </a:solidFill>
                <a:latin typeface="Arial" panose="020B0604020202020204" pitchFamily="34" charset="0"/>
                <a:ea typeface="Arial Unicode MS" pitchFamily="34" charset="-128"/>
              </a:rPr>
              <a:t>The Section on ‘What is Social Work’ is particularly useful for students who are not on the social work programme and may be helpful in providing examples of particular areas of social work practice</a:t>
            </a:r>
          </a:p>
          <a:p>
            <a:endParaRPr lang="en-GB" dirty="0"/>
          </a:p>
        </p:txBody>
      </p:sp>
    </p:spTree>
    <p:extLst>
      <p:ext uri="{BB962C8B-B14F-4D97-AF65-F5344CB8AC3E}">
        <p14:creationId xmlns:p14="http://schemas.microsoft.com/office/powerpoint/2010/main" val="29474128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1">
            <a:extLst>
              <a:ext uri="{FF2B5EF4-FFF2-40B4-BE49-F238E27FC236}">
                <a16:creationId xmlns:a16="http://schemas.microsoft.com/office/drawing/2014/main" id="{EA136396-404B-4FF6-9918-B85C0050EF6D}"/>
              </a:ext>
            </a:extLst>
          </p:cNvPr>
          <p:cNvSpPr>
            <a:spLocks noChangeArrowheads="1"/>
          </p:cNvSpPr>
          <p:nvPr/>
        </p:nvSpPr>
        <p:spPr bwMode="auto">
          <a:xfrm>
            <a:off x="1" y="-293077"/>
            <a:ext cx="167587" cy="5863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82951" tIns="41475" rIns="82951" bIns="41475" numCol="1" anchor="ctr" anchorCtr="0" compatLnSpc="1">
            <a:prstTxWarp prst="textNoShape">
              <a:avLst/>
            </a:prstTxWarp>
            <a:spAutoFit/>
          </a:bodyPr>
          <a:lstStyle/>
          <a:p>
            <a:pPr defTabSz="829544" eaLnBrk="0" fontAlgn="base" hangingPunct="0">
              <a:spcBef>
                <a:spcPct val="0"/>
              </a:spcBef>
              <a:spcAft>
                <a:spcPct val="0"/>
              </a:spcAft>
            </a:pPr>
            <a:br>
              <a:rPr lang="en-US" altLang="en-US" sz="1633">
                <a:latin typeface="Arial" panose="020B0604020202020204" pitchFamily="34" charset="0"/>
              </a:rPr>
            </a:br>
            <a:endParaRPr lang="en-US" altLang="en-US" sz="1633">
              <a:latin typeface="Arial" panose="020B0604020202020204" pitchFamily="34" charset="0"/>
            </a:endParaRPr>
          </a:p>
        </p:txBody>
      </p:sp>
      <p:sp>
        <p:nvSpPr>
          <p:cNvPr id="6" name="TextBox 5">
            <a:extLst>
              <a:ext uri="{FF2B5EF4-FFF2-40B4-BE49-F238E27FC236}">
                <a16:creationId xmlns:a16="http://schemas.microsoft.com/office/drawing/2014/main" id="{21F0CF1A-FA53-4536-BEA2-3DA4BC2CF4F3}"/>
              </a:ext>
            </a:extLst>
          </p:cNvPr>
          <p:cNvSpPr txBox="1"/>
          <p:nvPr/>
        </p:nvSpPr>
        <p:spPr>
          <a:xfrm>
            <a:off x="2895191" y="554804"/>
            <a:ext cx="4833875" cy="343620"/>
          </a:xfrm>
          <a:prstGeom prst="rect">
            <a:avLst/>
          </a:prstGeom>
          <a:noFill/>
        </p:spPr>
        <p:txBody>
          <a:bodyPr wrap="square" rtlCol="0">
            <a:spAutoFit/>
          </a:bodyPr>
          <a:lstStyle/>
          <a:p>
            <a:r>
              <a:rPr lang="en-GB" sz="1633" dirty="0"/>
              <a:t>Short essay Marking criteria</a:t>
            </a:r>
          </a:p>
        </p:txBody>
      </p:sp>
      <p:graphicFrame>
        <p:nvGraphicFramePr>
          <p:cNvPr id="11" name="Content Placeholder 10">
            <a:extLst>
              <a:ext uri="{FF2B5EF4-FFF2-40B4-BE49-F238E27FC236}">
                <a16:creationId xmlns:a16="http://schemas.microsoft.com/office/drawing/2014/main" id="{E0A23331-A9A1-0ECE-544C-773B53434334}"/>
              </a:ext>
            </a:extLst>
          </p:cNvPr>
          <p:cNvGraphicFramePr>
            <a:graphicFrameLocks noGrp="1"/>
          </p:cNvGraphicFramePr>
          <p:nvPr>
            <p:ph idx="1"/>
          </p:nvPr>
        </p:nvGraphicFramePr>
        <p:xfrm>
          <a:off x="543576" y="1403999"/>
          <a:ext cx="10538052" cy="5803150"/>
        </p:xfrm>
        <a:graphic>
          <a:graphicData uri="http://schemas.openxmlformats.org/drawingml/2006/table">
            <a:tbl>
              <a:tblPr firstRow="1" firstCol="1" bandRow="1"/>
              <a:tblGrid>
                <a:gridCol w="1756342">
                  <a:extLst>
                    <a:ext uri="{9D8B030D-6E8A-4147-A177-3AD203B41FA5}">
                      <a16:colId xmlns:a16="http://schemas.microsoft.com/office/drawing/2014/main" val="823207598"/>
                    </a:ext>
                  </a:extLst>
                </a:gridCol>
                <a:gridCol w="1756342">
                  <a:extLst>
                    <a:ext uri="{9D8B030D-6E8A-4147-A177-3AD203B41FA5}">
                      <a16:colId xmlns:a16="http://schemas.microsoft.com/office/drawing/2014/main" val="3256822829"/>
                    </a:ext>
                  </a:extLst>
                </a:gridCol>
                <a:gridCol w="1756342">
                  <a:extLst>
                    <a:ext uri="{9D8B030D-6E8A-4147-A177-3AD203B41FA5}">
                      <a16:colId xmlns:a16="http://schemas.microsoft.com/office/drawing/2014/main" val="2103238568"/>
                    </a:ext>
                  </a:extLst>
                </a:gridCol>
                <a:gridCol w="1756342">
                  <a:extLst>
                    <a:ext uri="{9D8B030D-6E8A-4147-A177-3AD203B41FA5}">
                      <a16:colId xmlns:a16="http://schemas.microsoft.com/office/drawing/2014/main" val="3486261614"/>
                    </a:ext>
                  </a:extLst>
                </a:gridCol>
                <a:gridCol w="1756342">
                  <a:extLst>
                    <a:ext uri="{9D8B030D-6E8A-4147-A177-3AD203B41FA5}">
                      <a16:colId xmlns:a16="http://schemas.microsoft.com/office/drawing/2014/main" val="4067644523"/>
                    </a:ext>
                  </a:extLst>
                </a:gridCol>
                <a:gridCol w="1756342">
                  <a:extLst>
                    <a:ext uri="{9D8B030D-6E8A-4147-A177-3AD203B41FA5}">
                      <a16:colId xmlns:a16="http://schemas.microsoft.com/office/drawing/2014/main" val="1714210155"/>
                    </a:ext>
                  </a:extLst>
                </a:gridCol>
              </a:tblGrid>
              <a:tr h="192160">
                <a:tc gridSpan="6">
                  <a:txBody>
                    <a:bodyPr/>
                    <a:lstStyle/>
                    <a:p>
                      <a:pPr>
                        <a:lnSpc>
                          <a:spcPct val="115000"/>
                        </a:lnSpc>
                        <a:spcAft>
                          <a:spcPts val="800"/>
                        </a:spcAft>
                        <a:buNone/>
                      </a:pPr>
                      <a:r>
                        <a:rPr lang="en-GB" sz="1100" b="1" kern="0">
                          <a:solidFill>
                            <a:srgbClr val="262626"/>
                          </a:solidFill>
                          <a:effectLst/>
                          <a:latin typeface="+mj-lt"/>
                          <a:ea typeface="Times New Roman" panose="02020603050405020304" pitchFamily="18" charset="0"/>
                          <a:cs typeface="Times New Roman" panose="02020603050405020304" pitchFamily="18" charset="0"/>
                        </a:rPr>
                        <a:t>Human Rights and Social Justice – marking criteria for short essay</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tc hMerge="1">
                  <a:txBody>
                    <a:bodyPr/>
                    <a:lstStyle/>
                    <a:p>
                      <a:endParaRPr lang="en-GB"/>
                    </a:p>
                  </a:txBody>
                  <a:tcPr/>
                </a:tc>
                <a:extLst>
                  <a:ext uri="{0D108BD9-81ED-4DB2-BD59-A6C34878D82A}">
                    <a16:rowId xmlns:a16="http://schemas.microsoft.com/office/drawing/2014/main" val="2253213467"/>
                  </a:ext>
                </a:extLst>
              </a:tr>
              <a:tr h="192160">
                <a:tc>
                  <a:txBody>
                    <a:bodyPr/>
                    <a:lstStyle/>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 </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b="1" kern="0">
                          <a:solidFill>
                            <a:srgbClr val="262626"/>
                          </a:solidFill>
                          <a:effectLst/>
                          <a:latin typeface="+mj-lt"/>
                          <a:ea typeface="Times New Roman" panose="02020603050405020304" pitchFamily="18" charset="0"/>
                          <a:cs typeface="Times New Roman" panose="02020603050405020304" pitchFamily="18" charset="0"/>
                        </a:rPr>
                        <a:t>Excellent</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b="1" kern="0">
                          <a:solidFill>
                            <a:srgbClr val="262626"/>
                          </a:solidFill>
                          <a:effectLst/>
                          <a:latin typeface="+mj-lt"/>
                          <a:ea typeface="Times New Roman" panose="02020603050405020304" pitchFamily="18" charset="0"/>
                          <a:cs typeface="Times New Roman" panose="02020603050405020304" pitchFamily="18" charset="0"/>
                        </a:rPr>
                        <a:t>Good to Very Good</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b="1" kern="0">
                          <a:solidFill>
                            <a:srgbClr val="262626"/>
                          </a:solidFill>
                          <a:effectLst/>
                          <a:latin typeface="+mj-lt"/>
                          <a:ea typeface="Times New Roman" panose="02020603050405020304" pitchFamily="18" charset="0"/>
                          <a:cs typeface="Times New Roman" panose="02020603050405020304" pitchFamily="18" charset="0"/>
                        </a:rPr>
                        <a:t>Satisfactory to good</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b="1" kern="0">
                          <a:solidFill>
                            <a:srgbClr val="262626"/>
                          </a:solidFill>
                          <a:effectLst/>
                          <a:latin typeface="+mj-lt"/>
                          <a:ea typeface="Times New Roman" panose="02020603050405020304" pitchFamily="18" charset="0"/>
                          <a:cs typeface="Times New Roman" panose="02020603050405020304" pitchFamily="18" charset="0"/>
                        </a:rPr>
                        <a:t>Satisfactory </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b="1" kern="0">
                          <a:solidFill>
                            <a:srgbClr val="262626"/>
                          </a:solidFill>
                          <a:effectLst/>
                          <a:latin typeface="+mj-lt"/>
                          <a:ea typeface="Times New Roman" panose="02020603050405020304" pitchFamily="18" charset="0"/>
                          <a:cs typeface="Times New Roman" panose="02020603050405020304" pitchFamily="18" charset="0"/>
                        </a:rPr>
                        <a:t>Poor</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extLst>
                  <a:ext uri="{0D108BD9-81ED-4DB2-BD59-A6C34878D82A}">
                    <a16:rowId xmlns:a16="http://schemas.microsoft.com/office/drawing/2014/main" val="3527865651"/>
                  </a:ext>
                </a:extLst>
              </a:tr>
              <a:tr h="192160">
                <a:tc>
                  <a:txBody>
                    <a:bodyPr/>
                    <a:lstStyle/>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 </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b="1" kern="0">
                          <a:solidFill>
                            <a:srgbClr val="262626"/>
                          </a:solidFill>
                          <a:effectLst/>
                          <a:latin typeface="+mj-lt"/>
                          <a:ea typeface="Times New Roman" panose="02020603050405020304" pitchFamily="18" charset="0"/>
                          <a:cs typeface="Times New Roman" panose="02020603050405020304" pitchFamily="18" charset="0"/>
                        </a:rPr>
                        <a:t>70+</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b="1" kern="0">
                          <a:solidFill>
                            <a:srgbClr val="262626"/>
                          </a:solidFill>
                          <a:effectLst/>
                          <a:latin typeface="+mj-lt"/>
                          <a:ea typeface="Times New Roman" panose="02020603050405020304" pitchFamily="18" charset="0"/>
                          <a:cs typeface="Times New Roman" panose="02020603050405020304" pitchFamily="18" charset="0"/>
                        </a:rPr>
                        <a:t>60-69</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b="1" kern="0">
                          <a:solidFill>
                            <a:srgbClr val="262626"/>
                          </a:solidFill>
                          <a:effectLst/>
                          <a:latin typeface="+mj-lt"/>
                          <a:ea typeface="Times New Roman" panose="02020603050405020304" pitchFamily="18" charset="0"/>
                          <a:cs typeface="Times New Roman" panose="02020603050405020304" pitchFamily="18" charset="0"/>
                        </a:rPr>
                        <a:t>50-59</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b="1" kern="0">
                          <a:solidFill>
                            <a:srgbClr val="262626"/>
                          </a:solidFill>
                          <a:effectLst/>
                          <a:latin typeface="+mj-lt"/>
                          <a:ea typeface="Times New Roman" panose="02020603050405020304" pitchFamily="18" charset="0"/>
                          <a:cs typeface="Times New Roman" panose="02020603050405020304" pitchFamily="18" charset="0"/>
                        </a:rPr>
                        <a:t>40-49</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b="1" kern="0">
                          <a:solidFill>
                            <a:srgbClr val="262626"/>
                          </a:solidFill>
                          <a:effectLst/>
                          <a:latin typeface="+mj-lt"/>
                          <a:ea typeface="Times New Roman" panose="02020603050405020304" pitchFamily="18" charset="0"/>
                          <a:cs typeface="Times New Roman" panose="02020603050405020304" pitchFamily="18" charset="0"/>
                        </a:rPr>
                        <a:t>0-39</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extLst>
                  <a:ext uri="{0D108BD9-81ED-4DB2-BD59-A6C34878D82A}">
                    <a16:rowId xmlns:a16="http://schemas.microsoft.com/office/drawing/2014/main" val="1206125102"/>
                  </a:ext>
                </a:extLst>
              </a:tr>
              <a:tr h="192160">
                <a:tc>
                  <a:txBody>
                    <a:bodyPr/>
                    <a:lstStyle/>
                    <a:p>
                      <a:pPr>
                        <a:lnSpc>
                          <a:spcPct val="115000"/>
                        </a:lnSpc>
                        <a:spcAft>
                          <a:spcPts val="800"/>
                        </a:spcAft>
                        <a:buNone/>
                      </a:pPr>
                      <a:r>
                        <a:rPr lang="en-GB" sz="1100" b="1" kern="0">
                          <a:solidFill>
                            <a:srgbClr val="262626"/>
                          </a:solidFill>
                          <a:effectLst/>
                          <a:latin typeface="+mj-lt"/>
                          <a:ea typeface="Times New Roman" panose="02020603050405020304" pitchFamily="18" charset="0"/>
                          <a:cs typeface="Times New Roman" panose="02020603050405020304" pitchFamily="18" charset="0"/>
                        </a:rPr>
                        <a:t>Content</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 </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 </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 </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 </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 </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extLst>
                  <a:ext uri="{0D108BD9-81ED-4DB2-BD59-A6C34878D82A}">
                    <a16:rowId xmlns:a16="http://schemas.microsoft.com/office/drawing/2014/main" val="2144966792"/>
                  </a:ext>
                </a:extLst>
              </a:tr>
              <a:tr h="1619830">
                <a:tc>
                  <a:txBody>
                    <a:bodyPr/>
                    <a:lstStyle/>
                    <a:p>
                      <a:pPr>
                        <a:lnSpc>
                          <a:spcPct val="115000"/>
                        </a:lnSpc>
                        <a:spcAft>
                          <a:spcPts val="800"/>
                        </a:spcAft>
                        <a:buNone/>
                      </a:pPr>
                      <a:r>
                        <a:rPr lang="en-GB" sz="1100" b="1" kern="0" dirty="0">
                          <a:solidFill>
                            <a:srgbClr val="262626"/>
                          </a:solidFill>
                          <a:effectLst/>
                          <a:latin typeface="+mj-lt"/>
                          <a:ea typeface="Times New Roman" panose="02020603050405020304" pitchFamily="18" charset="0"/>
                          <a:cs typeface="Times New Roman" panose="02020603050405020304" pitchFamily="18" charset="0"/>
                        </a:rPr>
                        <a:t>Construction of argument</a:t>
                      </a:r>
                      <a:endParaRPr lang="en-GB" sz="1100" kern="100" dirty="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 Clear identification of a key point that responds directly to the question prompt; this central argument is established initially and carried throughout</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There are clear points of argument but these may not always connect clearly across the assignment</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0">
                          <a:solidFill>
                            <a:srgbClr val="000000"/>
                          </a:solidFill>
                          <a:effectLst/>
                          <a:latin typeface="+mj-lt"/>
                          <a:ea typeface="Times New Roman" panose="02020603050405020304" pitchFamily="18" charset="0"/>
                          <a:cs typeface="Times New Roman" panose="02020603050405020304" pitchFamily="18" charset="0"/>
                        </a:rPr>
                        <a:t>A central core argument is present, but may not be stated very clearly, may be stated late in the text, and/or may not always be clearly connected to the evidence and analysis </a:t>
                      </a:r>
                      <a:endParaRPr lang="en-GB" sz="1100" kern="100">
                        <a:effectLst/>
                        <a:latin typeface="+mj-lt"/>
                        <a:ea typeface="Aptos" panose="020B0004020202020204" pitchFamily="34" charset="0"/>
                        <a:cs typeface="Times New Roman" panose="02020603050405020304" pitchFamily="18" charset="0"/>
                      </a:endParaRPr>
                    </a:p>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 </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The central argument is difficult to find; the evidence and analysis may only tangentially support any core claim</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Unintelligible or absent central argument that motivates the assignment</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extLst>
                  <a:ext uri="{0D108BD9-81ED-4DB2-BD59-A6C34878D82A}">
                    <a16:rowId xmlns:a16="http://schemas.microsoft.com/office/drawing/2014/main" val="795412065"/>
                  </a:ext>
                </a:extLst>
              </a:tr>
              <a:tr h="1146091">
                <a:tc>
                  <a:txBody>
                    <a:bodyPr/>
                    <a:lstStyle/>
                    <a:p>
                      <a:pPr>
                        <a:lnSpc>
                          <a:spcPct val="115000"/>
                        </a:lnSpc>
                        <a:spcAft>
                          <a:spcPts val="800"/>
                        </a:spcAft>
                        <a:buNone/>
                      </a:pPr>
                      <a:r>
                        <a:rPr lang="en-GB" sz="1100" b="1" kern="100">
                          <a:solidFill>
                            <a:srgbClr val="000000"/>
                          </a:solidFill>
                          <a:effectLst/>
                          <a:latin typeface="+mj-lt"/>
                          <a:ea typeface="Aptos" panose="020B0004020202020204" pitchFamily="34" charset="0"/>
                          <a:cs typeface="Times New Roman" panose="02020603050405020304" pitchFamily="18" charset="0"/>
                        </a:rPr>
                        <a:t>Use of Human Rights or Equality law or policy</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100">
                          <a:solidFill>
                            <a:srgbClr val="000000"/>
                          </a:solidFill>
                          <a:effectLst/>
                          <a:latin typeface="+mj-lt"/>
                          <a:ea typeface="Aptos" panose="020B0004020202020204" pitchFamily="34" charset="0"/>
                          <a:cs typeface="Times New Roman" panose="02020603050405020304" pitchFamily="18" charset="0"/>
                        </a:rPr>
                        <a:t>There is a clear and accurate understanding of relevant Human Rights or Equality legislation or policy</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100">
                          <a:solidFill>
                            <a:srgbClr val="000000"/>
                          </a:solidFill>
                          <a:effectLst/>
                          <a:latin typeface="+mj-lt"/>
                          <a:ea typeface="Aptos" panose="020B0004020202020204" pitchFamily="34" charset="0"/>
                          <a:cs typeface="Times New Roman" panose="02020603050405020304" pitchFamily="18" charset="0"/>
                        </a:rPr>
                        <a:t>Understanding of relevant Human Rights or Equality legislation or policy is mostly clear and accurate.</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100">
                          <a:solidFill>
                            <a:srgbClr val="000000"/>
                          </a:solidFill>
                          <a:effectLst/>
                          <a:latin typeface="+mj-lt"/>
                          <a:ea typeface="Aptos" panose="020B0004020202020204" pitchFamily="34" charset="0"/>
                          <a:cs typeface="Times New Roman" panose="02020603050405020304" pitchFamily="18" charset="0"/>
                        </a:rPr>
                        <a:t>Understanding of relevant Human Rights or Equality legislation is demonstrated but may be muddled or inaccurate in places.</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100">
                          <a:solidFill>
                            <a:srgbClr val="000000"/>
                          </a:solidFill>
                          <a:effectLst/>
                          <a:latin typeface="+mj-lt"/>
                          <a:ea typeface="Aptos" panose="020B0004020202020204" pitchFamily="34" charset="0"/>
                          <a:cs typeface="Times New Roman" panose="02020603050405020304" pitchFamily="18" charset="0"/>
                        </a:rPr>
                        <a:t>Understanding of relevant Human Rights or Equality legislation or policy is present but is inaccurate or not clearly addressed in the assignment.</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100" dirty="0">
                          <a:solidFill>
                            <a:srgbClr val="000000"/>
                          </a:solidFill>
                          <a:effectLst/>
                          <a:latin typeface="+mj-lt"/>
                          <a:ea typeface="Aptos" panose="020B0004020202020204" pitchFamily="34" charset="0"/>
                          <a:cs typeface="Times New Roman" panose="02020603050405020304" pitchFamily="18" charset="0"/>
                        </a:rPr>
                        <a:t>There is no clear evidence of understanding of relevant Human Rights or Equality legislation or policy.</a:t>
                      </a:r>
                      <a:endParaRPr lang="en-GB" sz="1100" kern="100" dirty="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extLst>
                  <a:ext uri="{0D108BD9-81ED-4DB2-BD59-A6C34878D82A}">
                    <a16:rowId xmlns:a16="http://schemas.microsoft.com/office/drawing/2014/main" val="73829167"/>
                  </a:ext>
                </a:extLst>
              </a:tr>
              <a:tr h="2192189">
                <a:tc>
                  <a:txBody>
                    <a:bodyPr/>
                    <a:lstStyle/>
                    <a:p>
                      <a:pPr>
                        <a:lnSpc>
                          <a:spcPct val="115000"/>
                        </a:lnSpc>
                        <a:spcAft>
                          <a:spcPts val="800"/>
                        </a:spcAft>
                        <a:buNone/>
                      </a:pPr>
                      <a:r>
                        <a:rPr lang="en-GB" sz="1100" b="1" kern="0">
                          <a:solidFill>
                            <a:srgbClr val="262626"/>
                          </a:solidFill>
                          <a:effectLst/>
                          <a:latin typeface="+mj-lt"/>
                          <a:ea typeface="Times New Roman" panose="02020603050405020304" pitchFamily="18" charset="0"/>
                          <a:cs typeface="Times New Roman" panose="02020603050405020304" pitchFamily="18" charset="0"/>
                        </a:rPr>
                        <a:t>Analysis in relation to human rights and social justice</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Strong analytical thinking and writing bringing together the principles and legislative basis of human rights and principles of social justice.</a:t>
                      </a:r>
                      <a:endParaRPr lang="en-GB" sz="1100" kern="100">
                        <a:effectLst/>
                        <a:latin typeface="+mj-lt"/>
                        <a:ea typeface="Aptos" panose="020B0004020202020204" pitchFamily="34" charset="0"/>
                        <a:cs typeface="Times New Roman" panose="02020603050405020304" pitchFamily="18" charset="0"/>
                      </a:endParaRPr>
                    </a:p>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 </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Writing brings together the principles and legislative basis of human rights and equality legislation and principles of social justice. Argument may not fully draw out these principles.</a:t>
                      </a:r>
                      <a:endParaRPr lang="en-GB" sz="1100" kern="100">
                        <a:effectLst/>
                        <a:latin typeface="+mj-lt"/>
                        <a:ea typeface="Aptos" panose="020B0004020202020204" pitchFamily="34" charset="0"/>
                        <a:cs typeface="Times New Roman" panose="02020603050405020304" pitchFamily="18" charset="0"/>
                      </a:endParaRPr>
                    </a:p>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 </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Writing brings together the principles and legislative basis of human rights and principles of social justice. Analysis may be rather descriptive</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Little analysis is offered; the assignment mostly relies on description of the topic with little synthesis of points to show how the evidence provided supports the core argument. The connection to human rights and social justice may be largely absent.</a:t>
                      </a:r>
                      <a:endParaRPr lang="en-GB" sz="1100" kern="100">
                        <a:effectLst/>
                        <a:latin typeface="+mj-lt"/>
                        <a:ea typeface="Aptos" panose="020B0004020202020204" pitchFamily="34" charset="0"/>
                        <a:cs typeface="Times New Roman" panose="02020603050405020304" pitchFamily="18" charset="0"/>
                      </a:endParaRPr>
                    </a:p>
                    <a:p>
                      <a:pPr>
                        <a:lnSpc>
                          <a:spcPct val="115000"/>
                        </a:lnSpc>
                        <a:spcAft>
                          <a:spcPts val="800"/>
                        </a:spcAft>
                        <a:buNone/>
                      </a:pPr>
                      <a:r>
                        <a:rPr lang="en-GB" sz="1100" kern="0">
                          <a:solidFill>
                            <a:srgbClr val="262626"/>
                          </a:solidFill>
                          <a:effectLst/>
                          <a:latin typeface="+mj-lt"/>
                          <a:ea typeface="Times New Roman" panose="02020603050405020304" pitchFamily="18" charset="0"/>
                          <a:cs typeface="Times New Roman" panose="02020603050405020304" pitchFamily="18" charset="0"/>
                        </a:rPr>
                        <a:t> </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0" dirty="0">
                          <a:solidFill>
                            <a:srgbClr val="262626"/>
                          </a:solidFill>
                          <a:effectLst/>
                          <a:latin typeface="+mj-lt"/>
                          <a:ea typeface="Times New Roman" panose="02020603050405020304" pitchFamily="18" charset="0"/>
                          <a:cs typeface="Times New Roman" panose="02020603050405020304" pitchFamily="18" charset="0"/>
                        </a:rPr>
                        <a:t>The connection to human rights and social justice is largely absent or is not clear.</a:t>
                      </a:r>
                      <a:endParaRPr lang="en-GB" sz="1100" kern="100" dirty="0">
                        <a:effectLst/>
                        <a:latin typeface="+mj-lt"/>
                        <a:ea typeface="Aptos" panose="020B0004020202020204" pitchFamily="34" charset="0"/>
                        <a:cs typeface="Times New Roman" panose="02020603050405020304" pitchFamily="18" charset="0"/>
                      </a:endParaRPr>
                    </a:p>
                    <a:p>
                      <a:pPr>
                        <a:lnSpc>
                          <a:spcPct val="115000"/>
                        </a:lnSpc>
                        <a:spcAft>
                          <a:spcPts val="800"/>
                        </a:spcAft>
                        <a:buNone/>
                      </a:pPr>
                      <a:r>
                        <a:rPr lang="en-GB" sz="1100" kern="0" dirty="0">
                          <a:solidFill>
                            <a:srgbClr val="262626"/>
                          </a:solidFill>
                          <a:effectLst/>
                          <a:latin typeface="+mj-lt"/>
                          <a:ea typeface="Times New Roman" panose="02020603050405020304" pitchFamily="18" charset="0"/>
                          <a:cs typeface="Times New Roman" panose="02020603050405020304" pitchFamily="18" charset="0"/>
                        </a:rPr>
                        <a:t> </a:t>
                      </a:r>
                      <a:endParaRPr lang="en-GB" sz="1100" kern="100" dirty="0">
                        <a:effectLst/>
                        <a:latin typeface="+mj-lt"/>
                        <a:ea typeface="Aptos" panose="020B0004020202020204" pitchFamily="34" charset="0"/>
                        <a:cs typeface="Times New Roman" panose="02020603050405020304" pitchFamily="18" charset="0"/>
                      </a:endParaRPr>
                    </a:p>
                    <a:p>
                      <a:pPr>
                        <a:lnSpc>
                          <a:spcPct val="115000"/>
                        </a:lnSpc>
                        <a:spcAft>
                          <a:spcPts val="800"/>
                        </a:spcAft>
                        <a:buNone/>
                      </a:pPr>
                      <a:r>
                        <a:rPr lang="en-GB" sz="1100" kern="0" dirty="0">
                          <a:solidFill>
                            <a:srgbClr val="262626"/>
                          </a:solidFill>
                          <a:effectLst/>
                          <a:latin typeface="+mj-lt"/>
                          <a:ea typeface="Times New Roman" panose="02020603050405020304" pitchFamily="18" charset="0"/>
                          <a:cs typeface="Times New Roman" panose="02020603050405020304" pitchFamily="18" charset="0"/>
                        </a:rPr>
                        <a:t> </a:t>
                      </a:r>
                      <a:endParaRPr lang="en-GB" sz="1100" kern="100" dirty="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extLst>
                  <a:ext uri="{0D108BD9-81ED-4DB2-BD59-A6C34878D82A}">
                    <a16:rowId xmlns:a16="http://schemas.microsoft.com/office/drawing/2014/main" val="2272458551"/>
                  </a:ext>
                </a:extLst>
              </a:tr>
            </a:tbl>
          </a:graphicData>
        </a:graphic>
      </p:graphicFrame>
    </p:spTree>
    <p:extLst>
      <p:ext uri="{BB962C8B-B14F-4D97-AF65-F5344CB8AC3E}">
        <p14:creationId xmlns:p14="http://schemas.microsoft.com/office/powerpoint/2010/main" val="262743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a:extLst>
              <a:ext uri="{FF2B5EF4-FFF2-40B4-BE49-F238E27FC236}">
                <a16:creationId xmlns:a16="http://schemas.microsoft.com/office/drawing/2014/main" id="{8433134B-E034-0728-9B57-CDC2D8817F8D}"/>
              </a:ext>
            </a:extLst>
          </p:cNvPr>
          <p:cNvGraphicFramePr>
            <a:graphicFrameLocks noGrp="1"/>
          </p:cNvGraphicFramePr>
          <p:nvPr/>
        </p:nvGraphicFramePr>
        <p:xfrm>
          <a:off x="914473" y="1981687"/>
          <a:ext cx="10538052" cy="4061536"/>
        </p:xfrm>
        <a:graphic>
          <a:graphicData uri="http://schemas.openxmlformats.org/drawingml/2006/table">
            <a:tbl>
              <a:tblPr firstRow="1" firstCol="1" bandRow="1"/>
              <a:tblGrid>
                <a:gridCol w="1756342">
                  <a:extLst>
                    <a:ext uri="{9D8B030D-6E8A-4147-A177-3AD203B41FA5}">
                      <a16:colId xmlns:a16="http://schemas.microsoft.com/office/drawing/2014/main" val="2384010693"/>
                    </a:ext>
                  </a:extLst>
                </a:gridCol>
                <a:gridCol w="1756342">
                  <a:extLst>
                    <a:ext uri="{9D8B030D-6E8A-4147-A177-3AD203B41FA5}">
                      <a16:colId xmlns:a16="http://schemas.microsoft.com/office/drawing/2014/main" val="1806006153"/>
                    </a:ext>
                  </a:extLst>
                </a:gridCol>
                <a:gridCol w="1756342">
                  <a:extLst>
                    <a:ext uri="{9D8B030D-6E8A-4147-A177-3AD203B41FA5}">
                      <a16:colId xmlns:a16="http://schemas.microsoft.com/office/drawing/2014/main" val="3267975309"/>
                    </a:ext>
                  </a:extLst>
                </a:gridCol>
                <a:gridCol w="1756342">
                  <a:extLst>
                    <a:ext uri="{9D8B030D-6E8A-4147-A177-3AD203B41FA5}">
                      <a16:colId xmlns:a16="http://schemas.microsoft.com/office/drawing/2014/main" val="62868545"/>
                    </a:ext>
                  </a:extLst>
                </a:gridCol>
                <a:gridCol w="1756342">
                  <a:extLst>
                    <a:ext uri="{9D8B030D-6E8A-4147-A177-3AD203B41FA5}">
                      <a16:colId xmlns:a16="http://schemas.microsoft.com/office/drawing/2014/main" val="1593177033"/>
                    </a:ext>
                  </a:extLst>
                </a:gridCol>
                <a:gridCol w="1756342">
                  <a:extLst>
                    <a:ext uri="{9D8B030D-6E8A-4147-A177-3AD203B41FA5}">
                      <a16:colId xmlns:a16="http://schemas.microsoft.com/office/drawing/2014/main" val="1840271531"/>
                    </a:ext>
                  </a:extLst>
                </a:gridCol>
              </a:tblGrid>
              <a:tr h="1527663">
                <a:tc>
                  <a:txBody>
                    <a:bodyPr/>
                    <a:lstStyle/>
                    <a:p>
                      <a:pPr>
                        <a:lnSpc>
                          <a:spcPct val="115000"/>
                        </a:lnSpc>
                        <a:spcAft>
                          <a:spcPts val="800"/>
                        </a:spcAft>
                        <a:buNone/>
                      </a:pPr>
                      <a:r>
                        <a:rPr lang="en-GB" sz="1100" b="1" kern="100" dirty="0">
                          <a:solidFill>
                            <a:srgbClr val="000000"/>
                          </a:solidFill>
                          <a:effectLst/>
                          <a:latin typeface="+mj-lt"/>
                          <a:ea typeface="Aptos" panose="020B0004020202020204" pitchFamily="34" charset="0"/>
                          <a:cs typeface="Times New Roman" panose="02020603050405020304" pitchFamily="18" charset="0"/>
                        </a:rPr>
                        <a:t>Reflection on course content</a:t>
                      </a:r>
                      <a:endParaRPr lang="en-GB" sz="1100" kern="100" dirty="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100" dirty="0">
                          <a:solidFill>
                            <a:srgbClr val="000000"/>
                          </a:solidFill>
                          <a:effectLst/>
                          <a:latin typeface="+mj-lt"/>
                          <a:ea typeface="Aptos" panose="020B0004020202020204" pitchFamily="34" charset="0"/>
                          <a:cs typeface="Times New Roman" panose="02020603050405020304" pitchFamily="18" charset="0"/>
                        </a:rPr>
                        <a:t>The assignment shows clear evidence of engagement with course material. Reference is made explicitly to course readings and there is a high level of analytic engagement between the essay question and the course material</a:t>
                      </a:r>
                      <a:endParaRPr lang="en-GB" sz="1100" kern="100" dirty="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100" dirty="0">
                          <a:solidFill>
                            <a:srgbClr val="000000"/>
                          </a:solidFill>
                          <a:effectLst/>
                          <a:latin typeface="+mj-lt"/>
                          <a:ea typeface="Aptos" panose="020B0004020202020204" pitchFamily="34" charset="0"/>
                          <a:cs typeface="Times New Roman" panose="02020603050405020304" pitchFamily="18" charset="0"/>
                        </a:rPr>
                        <a:t>The assignment shows clear evidence of engagement with course material. Reference is made explicitly to course readings and there is some level of engagement between the essay question and the course material</a:t>
                      </a:r>
                      <a:endParaRPr lang="en-GB" sz="1100" kern="100" dirty="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100" dirty="0">
                          <a:solidFill>
                            <a:srgbClr val="000000"/>
                          </a:solidFill>
                          <a:effectLst/>
                          <a:latin typeface="+mj-lt"/>
                          <a:ea typeface="Aptos" panose="020B0004020202020204" pitchFamily="34" charset="0"/>
                          <a:cs typeface="Times New Roman" panose="02020603050405020304" pitchFamily="18" charset="0"/>
                        </a:rPr>
                        <a:t>Evidence of engagement with course material is patchy or suggests that it has been an afterthought to the main essay</a:t>
                      </a:r>
                      <a:endParaRPr lang="en-GB" sz="1100" kern="100" dirty="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100" dirty="0">
                          <a:solidFill>
                            <a:srgbClr val="000000"/>
                          </a:solidFill>
                          <a:effectLst/>
                          <a:latin typeface="+mj-lt"/>
                          <a:ea typeface="Aptos" panose="020B0004020202020204" pitchFamily="34" charset="0"/>
                          <a:cs typeface="Times New Roman" panose="02020603050405020304" pitchFamily="18" charset="0"/>
                        </a:rPr>
                        <a:t>There may be some evidence of course material being used but it is inaccurate or not clearly addressed in the assignment</a:t>
                      </a:r>
                      <a:endParaRPr lang="en-GB" sz="1100" kern="100" dirty="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100" dirty="0">
                          <a:solidFill>
                            <a:srgbClr val="000000"/>
                          </a:solidFill>
                          <a:effectLst/>
                          <a:latin typeface="+mj-lt"/>
                          <a:ea typeface="Aptos" panose="020B0004020202020204" pitchFamily="34" charset="0"/>
                          <a:cs typeface="Times New Roman" panose="02020603050405020304" pitchFamily="18" charset="0"/>
                        </a:rPr>
                        <a:t>There is no evidence of the essay having engaged with course material</a:t>
                      </a:r>
                      <a:endParaRPr lang="en-GB" sz="1100" kern="100" dirty="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extLst>
                  <a:ext uri="{0D108BD9-81ED-4DB2-BD59-A6C34878D82A}">
                    <a16:rowId xmlns:a16="http://schemas.microsoft.com/office/drawing/2014/main" val="3871814004"/>
                  </a:ext>
                </a:extLst>
              </a:tr>
              <a:tr h="2284356">
                <a:tc>
                  <a:txBody>
                    <a:bodyPr/>
                    <a:lstStyle/>
                    <a:p>
                      <a:pPr>
                        <a:lnSpc>
                          <a:spcPct val="115000"/>
                        </a:lnSpc>
                        <a:spcAft>
                          <a:spcPts val="800"/>
                        </a:spcAft>
                        <a:buNone/>
                      </a:pPr>
                      <a:r>
                        <a:rPr lang="en-GB" sz="1100" b="1" kern="100" dirty="0">
                          <a:solidFill>
                            <a:srgbClr val="000000"/>
                          </a:solidFill>
                          <a:effectLst/>
                          <a:latin typeface="+mj-lt"/>
                          <a:ea typeface="Aptos" panose="020B0004020202020204" pitchFamily="34" charset="0"/>
                          <a:cs typeface="Times New Roman" panose="02020603050405020304" pitchFamily="18" charset="0"/>
                        </a:rPr>
                        <a:t>Writing</a:t>
                      </a:r>
                      <a:endParaRPr lang="en-GB" sz="1100" kern="100" dirty="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100">
                          <a:solidFill>
                            <a:srgbClr val="000000"/>
                          </a:solidFill>
                          <a:effectLst/>
                          <a:latin typeface="+mj-lt"/>
                          <a:ea typeface="Aptos" panose="020B0004020202020204" pitchFamily="34" charset="0"/>
                          <a:cs typeface="Times New Roman" panose="02020603050405020304" pitchFamily="18" charset="0"/>
                        </a:rPr>
                        <a:t>The writing is clear. The argument, evidence, and analysis are all relevant. Writing is focused, evidence-based, succinct and accessible. Full and accurate references are provided.</a:t>
                      </a:r>
                      <a:endParaRPr lang="en-GB" sz="1100" kern="100">
                        <a:effectLst/>
                        <a:latin typeface="+mj-lt"/>
                        <a:ea typeface="Aptos" panose="020B0004020202020204" pitchFamily="34" charset="0"/>
                        <a:cs typeface="Times New Roman" panose="02020603050405020304" pitchFamily="18" charset="0"/>
                      </a:endParaRPr>
                    </a:p>
                    <a:p>
                      <a:pPr>
                        <a:lnSpc>
                          <a:spcPct val="115000"/>
                        </a:lnSpc>
                        <a:spcAft>
                          <a:spcPts val="800"/>
                        </a:spcAft>
                        <a:buNone/>
                      </a:pPr>
                      <a:r>
                        <a:rPr lang="en-GB" sz="1100" kern="100">
                          <a:solidFill>
                            <a:srgbClr val="000000"/>
                          </a:solidFill>
                          <a:effectLst/>
                          <a:latin typeface="+mj-lt"/>
                          <a:ea typeface="Aptos" panose="020B0004020202020204" pitchFamily="34" charset="0"/>
                          <a:cs typeface="Times New Roman" panose="02020603050405020304" pitchFamily="18" charset="0"/>
                        </a:rPr>
                        <a:t> </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100">
                          <a:effectLst/>
                          <a:latin typeface="+mj-lt"/>
                          <a:ea typeface="Aptos" panose="020B0004020202020204" pitchFamily="34" charset="0"/>
                          <a:cs typeface="Times New Roman" panose="02020603050405020304" pitchFamily="18" charset="0"/>
                        </a:rPr>
                        <a:t> </a:t>
                      </a:r>
                    </a:p>
                    <a:p>
                      <a:pPr>
                        <a:lnSpc>
                          <a:spcPct val="115000"/>
                        </a:lnSpc>
                        <a:spcAft>
                          <a:spcPts val="800"/>
                        </a:spcAft>
                        <a:buNone/>
                      </a:pPr>
                      <a:r>
                        <a:rPr lang="en-GB" sz="1100" kern="100">
                          <a:solidFill>
                            <a:srgbClr val="000000"/>
                          </a:solidFill>
                          <a:effectLst/>
                          <a:latin typeface="+mj-lt"/>
                          <a:ea typeface="Aptos" panose="020B0004020202020204" pitchFamily="34" charset="0"/>
                          <a:cs typeface="Times New Roman" panose="02020603050405020304" pitchFamily="18" charset="0"/>
                        </a:rPr>
                        <a:t>The assignment is mostly clear and follows good academic writing style with a clear structure and connections between sections.  Referencing is mostly good and accurate although there may be some errors in style</a:t>
                      </a:r>
                      <a:endParaRPr lang="en-GB" sz="1100" kern="100">
                        <a:effectLst/>
                        <a:latin typeface="+mj-lt"/>
                        <a:ea typeface="Aptos" panose="020B0004020202020204" pitchFamily="34" charset="0"/>
                        <a:cs typeface="Times New Roman" panose="02020603050405020304" pitchFamily="18" charset="0"/>
                      </a:endParaRPr>
                    </a:p>
                    <a:p>
                      <a:pPr>
                        <a:lnSpc>
                          <a:spcPct val="115000"/>
                        </a:lnSpc>
                        <a:spcAft>
                          <a:spcPts val="800"/>
                        </a:spcAft>
                        <a:buNone/>
                      </a:pPr>
                      <a:r>
                        <a:rPr lang="en-GB" sz="1100" kern="100">
                          <a:solidFill>
                            <a:srgbClr val="000000"/>
                          </a:solidFill>
                          <a:effectLst/>
                          <a:latin typeface="+mj-lt"/>
                          <a:ea typeface="Aptos" panose="020B0004020202020204" pitchFamily="34" charset="0"/>
                          <a:cs typeface="Times New Roman" panose="02020603050405020304" pitchFamily="18" charset="0"/>
                        </a:rPr>
                        <a:t> </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100">
                          <a:solidFill>
                            <a:srgbClr val="000000"/>
                          </a:solidFill>
                          <a:effectLst/>
                          <a:latin typeface="+mj-lt"/>
                          <a:ea typeface="Aptos" panose="020B0004020202020204" pitchFamily="34" charset="0"/>
                          <a:cs typeface="Times New Roman" panose="02020603050405020304" pitchFamily="18" charset="0"/>
                        </a:rPr>
                        <a:t>The assignment is mostly clear but may have some areas of poor structure or less clear connections between sections.</a:t>
                      </a:r>
                      <a:endParaRPr lang="en-GB" sz="1100" kern="100">
                        <a:effectLst/>
                        <a:latin typeface="+mj-lt"/>
                        <a:ea typeface="Aptos" panose="020B0004020202020204" pitchFamily="34" charset="0"/>
                        <a:cs typeface="Times New Roman" panose="02020603050405020304" pitchFamily="18" charset="0"/>
                      </a:endParaRPr>
                    </a:p>
                    <a:p>
                      <a:pPr>
                        <a:lnSpc>
                          <a:spcPct val="115000"/>
                        </a:lnSpc>
                        <a:spcAft>
                          <a:spcPts val="800"/>
                        </a:spcAft>
                        <a:buNone/>
                      </a:pPr>
                      <a:r>
                        <a:rPr lang="en-GB" sz="1100" kern="100">
                          <a:solidFill>
                            <a:srgbClr val="000000"/>
                          </a:solidFill>
                          <a:effectLst/>
                          <a:latin typeface="+mj-lt"/>
                          <a:ea typeface="Aptos" panose="020B0004020202020204" pitchFamily="34" charset="0"/>
                          <a:cs typeface="Times New Roman" panose="02020603050405020304" pitchFamily="18" charset="0"/>
                        </a:rPr>
                        <a:t> </a:t>
                      </a:r>
                      <a:endParaRPr lang="en-GB" sz="1100" kern="100">
                        <a:effectLst/>
                        <a:latin typeface="+mj-lt"/>
                        <a:ea typeface="Aptos" panose="020B0004020202020204" pitchFamily="34" charset="0"/>
                        <a:cs typeface="Times New Roman" panose="02020603050405020304" pitchFamily="18" charset="0"/>
                      </a:endParaRPr>
                    </a:p>
                    <a:p>
                      <a:pPr>
                        <a:lnSpc>
                          <a:spcPct val="115000"/>
                        </a:lnSpc>
                        <a:spcAft>
                          <a:spcPts val="800"/>
                        </a:spcAft>
                        <a:buNone/>
                      </a:pPr>
                      <a:r>
                        <a:rPr lang="en-GB" sz="1100" kern="100">
                          <a:solidFill>
                            <a:srgbClr val="000000"/>
                          </a:solidFill>
                          <a:effectLst/>
                          <a:latin typeface="+mj-lt"/>
                          <a:ea typeface="Aptos" panose="020B0004020202020204" pitchFamily="34" charset="0"/>
                          <a:cs typeface="Times New Roman" panose="02020603050405020304" pitchFamily="18" charset="0"/>
                        </a:rPr>
                        <a:t>Referencing is generally good and accurate but may have some errors in style.</a:t>
                      </a:r>
                      <a:endParaRPr lang="en-GB" sz="1100" kern="100">
                        <a:effectLst/>
                        <a:latin typeface="+mj-lt"/>
                        <a:ea typeface="Aptos" panose="020B0004020202020204" pitchFamily="34" charset="0"/>
                        <a:cs typeface="Times New Roman" panose="02020603050405020304" pitchFamily="18" charset="0"/>
                      </a:endParaRPr>
                    </a:p>
                    <a:p>
                      <a:pPr>
                        <a:lnSpc>
                          <a:spcPct val="115000"/>
                        </a:lnSpc>
                        <a:spcAft>
                          <a:spcPts val="800"/>
                        </a:spcAft>
                        <a:buNone/>
                      </a:pPr>
                      <a:r>
                        <a:rPr lang="en-GB" sz="1100" kern="100">
                          <a:solidFill>
                            <a:srgbClr val="000000"/>
                          </a:solidFill>
                          <a:effectLst/>
                          <a:latin typeface="+mj-lt"/>
                          <a:ea typeface="Aptos" panose="020B0004020202020204" pitchFamily="34" charset="0"/>
                          <a:cs typeface="Times New Roman" panose="02020603050405020304" pitchFamily="18" charset="0"/>
                        </a:rPr>
                        <a:t> </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100">
                          <a:solidFill>
                            <a:srgbClr val="000000"/>
                          </a:solidFill>
                          <a:effectLst/>
                          <a:latin typeface="+mj-lt"/>
                          <a:ea typeface="Aptos" panose="020B0004020202020204" pitchFamily="34" charset="0"/>
                          <a:cs typeface="Times New Roman" panose="02020603050405020304" pitchFamily="18" charset="0"/>
                        </a:rPr>
                        <a:t> Poor organisation of the text, presentation of evidence, and style. Referencing may be poor</a:t>
                      </a:r>
                      <a:endParaRPr lang="en-GB" sz="1100" kern="10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tc>
                  <a:txBody>
                    <a:bodyPr/>
                    <a:lstStyle/>
                    <a:p>
                      <a:pPr>
                        <a:lnSpc>
                          <a:spcPct val="115000"/>
                        </a:lnSpc>
                        <a:spcAft>
                          <a:spcPts val="800"/>
                        </a:spcAft>
                        <a:buNone/>
                      </a:pPr>
                      <a:r>
                        <a:rPr lang="en-GB" sz="1100" kern="100" dirty="0">
                          <a:solidFill>
                            <a:srgbClr val="000000"/>
                          </a:solidFill>
                          <a:effectLst/>
                          <a:latin typeface="+mj-lt"/>
                          <a:ea typeface="Aptos" panose="020B0004020202020204" pitchFamily="34" charset="0"/>
                          <a:cs typeface="Times New Roman" panose="02020603050405020304" pitchFamily="18" charset="0"/>
                        </a:rPr>
                        <a:t>The assignment does not clearly address the question.</a:t>
                      </a:r>
                      <a:endParaRPr lang="en-GB" sz="1100" kern="100" dirty="0">
                        <a:effectLst/>
                        <a:latin typeface="+mj-lt"/>
                        <a:ea typeface="Aptos" panose="020B0004020202020204" pitchFamily="34" charset="0"/>
                        <a:cs typeface="Times New Roman" panose="02020603050405020304" pitchFamily="18" charset="0"/>
                      </a:endParaRPr>
                    </a:p>
                    <a:p>
                      <a:pPr>
                        <a:lnSpc>
                          <a:spcPct val="115000"/>
                        </a:lnSpc>
                        <a:spcAft>
                          <a:spcPts val="800"/>
                        </a:spcAft>
                        <a:buNone/>
                      </a:pPr>
                      <a:r>
                        <a:rPr lang="en-GB" sz="1100" kern="100" dirty="0">
                          <a:solidFill>
                            <a:srgbClr val="000000"/>
                          </a:solidFill>
                          <a:effectLst/>
                          <a:latin typeface="+mj-lt"/>
                          <a:ea typeface="Aptos" panose="020B0004020202020204" pitchFamily="34" charset="0"/>
                          <a:cs typeface="Times New Roman" panose="02020603050405020304" pitchFamily="18" charset="0"/>
                        </a:rPr>
                        <a:t>Structure may be confusing. Referencing may be inadequate.</a:t>
                      </a:r>
                      <a:endParaRPr lang="en-GB" sz="1100" kern="100" dirty="0">
                        <a:effectLst/>
                        <a:latin typeface="+mj-lt"/>
                        <a:ea typeface="Aptos" panose="020B0004020202020204" pitchFamily="34" charset="0"/>
                        <a:cs typeface="Times New Roman" panose="02020603050405020304" pitchFamily="18" charset="0"/>
                      </a:endParaRPr>
                    </a:p>
                    <a:p>
                      <a:pPr>
                        <a:lnSpc>
                          <a:spcPct val="115000"/>
                        </a:lnSpc>
                        <a:spcAft>
                          <a:spcPts val="800"/>
                        </a:spcAft>
                        <a:buNone/>
                      </a:pPr>
                      <a:r>
                        <a:rPr lang="en-GB" sz="1100" kern="100" dirty="0">
                          <a:solidFill>
                            <a:srgbClr val="000000"/>
                          </a:solidFill>
                          <a:effectLst/>
                          <a:latin typeface="+mj-lt"/>
                          <a:ea typeface="Aptos" panose="020B0004020202020204" pitchFamily="34" charset="0"/>
                          <a:cs typeface="Times New Roman" panose="02020603050405020304" pitchFamily="18" charset="0"/>
                        </a:rPr>
                        <a:t> </a:t>
                      </a:r>
                      <a:endParaRPr lang="en-GB" sz="1100" kern="100" dirty="0">
                        <a:effectLst/>
                        <a:latin typeface="+mj-lt"/>
                        <a:ea typeface="Aptos" panose="020B0004020202020204" pitchFamily="34" charset="0"/>
                        <a:cs typeface="Times New Roman" panose="02020603050405020304" pitchFamily="18" charset="0"/>
                      </a:endParaRPr>
                    </a:p>
                  </a:txBody>
                  <a:tcPr marL="3797" marR="3797" marT="3797" marB="3797" anchor="ctr">
                    <a:lnL w="12700" cap="flat" cmpd="sng" algn="ctr">
                      <a:solidFill>
                        <a:srgbClr val="CDCDCD"/>
                      </a:solidFill>
                      <a:prstDash val="solid"/>
                      <a:round/>
                      <a:headEnd type="none" w="med" len="med"/>
                      <a:tailEnd type="none" w="med" len="med"/>
                    </a:lnL>
                    <a:lnR w="12700" cap="flat" cmpd="sng" algn="ctr">
                      <a:solidFill>
                        <a:srgbClr val="CDCDCD"/>
                      </a:solidFill>
                      <a:prstDash val="solid"/>
                      <a:round/>
                      <a:headEnd type="none" w="med" len="med"/>
                      <a:tailEnd type="none" w="med" len="med"/>
                    </a:lnR>
                    <a:lnT w="12700" cap="flat" cmpd="sng" algn="ctr">
                      <a:solidFill>
                        <a:srgbClr val="CDCDCD"/>
                      </a:solidFill>
                      <a:prstDash val="solid"/>
                      <a:round/>
                      <a:headEnd type="none" w="med" len="med"/>
                      <a:tailEnd type="none" w="med" len="med"/>
                    </a:lnT>
                    <a:lnB w="12700" cap="flat" cmpd="sng" algn="ctr">
                      <a:solidFill>
                        <a:srgbClr val="CDCDCD"/>
                      </a:solidFill>
                      <a:prstDash val="solid"/>
                      <a:round/>
                      <a:headEnd type="none" w="med" len="med"/>
                      <a:tailEnd type="none" w="med" len="med"/>
                    </a:lnB>
                    <a:solidFill>
                      <a:srgbClr val="FFFFFF"/>
                    </a:solidFill>
                  </a:tcPr>
                </a:tc>
                <a:extLst>
                  <a:ext uri="{0D108BD9-81ED-4DB2-BD59-A6C34878D82A}">
                    <a16:rowId xmlns:a16="http://schemas.microsoft.com/office/drawing/2014/main" val="2297712104"/>
                  </a:ext>
                </a:extLst>
              </a:tr>
            </a:tbl>
          </a:graphicData>
        </a:graphic>
      </p:graphicFrame>
    </p:spTree>
    <p:extLst>
      <p:ext uri="{BB962C8B-B14F-4D97-AF65-F5344CB8AC3E}">
        <p14:creationId xmlns:p14="http://schemas.microsoft.com/office/powerpoint/2010/main" val="248126813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defRPr/>
            </a:pPr>
            <a:r>
              <a:rPr lang="en-GB" sz="3200" dirty="0"/>
              <a:t>Follow the rules on essay formatting and submission</a:t>
            </a:r>
          </a:p>
        </p:txBody>
      </p:sp>
      <p:sp>
        <p:nvSpPr>
          <p:cNvPr id="3" name="Content Placeholder 2"/>
          <p:cNvSpPr>
            <a:spLocks noGrp="1"/>
          </p:cNvSpPr>
          <p:nvPr>
            <p:ph idx="1"/>
          </p:nvPr>
        </p:nvSpPr>
        <p:spPr>
          <a:xfrm>
            <a:off x="1850028" y="1926580"/>
            <a:ext cx="9427572" cy="4169352"/>
          </a:xfrm>
        </p:spPr>
        <p:txBody>
          <a:bodyPr>
            <a:normAutofit fontScale="92500" lnSpcReduction="20000"/>
          </a:bodyPr>
          <a:lstStyle/>
          <a:p>
            <a:pPr marL="0" indent="0">
              <a:buNone/>
            </a:pPr>
            <a:r>
              <a:rPr lang="en-GB" altLang="en-US" sz="2177" b="1" dirty="0"/>
              <a:t>Details on Learn- under ‘Assessment Structure, deadlines and guidance’</a:t>
            </a:r>
          </a:p>
          <a:p>
            <a:endParaRPr lang="en-GB" altLang="en-US" sz="2177" dirty="0"/>
          </a:p>
          <a:p>
            <a:r>
              <a:rPr lang="en-GB" altLang="en-US" sz="2177" dirty="0"/>
              <a:t>Check word limit – The word limit is 1000 words, including the 200 word reflective piece.  The word limit does not include the reference list</a:t>
            </a:r>
          </a:p>
          <a:p>
            <a:r>
              <a:rPr lang="en-GB" altLang="en-US" sz="2177" dirty="0"/>
              <a:t>penalties for overlength – stay within the word limit</a:t>
            </a:r>
          </a:p>
          <a:p>
            <a:r>
              <a:rPr lang="en-GB" altLang="en-US" sz="2177" dirty="0"/>
              <a:t>Deadlines – penalties for late submission</a:t>
            </a:r>
          </a:p>
          <a:p>
            <a:r>
              <a:rPr lang="en-GB" altLang="en-US" sz="2177" dirty="0"/>
              <a:t>Academic misconduct – see School policies on this</a:t>
            </a:r>
          </a:p>
          <a:p>
            <a:r>
              <a:rPr lang="en-GB" altLang="en-US" sz="2177" dirty="0"/>
              <a:t>Using AI – see Learn site for University policy on this</a:t>
            </a:r>
          </a:p>
          <a:p>
            <a:r>
              <a:rPr lang="en-GB" altLang="en-US" sz="2177" dirty="0"/>
              <a:t>Extensions – If you need an extension or have exceptional circumstances, there is further information on University website – link here </a:t>
            </a:r>
            <a:r>
              <a:rPr lang="en-GB" sz="1452" dirty="0">
                <a:hlinkClick r:id="rId3"/>
              </a:rPr>
              <a:t>Exceptional Circumstances Service | Student Administration</a:t>
            </a:r>
            <a:endParaRPr lang="en-GB" altLang="en-US" sz="2540" dirty="0"/>
          </a:p>
          <a:p>
            <a:pPr marL="0" indent="0">
              <a:buNone/>
            </a:pPr>
            <a:endParaRPr lang="en-GB" altLang="en-US" dirty="0"/>
          </a:p>
          <a:p>
            <a:endParaRPr lang="en-GB" altLang="en-US" dirty="0"/>
          </a:p>
        </p:txBody>
      </p:sp>
    </p:spTree>
    <p:extLst>
      <p:ext uri="{BB962C8B-B14F-4D97-AF65-F5344CB8AC3E}">
        <p14:creationId xmlns:p14="http://schemas.microsoft.com/office/powerpoint/2010/main" val="253965231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8BACF4-24D6-17B2-0142-EB610EC71A24}"/>
              </a:ext>
            </a:extLst>
          </p:cNvPr>
          <p:cNvSpPr>
            <a:spLocks noGrp="1"/>
          </p:cNvSpPr>
          <p:nvPr>
            <p:ph type="title"/>
          </p:nvPr>
        </p:nvSpPr>
        <p:spPr>
          <a:xfrm>
            <a:off x="914401" y="660787"/>
            <a:ext cx="10363199" cy="1142970"/>
          </a:xfrm>
        </p:spPr>
        <p:txBody>
          <a:bodyPr/>
          <a:lstStyle/>
          <a:p>
            <a:r>
              <a:rPr lang="en-GB" dirty="0"/>
              <a:t>Referencing</a:t>
            </a:r>
          </a:p>
        </p:txBody>
      </p:sp>
      <p:sp>
        <p:nvSpPr>
          <p:cNvPr id="3" name="Content Placeholder 2">
            <a:extLst>
              <a:ext uri="{FF2B5EF4-FFF2-40B4-BE49-F238E27FC236}">
                <a16:creationId xmlns:a16="http://schemas.microsoft.com/office/drawing/2014/main" id="{0DF102C9-3BD6-D21E-72F8-F34E2CC44F40}"/>
              </a:ext>
            </a:extLst>
          </p:cNvPr>
          <p:cNvSpPr>
            <a:spLocks noGrp="1"/>
          </p:cNvSpPr>
          <p:nvPr>
            <p:ph idx="1"/>
          </p:nvPr>
        </p:nvSpPr>
        <p:spPr>
          <a:xfrm>
            <a:off x="2176642" y="1371654"/>
            <a:ext cx="9671969" cy="4114692"/>
          </a:xfrm>
        </p:spPr>
        <p:txBody>
          <a:bodyPr/>
          <a:lstStyle/>
          <a:p>
            <a:pPr marL="0" indent="0">
              <a:buNone/>
            </a:pPr>
            <a:r>
              <a:rPr lang="en-GB" b="1" dirty="0"/>
              <a:t>Why Reference?</a:t>
            </a:r>
          </a:p>
          <a:p>
            <a:endParaRPr lang="en-GB" dirty="0"/>
          </a:p>
          <a:p>
            <a:r>
              <a:rPr lang="en-GB" dirty="0"/>
              <a:t>To show where you have got your information from</a:t>
            </a:r>
          </a:p>
          <a:p>
            <a:r>
              <a:rPr lang="en-GB" dirty="0"/>
              <a:t>To recognise the work that others have done</a:t>
            </a:r>
          </a:p>
          <a:p>
            <a:r>
              <a:rPr lang="en-GB" dirty="0"/>
              <a:t>To enable the reader to judge the authority,  relevance or date of the source</a:t>
            </a:r>
          </a:p>
          <a:p>
            <a:r>
              <a:rPr lang="en-GB" dirty="0"/>
              <a:t>To enable the reader to find out more about the subject</a:t>
            </a:r>
          </a:p>
          <a:p>
            <a:endParaRPr lang="en-GB" dirty="0"/>
          </a:p>
          <a:p>
            <a:pPr marL="0" indent="0">
              <a:buNone/>
            </a:pPr>
            <a:endParaRPr lang="en-GB" dirty="0"/>
          </a:p>
        </p:txBody>
      </p:sp>
    </p:spTree>
    <p:extLst>
      <p:ext uri="{BB962C8B-B14F-4D97-AF65-F5344CB8AC3E}">
        <p14:creationId xmlns:p14="http://schemas.microsoft.com/office/powerpoint/2010/main" val="1531489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877821-A86A-F95D-AD6D-30569DDDC7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E27920-10B9-94E3-0BF1-3D3740C44EA0}"/>
              </a:ext>
            </a:extLst>
          </p:cNvPr>
          <p:cNvSpPr>
            <a:spLocks noGrp="1"/>
          </p:cNvSpPr>
          <p:nvPr>
            <p:ph type="title"/>
          </p:nvPr>
        </p:nvSpPr>
        <p:spPr>
          <a:xfrm>
            <a:off x="914401" y="563251"/>
            <a:ext cx="10363199" cy="1142970"/>
          </a:xfrm>
        </p:spPr>
        <p:txBody>
          <a:bodyPr/>
          <a:lstStyle/>
          <a:p>
            <a:r>
              <a:rPr lang="en-GB" dirty="0"/>
              <a:t>Referencing</a:t>
            </a:r>
          </a:p>
        </p:txBody>
      </p:sp>
      <p:sp>
        <p:nvSpPr>
          <p:cNvPr id="3" name="Content Placeholder 2">
            <a:extLst>
              <a:ext uri="{FF2B5EF4-FFF2-40B4-BE49-F238E27FC236}">
                <a16:creationId xmlns:a16="http://schemas.microsoft.com/office/drawing/2014/main" id="{8FF8E5DC-9F67-9ADB-FD5B-4009BAB7C991}"/>
              </a:ext>
            </a:extLst>
          </p:cNvPr>
          <p:cNvSpPr>
            <a:spLocks noGrp="1"/>
          </p:cNvSpPr>
          <p:nvPr>
            <p:ph idx="1"/>
          </p:nvPr>
        </p:nvSpPr>
        <p:spPr>
          <a:xfrm>
            <a:off x="1915352" y="1208031"/>
            <a:ext cx="9671969" cy="4114692"/>
          </a:xfrm>
        </p:spPr>
        <p:txBody>
          <a:bodyPr>
            <a:normAutofit fontScale="77500" lnSpcReduction="20000"/>
          </a:bodyPr>
          <a:lstStyle/>
          <a:p>
            <a:pPr marL="0" indent="0">
              <a:buNone/>
            </a:pPr>
            <a:r>
              <a:rPr lang="en-GB" sz="2177" dirty="0"/>
              <a:t>So References should be </a:t>
            </a:r>
          </a:p>
          <a:p>
            <a:r>
              <a:rPr lang="en-GB" sz="2177" b="1" dirty="0"/>
              <a:t>Accurate</a:t>
            </a:r>
            <a:r>
              <a:rPr lang="en-GB" sz="2177" dirty="0"/>
              <a:t> – following an established referencing system. On this course we recommend Harvard, sometimes known as ‘Author(Date)’</a:t>
            </a:r>
          </a:p>
          <a:p>
            <a:r>
              <a:rPr lang="en-GB" sz="2177" b="1" dirty="0"/>
              <a:t>Real</a:t>
            </a:r>
            <a:r>
              <a:rPr lang="en-GB" sz="2177" dirty="0"/>
              <a:t> – not invented by AI</a:t>
            </a:r>
          </a:p>
          <a:p>
            <a:r>
              <a:rPr lang="en-GB" sz="2177" b="1" dirty="0"/>
              <a:t>Findable</a:t>
            </a:r>
            <a:r>
              <a:rPr lang="en-GB" sz="2177" dirty="0"/>
              <a:t> – if a website, provide a </a:t>
            </a:r>
            <a:r>
              <a:rPr lang="en-GB" sz="2177" dirty="0" err="1"/>
              <a:t>url</a:t>
            </a:r>
            <a:r>
              <a:rPr lang="en-GB" sz="2177" dirty="0"/>
              <a:t> and provide a title that makes it clear what it is</a:t>
            </a:r>
          </a:p>
          <a:p>
            <a:r>
              <a:rPr lang="en-GB" sz="2177" b="1" dirty="0"/>
              <a:t>Sensible</a:t>
            </a:r>
            <a:r>
              <a:rPr lang="en-GB" sz="2177" dirty="0"/>
              <a:t> – some referencing systems produce gobbledygook so please check them and fix any obvious errors:</a:t>
            </a:r>
          </a:p>
          <a:p>
            <a:pPr marL="0" indent="0">
              <a:buNone/>
            </a:pPr>
            <a:r>
              <a:rPr lang="en-US" sz="2177" dirty="0"/>
              <a:t>Eg - Government, S., (2014). Statutory Guidance to accompany the Social Care (Self-directed support) Scotland Act 2013  (updated 2022).</a:t>
            </a:r>
          </a:p>
          <a:p>
            <a:pPr marL="0" indent="0">
              <a:buNone/>
            </a:pPr>
            <a:r>
              <a:rPr lang="en-US" sz="2177" dirty="0"/>
              <a:t>Should be</a:t>
            </a:r>
          </a:p>
          <a:p>
            <a:pPr marL="0" indent="0">
              <a:buNone/>
            </a:pPr>
            <a:r>
              <a:rPr lang="en-US" sz="2177" dirty="0"/>
              <a:t>Scottish Government (2014). Statutory Guidance to accompany the Social Care (Self-directed support) Scotland Act 2013  (updated 2022).</a:t>
            </a:r>
            <a:r>
              <a:rPr lang="en-GB" sz="2177" dirty="0"/>
              <a:t> </a:t>
            </a:r>
            <a:r>
              <a:rPr lang="en-GB" sz="2177" dirty="0">
                <a:hlinkClick r:id="rId3"/>
              </a:rPr>
              <a:t>https://www.gov.scot/publications/statutory-guidance-accompany-social-care-self-directed-support-scotland-act-2013-2</a:t>
            </a:r>
            <a:endParaRPr lang="en-GB" sz="2177" dirty="0"/>
          </a:p>
          <a:p>
            <a:pPr marL="0" indent="0">
              <a:buNone/>
            </a:pPr>
            <a:endParaRPr lang="en-US" dirty="0"/>
          </a:p>
          <a:p>
            <a:pPr marL="0" indent="0">
              <a:buNone/>
            </a:pPr>
            <a:endParaRPr lang="en-US" dirty="0"/>
          </a:p>
          <a:p>
            <a:endParaRPr lang="en-US" dirty="0"/>
          </a:p>
          <a:p>
            <a:endParaRPr lang="en-GB" dirty="0"/>
          </a:p>
          <a:p>
            <a:endParaRPr lang="en-GB" dirty="0"/>
          </a:p>
        </p:txBody>
      </p:sp>
    </p:spTree>
    <p:extLst>
      <p:ext uri="{BB962C8B-B14F-4D97-AF65-F5344CB8AC3E}">
        <p14:creationId xmlns:p14="http://schemas.microsoft.com/office/powerpoint/2010/main" val="4782809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grpId="0" nodeType="click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2E7DF3-5C73-2657-38B1-8C75FA715A3D}"/>
              </a:ext>
            </a:extLst>
          </p:cNvPr>
          <p:cNvSpPr>
            <a:spLocks noGrp="1"/>
          </p:cNvSpPr>
          <p:nvPr>
            <p:ph type="title"/>
          </p:nvPr>
        </p:nvSpPr>
        <p:spPr/>
        <p:txBody>
          <a:bodyPr/>
          <a:lstStyle/>
          <a:p>
            <a:pPr>
              <a:defRPr/>
            </a:pPr>
            <a:r>
              <a:rPr lang="en-GB" sz="3629" dirty="0"/>
              <a:t>Citing websites and internet sources</a:t>
            </a:r>
          </a:p>
        </p:txBody>
      </p:sp>
      <p:sp>
        <p:nvSpPr>
          <p:cNvPr id="3" name="Content Placeholder 2">
            <a:extLst>
              <a:ext uri="{FF2B5EF4-FFF2-40B4-BE49-F238E27FC236}">
                <a16:creationId xmlns:a16="http://schemas.microsoft.com/office/drawing/2014/main" id="{A9067B82-D9BB-B61A-258E-60E23B14FE9B}"/>
              </a:ext>
            </a:extLst>
          </p:cNvPr>
          <p:cNvSpPr>
            <a:spLocks noGrp="1"/>
          </p:cNvSpPr>
          <p:nvPr>
            <p:ph idx="1"/>
          </p:nvPr>
        </p:nvSpPr>
        <p:spPr>
          <a:xfrm>
            <a:off x="1741098" y="1499250"/>
            <a:ext cx="9536431" cy="5485391"/>
          </a:xfrm>
        </p:spPr>
        <p:txBody>
          <a:bodyPr>
            <a:normAutofit fontScale="92500" lnSpcReduction="10000"/>
          </a:bodyPr>
          <a:lstStyle/>
          <a:p>
            <a:pPr marL="456971" indent="-456971">
              <a:defRPr/>
            </a:pPr>
            <a:r>
              <a:rPr lang="en-GB" sz="3387" dirty="0"/>
              <a:t>Be clear who the </a:t>
            </a:r>
            <a:r>
              <a:rPr lang="en-GB" sz="3387" b="1" dirty="0"/>
              <a:t>author</a:t>
            </a:r>
            <a:r>
              <a:rPr lang="en-GB" sz="3387" dirty="0"/>
              <a:t> is (organisation or individual)</a:t>
            </a:r>
          </a:p>
          <a:p>
            <a:pPr marL="456971" indent="-456971">
              <a:defRPr/>
            </a:pPr>
            <a:r>
              <a:rPr lang="en-GB" sz="3387" dirty="0"/>
              <a:t>Be clear what the </a:t>
            </a:r>
            <a:r>
              <a:rPr lang="en-GB" sz="3387" b="1" dirty="0"/>
              <a:t>date</a:t>
            </a:r>
            <a:r>
              <a:rPr lang="en-GB" sz="3387" dirty="0"/>
              <a:t> is</a:t>
            </a:r>
          </a:p>
          <a:p>
            <a:pPr marL="456971" indent="-456971">
              <a:defRPr/>
            </a:pPr>
            <a:r>
              <a:rPr lang="en-GB" sz="3387" dirty="0"/>
              <a:t>Give the source a sensible </a:t>
            </a:r>
            <a:r>
              <a:rPr lang="en-GB" sz="3387" b="1" dirty="0"/>
              <a:t>title</a:t>
            </a:r>
          </a:p>
          <a:p>
            <a:pPr marL="456971" indent="-456971">
              <a:defRPr/>
            </a:pPr>
            <a:r>
              <a:rPr lang="en-GB" sz="3387" dirty="0"/>
              <a:t>Show when you accessed it</a:t>
            </a:r>
          </a:p>
          <a:p>
            <a:pPr marL="456971" indent="-456971">
              <a:defRPr/>
            </a:pPr>
            <a:r>
              <a:rPr lang="en-GB" sz="3387" dirty="0"/>
              <a:t>Edit citations produced by bibliographic software so that they don’t produce gobbledygook</a:t>
            </a:r>
          </a:p>
          <a:p>
            <a:pPr marL="0" indent="0">
              <a:buNone/>
              <a:defRPr/>
            </a:pPr>
            <a:r>
              <a:rPr lang="en-GB" sz="4233" dirty="0">
                <a:hlinkClick r:id="rId3"/>
              </a:rPr>
              <a:t>https://www-citethemrightonline-com.ezproxy.is.ed.ac.uk/</a:t>
            </a:r>
            <a:endParaRPr lang="en-GB" sz="4233" dirty="0"/>
          </a:p>
          <a:p>
            <a:pPr marL="0" indent="0">
              <a:buNone/>
              <a:defRPr/>
            </a:pPr>
            <a:endParaRPr lang="en-GB" sz="4233" dirty="0"/>
          </a:p>
          <a:p>
            <a:pPr marL="456971" indent="-456971">
              <a:defRPr/>
            </a:pPr>
            <a:endParaRPr lang="en-GB" sz="4233"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492B82-E0B4-40B9-8363-A5B51D826BC7}"/>
              </a:ext>
            </a:extLst>
          </p:cNvPr>
          <p:cNvSpPr>
            <a:spLocks noGrp="1"/>
          </p:cNvSpPr>
          <p:nvPr>
            <p:ph type="title"/>
          </p:nvPr>
        </p:nvSpPr>
        <p:spPr>
          <a:xfrm>
            <a:off x="2568579" y="1093138"/>
            <a:ext cx="7887501" cy="642291"/>
          </a:xfrm>
        </p:spPr>
        <p:txBody>
          <a:bodyPr rtlCol="0">
            <a:normAutofit/>
          </a:bodyPr>
          <a:lstStyle/>
          <a:p>
            <a:pPr defTabSz="685867">
              <a:defRPr/>
            </a:pPr>
            <a:r>
              <a:rPr lang="en-GB" sz="2700" dirty="0">
                <a:latin typeface="Bookman Old Style" panose="02050604050505020204" pitchFamily="18" charset="0"/>
              </a:rPr>
              <a:t>For more information on writing skills:</a:t>
            </a:r>
          </a:p>
        </p:txBody>
      </p:sp>
      <p:pic>
        <p:nvPicPr>
          <p:cNvPr id="39939" name="Content Placeholder 4"/>
          <p:cNvPicPr>
            <a:picLocks noGrp="1" noChangeAspect="1"/>
          </p:cNvPicPr>
          <p:nvPr>
            <p:ph idx="1"/>
          </p:nvPr>
        </p:nvPicPr>
        <p:blipFill>
          <a:blip r:embed="rId3">
            <a:extLst>
              <a:ext uri="{28A0092B-C50C-407E-A947-70E740481C1C}">
                <a14:useLocalDpi xmlns:a14="http://schemas.microsoft.com/office/drawing/2010/main" val="0"/>
              </a:ext>
            </a:extLst>
          </a:blip>
          <a:srcRect/>
          <a:stretch>
            <a:fillRect/>
          </a:stretch>
        </p:blipFill>
        <p:spPr>
          <a:xfrm>
            <a:off x="4664528" y="1735428"/>
            <a:ext cx="2907588" cy="1352266"/>
          </a:xfrm>
        </p:spPr>
      </p:pic>
      <p:sp>
        <p:nvSpPr>
          <p:cNvPr id="6" name="Rectangle 5">
            <a:extLst>
              <a:ext uri="{FF2B5EF4-FFF2-40B4-BE49-F238E27FC236}">
                <a16:creationId xmlns:a16="http://schemas.microsoft.com/office/drawing/2014/main" id="{E5963800-5DDF-46A8-BF67-E5BBA8755B4C}"/>
              </a:ext>
            </a:extLst>
          </p:cNvPr>
          <p:cNvSpPr/>
          <p:nvPr/>
        </p:nvSpPr>
        <p:spPr>
          <a:xfrm>
            <a:off x="2960874" y="3129458"/>
            <a:ext cx="7366180" cy="554254"/>
          </a:xfrm>
          <a:prstGeom prst="rect">
            <a:avLst/>
          </a:prstGeom>
        </p:spPr>
        <p:txBody>
          <a:bodyPr wrap="square">
            <a:spAutoFit/>
          </a:bodyPr>
          <a:lstStyle/>
          <a:p>
            <a:pPr algn="ctr" defTabSz="685867">
              <a:defRPr/>
            </a:pPr>
            <a:r>
              <a:rPr lang="en-GB" sz="1501" dirty="0">
                <a:solidFill>
                  <a:prstClr val="black"/>
                </a:solidFill>
                <a:latin typeface="Bookman Old Style" panose="02050604050505020204" pitchFamily="18" charset="0"/>
                <a:hlinkClick r:id="rId4"/>
              </a:rPr>
              <a:t>http://www.ed.ac.uk/institute-academic-development/undergraduate/good-practice</a:t>
            </a:r>
            <a:r>
              <a:rPr lang="en-GB" sz="1501" dirty="0">
                <a:solidFill>
                  <a:prstClr val="black"/>
                </a:solidFill>
                <a:latin typeface="Bookman Old Style" panose="02050604050505020204" pitchFamily="18" charset="0"/>
              </a:rPr>
              <a:t> </a:t>
            </a:r>
          </a:p>
        </p:txBody>
      </p:sp>
    </p:spTree>
    <p:extLst>
      <p:ext uri="{BB962C8B-B14F-4D97-AF65-F5344CB8AC3E}">
        <p14:creationId xmlns:p14="http://schemas.microsoft.com/office/powerpoint/2010/main" val="258212488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F6A470-1FCA-404B-59AB-CE5F2F9638C1}"/>
            </a:ext>
          </a:extLst>
        </p:cNvPr>
        <p:cNvGrpSpPr/>
        <p:nvPr/>
      </p:nvGrpSpPr>
      <p:grpSpPr>
        <a:xfrm>
          <a:off x="0" y="0"/>
          <a:ext cx="0" cy="0"/>
          <a:chOff x="0" y="0"/>
          <a:chExt cx="0" cy="0"/>
        </a:xfrm>
      </p:grpSpPr>
      <p:pic>
        <p:nvPicPr>
          <p:cNvPr id="4" name="Picture 3" descr="Top view of a background splashed with colors">
            <a:extLst>
              <a:ext uri="{FF2B5EF4-FFF2-40B4-BE49-F238E27FC236}">
                <a16:creationId xmlns:a16="http://schemas.microsoft.com/office/drawing/2014/main" id="{A1B94287-D8AB-84A8-DDE6-16D128AED52C}"/>
              </a:ext>
            </a:extLst>
          </p:cNvPr>
          <p:cNvPicPr>
            <a:picLocks noChangeAspect="1"/>
          </p:cNvPicPr>
          <p:nvPr/>
        </p:nvPicPr>
        <p:blipFill>
          <a:blip r:embed="rId2"/>
          <a:srcRect t="1747"/>
          <a:stretch>
            <a:fillRect/>
          </a:stretch>
        </p:blipFill>
        <p:spPr>
          <a:xfrm>
            <a:off x="20" y="10"/>
            <a:ext cx="12191980" cy="6857990"/>
          </a:xfrm>
          <a:prstGeom prst="rect">
            <a:avLst/>
          </a:prstGeom>
        </p:spPr>
      </p:pic>
      <p:sp>
        <p:nvSpPr>
          <p:cNvPr id="3" name="Subtitle 2">
            <a:extLst>
              <a:ext uri="{FF2B5EF4-FFF2-40B4-BE49-F238E27FC236}">
                <a16:creationId xmlns:a16="http://schemas.microsoft.com/office/drawing/2014/main" id="{4E4E47C1-55B5-789F-24AF-AC1212383C16}"/>
              </a:ext>
            </a:extLst>
          </p:cNvPr>
          <p:cNvSpPr>
            <a:spLocks noGrp="1"/>
          </p:cNvSpPr>
          <p:nvPr>
            <p:ph type="subTitle" idx="1"/>
          </p:nvPr>
        </p:nvSpPr>
        <p:spPr>
          <a:xfrm>
            <a:off x="4068978" y="6025357"/>
            <a:ext cx="3392781" cy="960120"/>
          </a:xfrm>
        </p:spPr>
        <p:txBody>
          <a:bodyPr anchor="ctr">
            <a:normAutofit/>
          </a:bodyPr>
          <a:lstStyle/>
          <a:p>
            <a:pPr algn="ctr"/>
            <a:r>
              <a:rPr lang="en-US" sz="2000" i="0" dirty="0">
                <a:hlinkClick r:id="rId3">
                  <a:extLst>
                    <a:ext uri="{A12FA001-AC4F-418D-AE19-62706E023703}">
                      <ahyp:hlinkClr xmlns:ahyp="http://schemas.microsoft.com/office/drawing/2018/hyperlinkcolor" val="tx"/>
                    </a:ext>
                  </a:extLst>
                </a:hlinkClick>
              </a:rPr>
              <a:t>✉️</a:t>
            </a:r>
            <a:r>
              <a:rPr lang="zh-CN" altLang="en-US" sz="2000" i="0" dirty="0">
                <a:hlinkClick r:id="rId3">
                  <a:extLst>
                    <a:ext uri="{A12FA001-AC4F-418D-AE19-62706E023703}">
                      <ahyp:hlinkClr xmlns:ahyp="http://schemas.microsoft.com/office/drawing/2018/hyperlinkcolor" val="tx"/>
                    </a:ext>
                  </a:extLst>
                </a:hlinkClick>
              </a:rPr>
              <a:t> </a:t>
            </a:r>
            <a:r>
              <a:rPr lang="en-US" sz="2000" i="0" dirty="0">
                <a:hlinkClick r:id="rId3">
                  <a:extLst>
                    <a:ext uri="{A12FA001-AC4F-418D-AE19-62706E023703}">
                      <ahyp:hlinkClr xmlns:ahyp="http://schemas.microsoft.com/office/drawing/2018/hyperlinkcolor" val="tx"/>
                    </a:ext>
                  </a:extLst>
                </a:hlinkClick>
              </a:rPr>
              <a:t>ljiang3@ed.ac.uk</a:t>
            </a:r>
            <a:endParaRPr lang="en-US" sz="2000" i="0" dirty="0"/>
          </a:p>
        </p:txBody>
      </p:sp>
      <p:sp>
        <p:nvSpPr>
          <p:cNvPr id="5" name="TextBox 4">
            <a:extLst>
              <a:ext uri="{FF2B5EF4-FFF2-40B4-BE49-F238E27FC236}">
                <a16:creationId xmlns:a16="http://schemas.microsoft.com/office/drawing/2014/main" id="{FD62E3CD-032F-D78E-0ADF-F41F761A9BCF}"/>
              </a:ext>
            </a:extLst>
          </p:cNvPr>
          <p:cNvSpPr txBox="1"/>
          <p:nvPr/>
        </p:nvSpPr>
        <p:spPr>
          <a:xfrm>
            <a:off x="980008" y="1860174"/>
            <a:ext cx="9570719" cy="3139321"/>
          </a:xfrm>
          <a:prstGeom prst="rect">
            <a:avLst/>
          </a:prstGeom>
          <a:noFill/>
          <a:ln>
            <a:noFill/>
          </a:ln>
        </p:spPr>
        <p:txBody>
          <a:bodyPr wrap="square" rtlCol="0">
            <a:spAutoFit/>
          </a:bodyPr>
          <a:lstStyle/>
          <a:p>
            <a:pPr algn="ctr"/>
            <a:r>
              <a:rPr lang="en-US" sz="6600" b="1" dirty="0">
                <a:latin typeface="Bradley Hand" pitchFamily="2" charset="77"/>
                <a:cs typeface="Algerian" panose="020F0502020204030204" pitchFamily="34" charset="0"/>
              </a:rPr>
              <a:t>Human Rights and Social Justice: </a:t>
            </a:r>
          </a:p>
          <a:p>
            <a:pPr algn="ctr"/>
            <a:r>
              <a:rPr lang="en-US" sz="6600" b="1" dirty="0">
                <a:latin typeface="Bradley Hand" pitchFamily="2" charset="77"/>
                <a:cs typeface="Algerian" panose="020F0502020204030204" pitchFamily="34" charset="0"/>
              </a:rPr>
              <a:t>social work and the law</a:t>
            </a:r>
          </a:p>
        </p:txBody>
      </p:sp>
      <p:sp>
        <p:nvSpPr>
          <p:cNvPr id="6" name="Title 1">
            <a:extLst>
              <a:ext uri="{FF2B5EF4-FFF2-40B4-BE49-F238E27FC236}">
                <a16:creationId xmlns:a16="http://schemas.microsoft.com/office/drawing/2014/main" id="{611F3D95-1D59-2B3E-FC80-8DEC210D1C52}"/>
              </a:ext>
            </a:extLst>
          </p:cNvPr>
          <p:cNvSpPr txBox="1">
            <a:spLocks/>
          </p:cNvSpPr>
          <p:nvPr/>
        </p:nvSpPr>
        <p:spPr>
          <a:xfrm>
            <a:off x="320038" y="545156"/>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solidFill>
                  <a:schemeClr val="bg1"/>
                </a:solidFill>
              </a:rPr>
              <a:t>W2 Tutorial</a:t>
            </a:r>
          </a:p>
        </p:txBody>
      </p:sp>
      <p:sp>
        <p:nvSpPr>
          <p:cNvPr id="10" name="TextBox 9">
            <a:extLst>
              <a:ext uri="{FF2B5EF4-FFF2-40B4-BE49-F238E27FC236}">
                <a16:creationId xmlns:a16="http://schemas.microsoft.com/office/drawing/2014/main" id="{EF2F9A92-766A-F74C-E7FA-592A81B43626}"/>
              </a:ext>
            </a:extLst>
          </p:cNvPr>
          <p:cNvSpPr txBox="1"/>
          <p:nvPr/>
        </p:nvSpPr>
        <p:spPr>
          <a:xfrm>
            <a:off x="-3450336" y="-1706880"/>
            <a:ext cx="184731" cy="369332"/>
          </a:xfrm>
          <a:prstGeom prst="rect">
            <a:avLst/>
          </a:prstGeom>
          <a:noFill/>
        </p:spPr>
        <p:txBody>
          <a:bodyPr wrap="none" rtlCol="0">
            <a:spAutoFit/>
          </a:bodyPr>
          <a:lstStyle/>
          <a:p>
            <a:endParaRPr lang="en-US"/>
          </a:p>
        </p:txBody>
      </p:sp>
      <p:sp>
        <p:nvSpPr>
          <p:cNvPr id="2" name="Title 1">
            <a:extLst>
              <a:ext uri="{FF2B5EF4-FFF2-40B4-BE49-F238E27FC236}">
                <a16:creationId xmlns:a16="http://schemas.microsoft.com/office/drawing/2014/main" id="{97E633AD-3213-2181-514B-A1185D3D8DFC}"/>
              </a:ext>
            </a:extLst>
          </p:cNvPr>
          <p:cNvSpPr txBox="1">
            <a:spLocks/>
          </p:cNvSpPr>
          <p:nvPr/>
        </p:nvSpPr>
        <p:spPr>
          <a:xfrm>
            <a:off x="435862" y="450032"/>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t>W3 Tutorial</a:t>
            </a:r>
          </a:p>
        </p:txBody>
      </p:sp>
    </p:spTree>
    <p:extLst>
      <p:ext uri="{BB962C8B-B14F-4D97-AF65-F5344CB8AC3E}">
        <p14:creationId xmlns:p14="http://schemas.microsoft.com/office/powerpoint/2010/main" val="1448184656"/>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CEE158-03B1-4526-411A-6E8E96F460E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36AF800-EB1B-F03A-46EA-67819E967D7B}"/>
              </a:ext>
            </a:extLst>
          </p:cNvPr>
          <p:cNvSpPr>
            <a:spLocks noGrp="1"/>
          </p:cNvSpPr>
          <p:nvPr>
            <p:ph type="title"/>
          </p:nvPr>
        </p:nvSpPr>
        <p:spPr/>
        <p:txBody>
          <a:bodyPr/>
          <a:lstStyle/>
          <a:p>
            <a:r>
              <a:rPr lang="en-US" dirty="0"/>
              <a:t>Recap (10min)</a:t>
            </a:r>
          </a:p>
        </p:txBody>
      </p:sp>
      <p:sp>
        <p:nvSpPr>
          <p:cNvPr id="3" name="Content Placeholder 2">
            <a:extLst>
              <a:ext uri="{FF2B5EF4-FFF2-40B4-BE49-F238E27FC236}">
                <a16:creationId xmlns:a16="http://schemas.microsoft.com/office/drawing/2014/main" id="{4D055B7E-05F9-E890-F10E-88E2992EB9D9}"/>
              </a:ext>
            </a:extLst>
          </p:cNvPr>
          <p:cNvSpPr>
            <a:spLocks noGrp="1"/>
          </p:cNvSpPr>
          <p:nvPr>
            <p:ph idx="1"/>
          </p:nvPr>
        </p:nvSpPr>
        <p:spPr>
          <a:xfrm>
            <a:off x="521208" y="2082800"/>
            <a:ext cx="11155680" cy="4263136"/>
          </a:xfrm>
        </p:spPr>
        <p:txBody>
          <a:bodyPr>
            <a:normAutofit/>
          </a:bodyPr>
          <a:lstStyle/>
          <a:p>
            <a:r>
              <a:rPr lang="en-US" sz="2800" b="1" dirty="0"/>
              <a:t>What did you think of the Lecture?</a:t>
            </a:r>
          </a:p>
          <a:p>
            <a:pPr lvl="1"/>
            <a:r>
              <a:rPr lang="en-US" sz="2400" dirty="0"/>
              <a:t>What did you learn?</a:t>
            </a:r>
          </a:p>
          <a:p>
            <a:pPr lvl="1"/>
            <a:r>
              <a:rPr lang="en-US" sz="2400" dirty="0"/>
              <a:t>What points stood out?</a:t>
            </a:r>
          </a:p>
          <a:p>
            <a:pPr lvl="1"/>
            <a:r>
              <a:rPr lang="en-US" sz="2400" dirty="0"/>
              <a:t>Any questions?</a:t>
            </a:r>
          </a:p>
        </p:txBody>
      </p:sp>
    </p:spTree>
    <p:extLst>
      <p:ext uri="{BB962C8B-B14F-4D97-AF65-F5344CB8AC3E}">
        <p14:creationId xmlns:p14="http://schemas.microsoft.com/office/powerpoint/2010/main" val="6261912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658335-6ACA-DE89-6840-EEB43F4350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D4A135-33DA-2252-9970-1679762DAB0A}"/>
              </a:ext>
            </a:extLst>
          </p:cNvPr>
          <p:cNvSpPr>
            <a:spLocks noGrp="1"/>
          </p:cNvSpPr>
          <p:nvPr>
            <p:ph type="title"/>
          </p:nvPr>
        </p:nvSpPr>
        <p:spPr/>
        <p:txBody>
          <a:bodyPr/>
          <a:lstStyle/>
          <a:p>
            <a:r>
              <a:rPr lang="en-US" dirty="0"/>
              <a:t>Activity (30-35min)</a:t>
            </a:r>
          </a:p>
        </p:txBody>
      </p:sp>
      <p:sp>
        <p:nvSpPr>
          <p:cNvPr id="3" name="Content Placeholder 2">
            <a:extLst>
              <a:ext uri="{FF2B5EF4-FFF2-40B4-BE49-F238E27FC236}">
                <a16:creationId xmlns:a16="http://schemas.microsoft.com/office/drawing/2014/main" id="{B88EFC39-FF1E-9607-A99D-268B96B90C25}"/>
              </a:ext>
            </a:extLst>
          </p:cNvPr>
          <p:cNvSpPr>
            <a:spLocks noGrp="1"/>
          </p:cNvSpPr>
          <p:nvPr>
            <p:ph idx="1"/>
          </p:nvPr>
        </p:nvSpPr>
        <p:spPr>
          <a:xfrm>
            <a:off x="521208" y="2015067"/>
            <a:ext cx="11155680" cy="4330869"/>
          </a:xfrm>
        </p:spPr>
        <p:txBody>
          <a:bodyPr>
            <a:normAutofit/>
          </a:bodyPr>
          <a:lstStyle/>
          <a:p>
            <a:pPr marL="0" indent="0">
              <a:buNone/>
            </a:pPr>
            <a:endParaRPr lang="en-GB" dirty="0"/>
          </a:p>
          <a:p>
            <a:pPr marL="0" indent="0">
              <a:buNone/>
            </a:pPr>
            <a:r>
              <a:rPr lang="en-GB" sz="2400" b="1" dirty="0"/>
              <a:t>Task</a:t>
            </a:r>
          </a:p>
          <a:p>
            <a:r>
              <a:rPr lang="en-GB" dirty="0"/>
              <a:t>In your reading this week </a:t>
            </a:r>
            <a:r>
              <a:rPr lang="en-GB" dirty="0" err="1"/>
              <a:t>Stavert</a:t>
            </a:r>
            <a:r>
              <a:rPr lang="en-GB" dirty="0"/>
              <a:t> discusses the key civil rights which are particularly relevant to care and treatment for people with mental health issues. She also discusses social and cultural rights (331). </a:t>
            </a:r>
          </a:p>
          <a:p>
            <a:r>
              <a:rPr lang="en-GB" dirty="0"/>
              <a:t>Identify which rights </a:t>
            </a:r>
            <a:r>
              <a:rPr lang="en-GB" dirty="0" err="1"/>
              <a:t>Stavert</a:t>
            </a:r>
            <a:r>
              <a:rPr lang="en-GB" dirty="0"/>
              <a:t> is talking about and discuss how well these are realised in the UK and internationally</a:t>
            </a:r>
          </a:p>
          <a:p>
            <a:r>
              <a:rPr lang="en-GB" dirty="0"/>
              <a:t>How have international conventions on Human Rights influenced social work in the UK?</a:t>
            </a:r>
          </a:p>
        </p:txBody>
      </p:sp>
    </p:spTree>
    <p:extLst>
      <p:ext uri="{BB962C8B-B14F-4D97-AF65-F5344CB8AC3E}">
        <p14:creationId xmlns:p14="http://schemas.microsoft.com/office/powerpoint/2010/main" val="3500467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EECA69B-4C2A-7F31-8019-E90DB3BD49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pic>
        <p:nvPicPr>
          <p:cNvPr id="4" name="Picture 3" descr="Top view of a background splashed with colors">
            <a:extLst>
              <a:ext uri="{FF2B5EF4-FFF2-40B4-BE49-F238E27FC236}">
                <a16:creationId xmlns:a16="http://schemas.microsoft.com/office/drawing/2014/main" id="{93895ED1-BD46-9B4D-16DE-3DAF16A996D1}"/>
              </a:ext>
            </a:extLst>
          </p:cNvPr>
          <p:cNvPicPr>
            <a:picLocks noChangeAspect="1"/>
          </p:cNvPicPr>
          <p:nvPr/>
        </p:nvPicPr>
        <p:blipFill>
          <a:blip r:embed="rId2"/>
          <a:srcRect t="1747"/>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857DEAC1-B3AA-6569-0A44-A191DF2F3C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577840"/>
            <a:ext cx="12191999" cy="1280160"/>
          </a:xfrm>
          <a:prstGeom prst="rect">
            <a:avLst/>
          </a:prstGeom>
          <a:solidFill>
            <a:schemeClr val="bg1">
              <a:alpha val="28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Bierstadt"/>
              <a:ea typeface="+mn-ea"/>
              <a:cs typeface="+mn-cs"/>
            </a:endParaRPr>
          </a:p>
        </p:txBody>
      </p:sp>
      <p:sp>
        <p:nvSpPr>
          <p:cNvPr id="3" name="Subtitle 2">
            <a:extLst>
              <a:ext uri="{FF2B5EF4-FFF2-40B4-BE49-F238E27FC236}">
                <a16:creationId xmlns:a16="http://schemas.microsoft.com/office/drawing/2014/main" id="{D718E533-6961-34CC-C16B-5EE208B82E7A}"/>
              </a:ext>
            </a:extLst>
          </p:cNvPr>
          <p:cNvSpPr>
            <a:spLocks noGrp="1"/>
          </p:cNvSpPr>
          <p:nvPr>
            <p:ph type="subTitle" idx="1"/>
          </p:nvPr>
        </p:nvSpPr>
        <p:spPr>
          <a:xfrm>
            <a:off x="4068978" y="6025357"/>
            <a:ext cx="3392781" cy="960120"/>
          </a:xfrm>
        </p:spPr>
        <p:txBody>
          <a:bodyPr anchor="ctr">
            <a:normAutofit/>
          </a:bodyPr>
          <a:lstStyle/>
          <a:p>
            <a:pPr algn="ctr"/>
            <a:r>
              <a:rPr lang="en-US" sz="2000" i="0" dirty="0">
                <a:hlinkClick r:id="rId3">
                  <a:extLst>
                    <a:ext uri="{A12FA001-AC4F-418D-AE19-62706E023703}">
                      <ahyp:hlinkClr xmlns:ahyp="http://schemas.microsoft.com/office/drawing/2018/hyperlinkcolor" val="tx"/>
                    </a:ext>
                  </a:extLst>
                </a:hlinkClick>
              </a:rPr>
              <a:t>✉️</a:t>
            </a:r>
            <a:r>
              <a:rPr lang="zh-CN" altLang="en-US" sz="2000" i="0" dirty="0">
                <a:hlinkClick r:id="rId3">
                  <a:extLst>
                    <a:ext uri="{A12FA001-AC4F-418D-AE19-62706E023703}">
                      <ahyp:hlinkClr xmlns:ahyp="http://schemas.microsoft.com/office/drawing/2018/hyperlinkcolor" val="tx"/>
                    </a:ext>
                  </a:extLst>
                </a:hlinkClick>
              </a:rPr>
              <a:t> </a:t>
            </a:r>
            <a:r>
              <a:rPr lang="en-US" sz="2000" i="0" dirty="0">
                <a:hlinkClick r:id="rId3">
                  <a:extLst>
                    <a:ext uri="{A12FA001-AC4F-418D-AE19-62706E023703}">
                      <ahyp:hlinkClr xmlns:ahyp="http://schemas.microsoft.com/office/drawing/2018/hyperlinkcolor" val="tx"/>
                    </a:ext>
                  </a:extLst>
                </a:hlinkClick>
              </a:rPr>
              <a:t>ljiang3@ed.ac.uk</a:t>
            </a:r>
            <a:endParaRPr lang="en-US" sz="2000" i="0" dirty="0"/>
          </a:p>
        </p:txBody>
      </p:sp>
      <p:sp>
        <p:nvSpPr>
          <p:cNvPr id="5" name="TextBox 4">
            <a:extLst>
              <a:ext uri="{FF2B5EF4-FFF2-40B4-BE49-F238E27FC236}">
                <a16:creationId xmlns:a16="http://schemas.microsoft.com/office/drawing/2014/main" id="{FF9C16D7-1684-F5F9-915C-09A6A00BCFC3}"/>
              </a:ext>
            </a:extLst>
          </p:cNvPr>
          <p:cNvSpPr txBox="1"/>
          <p:nvPr/>
        </p:nvSpPr>
        <p:spPr>
          <a:xfrm>
            <a:off x="980008" y="1860174"/>
            <a:ext cx="9570719" cy="3139321"/>
          </a:xfrm>
          <a:prstGeom prst="rect">
            <a:avLst/>
          </a:prstGeom>
          <a:noFill/>
          <a:ln>
            <a:noFill/>
          </a:ln>
        </p:spPr>
        <p:txBody>
          <a:bodyPr wrap="square" rtlCol="0">
            <a:spAutoFit/>
          </a:bodyPr>
          <a:lstStyle/>
          <a:p>
            <a:pPr algn="ctr"/>
            <a:r>
              <a:rPr lang="en-US" sz="6600" b="1" dirty="0">
                <a:solidFill>
                  <a:schemeClr val="bg1"/>
                </a:solidFill>
                <a:latin typeface="Bradley Hand" pitchFamily="2" charset="77"/>
                <a:cs typeface="Algerian" panose="020F0502020204030204" pitchFamily="34" charset="0"/>
              </a:rPr>
              <a:t>Human Rights and Social Justice: </a:t>
            </a:r>
          </a:p>
          <a:p>
            <a:pPr algn="ctr"/>
            <a:r>
              <a:rPr lang="en-US" sz="6600" b="1" dirty="0">
                <a:solidFill>
                  <a:schemeClr val="bg1"/>
                </a:solidFill>
                <a:latin typeface="Bradley Hand" pitchFamily="2" charset="77"/>
                <a:cs typeface="Algerian" panose="020F0502020204030204" pitchFamily="34" charset="0"/>
              </a:rPr>
              <a:t>social work and the law</a:t>
            </a:r>
          </a:p>
        </p:txBody>
      </p:sp>
      <p:sp>
        <p:nvSpPr>
          <p:cNvPr id="6" name="Title 1">
            <a:extLst>
              <a:ext uri="{FF2B5EF4-FFF2-40B4-BE49-F238E27FC236}">
                <a16:creationId xmlns:a16="http://schemas.microsoft.com/office/drawing/2014/main" id="{562CA603-5795-9C2F-AB97-54FAA5FF303B}"/>
              </a:ext>
            </a:extLst>
          </p:cNvPr>
          <p:cNvSpPr txBox="1">
            <a:spLocks/>
          </p:cNvSpPr>
          <p:nvPr/>
        </p:nvSpPr>
        <p:spPr>
          <a:xfrm>
            <a:off x="320038" y="545156"/>
            <a:ext cx="8196431" cy="960120"/>
          </a:xfrm>
          <a:prstGeom prst="rect">
            <a:avLst/>
          </a:prstGeom>
          <a:ln>
            <a:noFill/>
          </a:ln>
        </p:spPr>
        <p:txBody>
          <a:bodyPr vert="horz" lIns="91440" tIns="45720" rIns="91440" bIns="45720" rtlCol="0" anchor="ctr">
            <a:normAutofit fontScale="97500"/>
          </a:bodyPr>
          <a:lstStyle>
            <a:lvl1pPr algn="l" defTabSz="914400" rtl="0" eaLnBrk="1" latinLnBrk="0" hangingPunct="1">
              <a:lnSpc>
                <a:spcPct val="100000"/>
              </a:lnSpc>
              <a:spcBef>
                <a:spcPct val="0"/>
              </a:spcBef>
              <a:buNone/>
              <a:defRPr sz="7200" b="1" kern="1200">
                <a:solidFill>
                  <a:schemeClr val="tx1"/>
                </a:solidFill>
                <a:latin typeface="+mj-lt"/>
                <a:ea typeface="+mj-ea"/>
                <a:cs typeface="+mj-cs"/>
              </a:defRPr>
            </a:lvl1pPr>
          </a:lstStyle>
          <a:p>
            <a:r>
              <a:rPr lang="en-US" sz="4400" dirty="0">
                <a:solidFill>
                  <a:schemeClr val="bg1"/>
                </a:solidFill>
              </a:rPr>
              <a:t>W2 Tutorial</a:t>
            </a:r>
          </a:p>
        </p:txBody>
      </p:sp>
      <p:sp>
        <p:nvSpPr>
          <p:cNvPr id="8" name="Title 7">
            <a:extLst>
              <a:ext uri="{FF2B5EF4-FFF2-40B4-BE49-F238E27FC236}">
                <a16:creationId xmlns:a16="http://schemas.microsoft.com/office/drawing/2014/main" id="{E4735912-4236-F7C7-D521-A469F6288FBB}"/>
              </a:ext>
            </a:extLst>
          </p:cNvPr>
          <p:cNvSpPr>
            <a:spLocks noGrp="1"/>
          </p:cNvSpPr>
          <p:nvPr>
            <p:ph type="ctrTitle"/>
          </p:nvPr>
        </p:nvSpPr>
        <p:spPr/>
        <p:txBody>
          <a:bodyPr/>
          <a:lstStyle/>
          <a:p>
            <a:endParaRPr lang="en-US" dirty="0"/>
          </a:p>
        </p:txBody>
      </p:sp>
      <p:sp>
        <p:nvSpPr>
          <p:cNvPr id="10" name="TextBox 9">
            <a:extLst>
              <a:ext uri="{FF2B5EF4-FFF2-40B4-BE49-F238E27FC236}">
                <a16:creationId xmlns:a16="http://schemas.microsoft.com/office/drawing/2014/main" id="{5E8E498F-12DE-A784-54D0-F3D96E808496}"/>
              </a:ext>
            </a:extLst>
          </p:cNvPr>
          <p:cNvSpPr txBox="1"/>
          <p:nvPr/>
        </p:nvSpPr>
        <p:spPr>
          <a:xfrm>
            <a:off x="-3450336" y="-1706880"/>
            <a:ext cx="184731" cy="369332"/>
          </a:xfrm>
          <a:prstGeom prst="rect">
            <a:avLst/>
          </a:prstGeom>
          <a:noFill/>
        </p:spPr>
        <p:txBody>
          <a:bodyPr wrap="none" rtlCol="0">
            <a:spAutoFit/>
          </a:bodyPr>
          <a:lstStyle/>
          <a:p>
            <a:endParaRPr lang="en-US"/>
          </a:p>
        </p:txBody>
      </p:sp>
    </p:spTree>
    <p:extLst>
      <p:ext uri="{BB962C8B-B14F-4D97-AF65-F5344CB8AC3E}">
        <p14:creationId xmlns:p14="http://schemas.microsoft.com/office/powerpoint/2010/main" val="1290530856"/>
      </p:ext>
    </p:extLst>
  </p:cSld>
  <p:clrMapOvr>
    <a:overrideClrMapping bg1="dk1" tx1="lt1" bg2="dk2" tx2="lt2" accent1="accent1" accent2="accent2" accent3="accent3" accent4="accent4" accent5="accent5" accent6="accent6" hlink="hlink" folHlink="folHlink"/>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DC93C5-D443-27AC-FFCE-FBE6F3985551}"/>
              </a:ext>
            </a:extLst>
          </p:cNvPr>
          <p:cNvSpPr>
            <a:spLocks noGrp="1"/>
          </p:cNvSpPr>
          <p:nvPr>
            <p:ph type="title"/>
          </p:nvPr>
        </p:nvSpPr>
        <p:spPr/>
        <p:txBody>
          <a:bodyPr/>
          <a:lstStyle/>
          <a:p>
            <a:r>
              <a:rPr lang="en-GB" dirty="0"/>
              <a:t>First Tutorial: Getting Started Together</a:t>
            </a:r>
            <a:endParaRPr lang="en-US" dirty="0"/>
          </a:p>
        </p:txBody>
      </p:sp>
      <p:sp>
        <p:nvSpPr>
          <p:cNvPr id="4" name="TextBox 3">
            <a:extLst>
              <a:ext uri="{FF2B5EF4-FFF2-40B4-BE49-F238E27FC236}">
                <a16:creationId xmlns:a16="http://schemas.microsoft.com/office/drawing/2014/main" id="{CC6BCEEF-ADFC-7FF8-08D1-4989A11E5C57}"/>
              </a:ext>
            </a:extLst>
          </p:cNvPr>
          <p:cNvSpPr txBox="1"/>
          <p:nvPr/>
        </p:nvSpPr>
        <p:spPr>
          <a:xfrm>
            <a:off x="731520" y="2218944"/>
            <a:ext cx="10448544" cy="2954655"/>
          </a:xfrm>
          <a:prstGeom prst="rect">
            <a:avLst/>
          </a:prstGeom>
          <a:noFill/>
        </p:spPr>
        <p:txBody>
          <a:bodyPr wrap="square" rtlCol="0">
            <a:spAutoFit/>
          </a:bodyPr>
          <a:lstStyle/>
          <a:p>
            <a:pPr marL="285750" lvl="0" indent="-285750">
              <a:lnSpc>
                <a:spcPct val="200000"/>
              </a:lnSpc>
              <a:buFont typeface="Arial" panose="020B0604020202020204" pitchFamily="34" charset="0"/>
              <a:buChar char="•"/>
            </a:pPr>
            <a:r>
              <a:rPr lang="en-GB" sz="2400" b="1" dirty="0"/>
              <a:t>About Me — My role and how I can support you</a:t>
            </a:r>
            <a:endParaRPr lang="en-GB" sz="2400" dirty="0"/>
          </a:p>
          <a:p>
            <a:pPr marL="285750" lvl="0" indent="-285750">
              <a:lnSpc>
                <a:spcPct val="200000"/>
              </a:lnSpc>
              <a:buFont typeface="Arial" panose="020B0604020202020204" pitchFamily="34" charset="0"/>
              <a:buChar char="•"/>
            </a:pPr>
            <a:r>
              <a:rPr lang="en-GB" sz="2400" b="1" dirty="0"/>
              <a:t>About You — Let’s get to know each other</a:t>
            </a:r>
            <a:endParaRPr lang="en-GB" sz="2400" dirty="0"/>
          </a:p>
          <a:p>
            <a:pPr marL="285750" lvl="0" indent="-285750">
              <a:lnSpc>
                <a:spcPct val="200000"/>
              </a:lnSpc>
              <a:buFont typeface="Arial" panose="020B0604020202020204" pitchFamily="34" charset="0"/>
              <a:buChar char="•"/>
            </a:pPr>
            <a:r>
              <a:rPr lang="en-GB" sz="2400" b="1" dirty="0"/>
              <a:t>Learning Together — Participate, discuss, and share</a:t>
            </a:r>
            <a:endParaRPr lang="en-GB" sz="2400" dirty="0"/>
          </a:p>
          <a:p>
            <a:pPr marL="285750" lvl="0" indent="-285750">
              <a:lnSpc>
                <a:spcPct val="200000"/>
              </a:lnSpc>
              <a:buFont typeface="Arial" panose="020B0604020202020204" pitchFamily="34" charset="0"/>
              <a:buChar char="•"/>
            </a:pPr>
            <a:r>
              <a:rPr lang="en-GB" sz="2400" b="1" dirty="0"/>
              <a:t>Our Tutorial Culture — Respectful, open, and curious</a:t>
            </a:r>
            <a:endParaRPr lang="en-GB" sz="2400" dirty="0"/>
          </a:p>
        </p:txBody>
      </p:sp>
    </p:spTree>
    <p:extLst>
      <p:ext uri="{BB962C8B-B14F-4D97-AF65-F5344CB8AC3E}">
        <p14:creationId xmlns:p14="http://schemas.microsoft.com/office/powerpoint/2010/main" val="129122705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126807-1D8E-D373-18A6-F5D650BE79A9}"/>
              </a:ext>
            </a:extLst>
          </p:cNvPr>
          <p:cNvSpPr>
            <a:spLocks noGrp="1"/>
          </p:cNvSpPr>
          <p:nvPr>
            <p:ph type="title"/>
          </p:nvPr>
        </p:nvSpPr>
        <p:spPr/>
        <p:txBody>
          <a:bodyPr/>
          <a:lstStyle/>
          <a:p>
            <a:r>
              <a:rPr lang="en-US" dirty="0"/>
              <a:t>Recap (10min)</a:t>
            </a:r>
          </a:p>
        </p:txBody>
      </p:sp>
      <p:sp>
        <p:nvSpPr>
          <p:cNvPr id="3" name="Content Placeholder 2">
            <a:extLst>
              <a:ext uri="{FF2B5EF4-FFF2-40B4-BE49-F238E27FC236}">
                <a16:creationId xmlns:a16="http://schemas.microsoft.com/office/drawing/2014/main" id="{E24C3DE7-C7AB-C40E-8685-2514347AC6EC}"/>
              </a:ext>
            </a:extLst>
          </p:cNvPr>
          <p:cNvSpPr>
            <a:spLocks noGrp="1"/>
          </p:cNvSpPr>
          <p:nvPr>
            <p:ph idx="1"/>
          </p:nvPr>
        </p:nvSpPr>
        <p:spPr>
          <a:xfrm>
            <a:off x="521208" y="2082800"/>
            <a:ext cx="11155680" cy="4263136"/>
          </a:xfrm>
        </p:spPr>
        <p:txBody>
          <a:bodyPr>
            <a:normAutofit/>
          </a:bodyPr>
          <a:lstStyle/>
          <a:p>
            <a:r>
              <a:rPr lang="en-US" sz="2800" b="1" dirty="0"/>
              <a:t>What did you think of the Lecture?</a:t>
            </a:r>
          </a:p>
          <a:p>
            <a:pPr lvl="1"/>
            <a:r>
              <a:rPr lang="en-US" sz="2400" dirty="0"/>
              <a:t>What did you learn?</a:t>
            </a:r>
          </a:p>
          <a:p>
            <a:pPr lvl="1"/>
            <a:r>
              <a:rPr lang="en-US" sz="2400" dirty="0"/>
              <a:t>What points stood out?</a:t>
            </a:r>
          </a:p>
          <a:p>
            <a:pPr lvl="1"/>
            <a:r>
              <a:rPr lang="en-US" sz="2400" dirty="0"/>
              <a:t>Any questions?</a:t>
            </a:r>
          </a:p>
        </p:txBody>
      </p:sp>
    </p:spTree>
    <p:extLst>
      <p:ext uri="{BB962C8B-B14F-4D97-AF65-F5344CB8AC3E}">
        <p14:creationId xmlns:p14="http://schemas.microsoft.com/office/powerpoint/2010/main" val="36036506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CE178-4D0C-18BE-025C-95BAC3B6E568}"/>
              </a:ext>
            </a:extLst>
          </p:cNvPr>
          <p:cNvSpPr>
            <a:spLocks noGrp="1"/>
          </p:cNvSpPr>
          <p:nvPr>
            <p:ph type="title"/>
          </p:nvPr>
        </p:nvSpPr>
        <p:spPr/>
        <p:txBody>
          <a:bodyPr/>
          <a:lstStyle/>
          <a:p>
            <a:r>
              <a:rPr lang="en-US" dirty="0"/>
              <a:t>Activity (20-25min)</a:t>
            </a:r>
          </a:p>
        </p:txBody>
      </p:sp>
      <p:sp>
        <p:nvSpPr>
          <p:cNvPr id="3" name="Content Placeholder 2">
            <a:extLst>
              <a:ext uri="{FF2B5EF4-FFF2-40B4-BE49-F238E27FC236}">
                <a16:creationId xmlns:a16="http://schemas.microsoft.com/office/drawing/2014/main" id="{C6CFD31F-5A20-4EB2-00B5-6AFC869B854B}"/>
              </a:ext>
            </a:extLst>
          </p:cNvPr>
          <p:cNvSpPr>
            <a:spLocks noGrp="1"/>
          </p:cNvSpPr>
          <p:nvPr>
            <p:ph idx="1"/>
          </p:nvPr>
        </p:nvSpPr>
        <p:spPr>
          <a:xfrm>
            <a:off x="521208" y="2015067"/>
            <a:ext cx="11155680" cy="4330869"/>
          </a:xfrm>
        </p:spPr>
        <p:txBody>
          <a:bodyPr>
            <a:normAutofit lnSpcReduction="10000"/>
          </a:bodyPr>
          <a:lstStyle/>
          <a:p>
            <a:pPr marL="0" indent="0">
              <a:buNone/>
            </a:pPr>
            <a:endParaRPr lang="en-GB" dirty="0"/>
          </a:p>
          <a:p>
            <a:pPr marL="0" indent="0">
              <a:buNone/>
            </a:pPr>
            <a:r>
              <a:rPr lang="en-GB" sz="2400" b="1" dirty="0"/>
              <a:t>The reading for this week discusses social work as a 'human rights profession’:</a:t>
            </a:r>
          </a:p>
          <a:p>
            <a:pPr lvl="0"/>
            <a:r>
              <a:rPr lang="en-GB" dirty="0"/>
              <a:t>What do you think that means?</a:t>
            </a:r>
          </a:p>
          <a:p>
            <a:pPr lvl="0"/>
            <a:r>
              <a:rPr lang="en-GB" dirty="0"/>
              <a:t>Mapp et al discuss 3 approaches to social work practice:  charity based, needs based, rights based.  What does a human rights based approach involve?</a:t>
            </a:r>
          </a:p>
          <a:p>
            <a:pPr lvl="0"/>
            <a:r>
              <a:rPr lang="en-GB" dirty="0"/>
              <a:t> The chapter by Martínez Herrero and Tedam talks about social work as a being complicit with colonialism. What do you think that means?</a:t>
            </a:r>
          </a:p>
          <a:p>
            <a:pPr lvl="0"/>
            <a:r>
              <a:rPr lang="en-GB" dirty="0"/>
              <a:t>Can social work be a human rights profession today?</a:t>
            </a:r>
          </a:p>
          <a:p>
            <a:pPr lvl="0"/>
            <a:r>
              <a:rPr lang="en-GB" dirty="0"/>
              <a:t>What have you learned from the course so far? How will you keep a reflective diary?  see below for an example</a:t>
            </a:r>
          </a:p>
          <a:p>
            <a:pPr marL="0" indent="0">
              <a:buNone/>
            </a:pPr>
            <a:endParaRPr lang="en-GB" sz="2400" dirty="0"/>
          </a:p>
        </p:txBody>
      </p:sp>
    </p:spTree>
    <p:extLst>
      <p:ext uri="{BB962C8B-B14F-4D97-AF65-F5344CB8AC3E}">
        <p14:creationId xmlns:p14="http://schemas.microsoft.com/office/powerpoint/2010/main" val="145969860"/>
      </p:ext>
    </p:extLst>
  </p:cSld>
  <p:clrMapOvr>
    <a:masterClrMapping/>
  </p:clrMapOvr>
</p:sld>
</file>

<file path=ppt/theme/theme1.xml><?xml version="1.0" encoding="utf-8"?>
<a:theme xmlns:a="http://schemas.openxmlformats.org/drawingml/2006/main" name="GestaltVTI">
  <a:themeElements>
    <a:clrScheme name="Gestalt">
      <a:dk1>
        <a:srgbClr val="000000"/>
      </a:dk1>
      <a:lt1>
        <a:sysClr val="window" lastClr="FFFFFF"/>
      </a:lt1>
      <a:dk2>
        <a:srgbClr val="262626"/>
      </a:dk2>
      <a:lt2>
        <a:srgbClr val="F7F7F7"/>
      </a:lt2>
      <a:accent1>
        <a:srgbClr val="EBA000"/>
      </a:accent1>
      <a:accent2>
        <a:srgbClr val="00BAC8"/>
      </a:accent2>
      <a:accent3>
        <a:srgbClr val="E64823"/>
      </a:accent3>
      <a:accent4>
        <a:srgbClr val="4D5AFF"/>
      </a:accent4>
      <a:accent5>
        <a:srgbClr val="FE5D21"/>
      </a:accent5>
      <a:accent6>
        <a:srgbClr val="00C777"/>
      </a:accent6>
      <a:hlink>
        <a:srgbClr val="2998E3"/>
      </a:hlink>
      <a:folHlink>
        <a:srgbClr val="939393"/>
      </a:folHlink>
    </a:clrScheme>
    <a:fontScheme name="Gestalt">
      <a:majorFont>
        <a:latin typeface="Bierstadt"/>
        <a:ea typeface=""/>
        <a:cs typeface=""/>
      </a:majorFont>
      <a:minorFont>
        <a:latin typeface="Bierstad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GestaltVTI" id="{4F87C71D-53D1-4B71-BF97-FD0EA4B25665}" vid="{A110AFC4-8D8A-4C02-8885-7BA370B379B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7396</TotalTime>
  <Words>1893</Words>
  <Application>Microsoft Macintosh PowerPoint</Application>
  <PresentationFormat>Widescreen</PresentationFormat>
  <Paragraphs>213</Paragraphs>
  <Slides>24</Slides>
  <Notes>8</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24</vt:i4>
      </vt:variant>
    </vt:vector>
  </HeadingPairs>
  <TitlesOfParts>
    <vt:vector size="33" baseType="lpstr">
      <vt:lpstr>ＭＳ Ｐゴシック</vt:lpstr>
      <vt:lpstr>Aptos</vt:lpstr>
      <vt:lpstr>Arial</vt:lpstr>
      <vt:lpstr>Bierstadt</vt:lpstr>
      <vt:lpstr>Bookman Old Style</vt:lpstr>
      <vt:lpstr>Bradley Hand</vt:lpstr>
      <vt:lpstr>Calibri</vt:lpstr>
      <vt:lpstr>Times New Roman</vt:lpstr>
      <vt:lpstr>GestaltVTI</vt:lpstr>
      <vt:lpstr>PowerPoint Presentation</vt:lpstr>
      <vt:lpstr>Recap (10min)</vt:lpstr>
      <vt:lpstr>Activity (35-40min)</vt:lpstr>
      <vt:lpstr>PowerPoint Presentation</vt:lpstr>
      <vt:lpstr>Recap (10min)</vt:lpstr>
      <vt:lpstr>Activity (25-30min)</vt:lpstr>
      <vt:lpstr>Human Rights and Social Justice: social work and the law</vt:lpstr>
      <vt:lpstr>Purpose of the assignment</vt:lpstr>
      <vt:lpstr>Things to think about</vt:lpstr>
      <vt:lpstr>Using the resource list</vt:lpstr>
      <vt:lpstr>PowerPoint Presentation</vt:lpstr>
      <vt:lpstr>PowerPoint Presentation</vt:lpstr>
      <vt:lpstr>Follow the rules on essay formatting and submission</vt:lpstr>
      <vt:lpstr>Referencing</vt:lpstr>
      <vt:lpstr>Referencing</vt:lpstr>
      <vt:lpstr>Citing websites and internet sources</vt:lpstr>
      <vt:lpstr>For more information on writing skills:</vt:lpstr>
      <vt:lpstr>PowerPoint Presentation</vt:lpstr>
      <vt:lpstr>Recap (10min)</vt:lpstr>
      <vt:lpstr>Activity (30-35min)</vt:lpstr>
      <vt:lpstr>PowerPoint Presentation</vt:lpstr>
      <vt:lpstr>First Tutorial: Getting Started Together</vt:lpstr>
      <vt:lpstr>Recap (10min)</vt:lpstr>
      <vt:lpstr>Activity (20-25min)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Rhoda Jiang</dc:creator>
  <cp:lastModifiedBy>Rhoda Jiang</cp:lastModifiedBy>
  <cp:revision>16</cp:revision>
  <dcterms:created xsi:type="dcterms:W3CDTF">2025-09-20T14:48:19Z</dcterms:created>
  <dcterms:modified xsi:type="dcterms:W3CDTF">2026-10-20T20:11:03Z</dcterms:modified>
</cp:coreProperties>
</file>