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62" r:id="rId2"/>
    <p:sldId id="264" r:id="rId3"/>
    <p:sldId id="265" r:id="rId4"/>
    <p:sldId id="256" r:id="rId5"/>
    <p:sldId id="261" r:id="rId6"/>
    <p:sldId id="258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43"/>
  </p:normalViewPr>
  <p:slideViewPr>
    <p:cSldViewPr snapToGrid="0">
      <p:cViewPr varScale="1">
        <p:scale>
          <a:sx n="105" d="100"/>
          <a:sy n="105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12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24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4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75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78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52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474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922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24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9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82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61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jiang3@ed.ac.u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ljiang3@ed.ac.uk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C11E1-FEE4-0786-8ED9-508A83B6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op view of a background splashed with colors">
            <a:extLst>
              <a:ext uri="{FF2B5EF4-FFF2-40B4-BE49-F238E27FC236}">
                <a16:creationId xmlns:a16="http://schemas.microsoft.com/office/drawing/2014/main" id="{49093066-8239-7EEA-2A75-2F2C8B80DB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F7A3FC4-CE2E-00E4-5FA3-4BBE0FD9C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978" y="6025357"/>
            <a:ext cx="3392781" cy="960120"/>
          </a:xfrm>
        </p:spPr>
        <p:txBody>
          <a:bodyPr anchor="ctr">
            <a:normAutofit/>
          </a:bodyPr>
          <a:lstStyle/>
          <a:p>
            <a:pPr algn="ctr"/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✉️</a:t>
            </a:r>
            <a:r>
              <a:rPr lang="zh-CN" alt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ljiang3@ed.ac.uk</a:t>
            </a:r>
            <a:endParaRPr lang="en-US" sz="2000" i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067197-3AF9-9771-5B6E-8F981AF09968}"/>
              </a:ext>
            </a:extLst>
          </p:cNvPr>
          <p:cNvSpPr txBox="1"/>
          <p:nvPr/>
        </p:nvSpPr>
        <p:spPr>
          <a:xfrm>
            <a:off x="980008" y="1860174"/>
            <a:ext cx="9570719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Bradley Hand" pitchFamily="2" charset="77"/>
                <a:cs typeface="Algerian" panose="020F0502020204030204" pitchFamily="34" charset="0"/>
              </a:rPr>
              <a:t>Human Rights and Social Justice: </a:t>
            </a:r>
          </a:p>
          <a:p>
            <a:pPr algn="ctr"/>
            <a:r>
              <a:rPr lang="en-US" sz="6600" b="1" dirty="0">
                <a:latin typeface="Bradley Hand" pitchFamily="2" charset="77"/>
                <a:cs typeface="Algerian" panose="020F0502020204030204" pitchFamily="34" charset="0"/>
              </a:rPr>
              <a:t>social work and the law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9E9597E-D990-77C2-6C33-FDDAF27E2314}"/>
              </a:ext>
            </a:extLst>
          </p:cNvPr>
          <p:cNvSpPr txBox="1">
            <a:spLocks/>
          </p:cNvSpPr>
          <p:nvPr/>
        </p:nvSpPr>
        <p:spPr>
          <a:xfrm>
            <a:off x="320038" y="545156"/>
            <a:ext cx="8196431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W2 Tutorial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7CB549-BE6B-D234-5E84-17084F3630EC}"/>
              </a:ext>
            </a:extLst>
          </p:cNvPr>
          <p:cNvSpPr txBox="1"/>
          <p:nvPr/>
        </p:nvSpPr>
        <p:spPr>
          <a:xfrm>
            <a:off x="-3450336" y="-17068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93F5D6-FFEA-B1E7-896A-002FB10E31C9}"/>
              </a:ext>
            </a:extLst>
          </p:cNvPr>
          <p:cNvSpPr txBox="1">
            <a:spLocks/>
          </p:cNvSpPr>
          <p:nvPr/>
        </p:nvSpPr>
        <p:spPr>
          <a:xfrm>
            <a:off x="435862" y="450032"/>
            <a:ext cx="8196431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W3 Tutorial</a:t>
            </a:r>
          </a:p>
        </p:txBody>
      </p:sp>
    </p:spTree>
    <p:extLst>
      <p:ext uri="{BB962C8B-B14F-4D97-AF65-F5344CB8AC3E}">
        <p14:creationId xmlns:p14="http://schemas.microsoft.com/office/powerpoint/2010/main" val="480780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EE158-03B1-4526-411A-6E8E96F46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AF800-EB1B-F03A-46EA-67819E967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(10min)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55B7E-05F9-E890-F10E-88E2992EB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82800"/>
            <a:ext cx="11155680" cy="4263136"/>
          </a:xfrm>
        </p:spPr>
        <p:txBody>
          <a:bodyPr>
            <a:normAutofit/>
          </a:bodyPr>
          <a:lstStyle/>
          <a:p>
            <a:r>
              <a:rPr lang="en-US" sz="2800" b="1" dirty="0"/>
              <a:t>What did you think of the Lecture?</a:t>
            </a:r>
          </a:p>
          <a:p>
            <a:pPr lvl="1"/>
            <a:r>
              <a:rPr lang="en-US" sz="2400" dirty="0"/>
              <a:t>What did you learn?</a:t>
            </a:r>
          </a:p>
          <a:p>
            <a:pPr lvl="1"/>
            <a:r>
              <a:rPr lang="en-US" sz="2400" dirty="0"/>
              <a:t>What points stood out?</a:t>
            </a:r>
          </a:p>
          <a:p>
            <a:pPr lvl="1"/>
            <a:r>
              <a:rPr lang="en-US" sz="24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626191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58335-6ACA-DE89-6840-EEB43F435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A135-33DA-2252-9970-1679762DA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(30-35min)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EFC39-FF1E-9607-A99D-268B96B90C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400" b="1" dirty="0"/>
              <a:t>Task</a:t>
            </a:r>
          </a:p>
          <a:p>
            <a:r>
              <a:rPr lang="en-GB" dirty="0"/>
              <a:t>In your reading this week </a:t>
            </a:r>
            <a:r>
              <a:rPr lang="en-GB" dirty="0" err="1"/>
              <a:t>Stavert</a:t>
            </a:r>
            <a:r>
              <a:rPr lang="en-GB" dirty="0"/>
              <a:t> discusses the key civil rights which are particularly relevant to care and treatment for people with mental health issues. She also discusses social and cultural rights (331). </a:t>
            </a:r>
          </a:p>
          <a:p>
            <a:r>
              <a:rPr lang="en-GB" dirty="0"/>
              <a:t>Identify which rights </a:t>
            </a:r>
            <a:r>
              <a:rPr lang="en-GB" dirty="0" err="1"/>
              <a:t>Stavert</a:t>
            </a:r>
            <a:r>
              <a:rPr lang="en-GB" dirty="0"/>
              <a:t> is talking about and discuss how well these are realised in the UK and internationally</a:t>
            </a:r>
          </a:p>
          <a:p>
            <a:r>
              <a:rPr lang="en-GB" dirty="0"/>
              <a:t>How have international conventions on Human Rights influenced social work in the UK?</a:t>
            </a:r>
          </a:p>
        </p:txBody>
      </p:sp>
    </p:spTree>
    <p:extLst>
      <p:ext uri="{BB962C8B-B14F-4D97-AF65-F5344CB8AC3E}">
        <p14:creationId xmlns:p14="http://schemas.microsoft.com/office/powerpoint/2010/main" val="350046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Top view of a background splashed with colors">
            <a:extLst>
              <a:ext uri="{FF2B5EF4-FFF2-40B4-BE49-F238E27FC236}">
                <a16:creationId xmlns:a16="http://schemas.microsoft.com/office/drawing/2014/main" id="{93895ED1-BD46-9B4D-16DE-3DAF16A996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8E533-6961-34CC-C16B-5EE208B82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68978" y="6025357"/>
            <a:ext cx="3392781" cy="960120"/>
          </a:xfrm>
        </p:spPr>
        <p:txBody>
          <a:bodyPr anchor="ctr">
            <a:normAutofit/>
          </a:bodyPr>
          <a:lstStyle/>
          <a:p>
            <a:pPr algn="ctr"/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✉️</a:t>
            </a:r>
            <a:r>
              <a:rPr lang="zh-CN" alt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000" i="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ljiang3@ed.ac.uk</a:t>
            </a:r>
            <a:endParaRPr lang="en-US" sz="2000" i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C16D7-1684-F5F9-915C-09A6A00BCFC3}"/>
              </a:ext>
            </a:extLst>
          </p:cNvPr>
          <p:cNvSpPr txBox="1"/>
          <p:nvPr/>
        </p:nvSpPr>
        <p:spPr>
          <a:xfrm>
            <a:off x="980008" y="1860174"/>
            <a:ext cx="9570719" cy="31393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Bradley Hand" pitchFamily="2" charset="77"/>
                <a:cs typeface="Algerian" panose="020F0502020204030204" pitchFamily="34" charset="0"/>
              </a:rPr>
              <a:t>Human Rights and Social Justice: </a:t>
            </a:r>
          </a:p>
          <a:p>
            <a:pPr algn="ctr"/>
            <a:r>
              <a:rPr lang="en-US" sz="6600" b="1" dirty="0">
                <a:solidFill>
                  <a:schemeClr val="bg1"/>
                </a:solidFill>
                <a:latin typeface="Bradley Hand" pitchFamily="2" charset="77"/>
                <a:cs typeface="Algerian" panose="020F0502020204030204" pitchFamily="34" charset="0"/>
              </a:rPr>
              <a:t>social work and the law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62CA603-5795-9C2F-AB97-54FAA5FF303B}"/>
              </a:ext>
            </a:extLst>
          </p:cNvPr>
          <p:cNvSpPr txBox="1">
            <a:spLocks/>
          </p:cNvSpPr>
          <p:nvPr/>
        </p:nvSpPr>
        <p:spPr>
          <a:xfrm>
            <a:off x="320038" y="545156"/>
            <a:ext cx="8196431" cy="9601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7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W2 Tutorial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4735912-4236-F7C7-D521-A469F6288F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8E498F-12DE-A784-54D0-F3D96E808496}"/>
              </a:ext>
            </a:extLst>
          </p:cNvPr>
          <p:cNvSpPr txBox="1"/>
          <p:nvPr/>
        </p:nvSpPr>
        <p:spPr>
          <a:xfrm>
            <a:off x="-3450336" y="-17068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30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C93C5-D443-27AC-FFCE-FBE6F398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First Tutorial: Getting Started Together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6BCEEF-ADFC-7FF8-08D1-4989A11E5C57}"/>
              </a:ext>
            </a:extLst>
          </p:cNvPr>
          <p:cNvSpPr txBox="1"/>
          <p:nvPr/>
        </p:nvSpPr>
        <p:spPr>
          <a:xfrm>
            <a:off x="731520" y="2218944"/>
            <a:ext cx="1044854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About Me — My role and how I can support you</a:t>
            </a:r>
            <a:endParaRPr lang="en-GB" sz="2400" dirty="0"/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About You — Let’s get to know each other</a:t>
            </a:r>
            <a:endParaRPr lang="en-GB" sz="2400" dirty="0"/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Learning Together — Participate, discuss, and share</a:t>
            </a:r>
            <a:endParaRPr lang="en-GB" sz="2400" dirty="0"/>
          </a:p>
          <a:p>
            <a:pPr marL="285750" lvl="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2400" b="1" dirty="0"/>
              <a:t>Our Tutorial Culture — Respectful, open, and curious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291227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6807-1D8E-D373-18A6-F5D650BE7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 (10min)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C3DE7-C7AB-C40E-8685-2514347AC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82800"/>
            <a:ext cx="11155680" cy="4263136"/>
          </a:xfrm>
        </p:spPr>
        <p:txBody>
          <a:bodyPr>
            <a:normAutofit/>
          </a:bodyPr>
          <a:lstStyle/>
          <a:p>
            <a:r>
              <a:rPr lang="en-US" sz="2800" b="1" dirty="0"/>
              <a:t>What did you think of the Lecture?</a:t>
            </a:r>
          </a:p>
          <a:p>
            <a:pPr lvl="1"/>
            <a:r>
              <a:rPr lang="en-US" sz="2400" dirty="0"/>
              <a:t>What did you learn?</a:t>
            </a:r>
          </a:p>
          <a:p>
            <a:pPr lvl="1"/>
            <a:r>
              <a:rPr lang="en-US" sz="2400" dirty="0"/>
              <a:t>What points stood out?</a:t>
            </a:r>
          </a:p>
          <a:p>
            <a:pPr lvl="1"/>
            <a:r>
              <a:rPr lang="en-US" sz="2400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603650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CE178-4D0C-18BE-025C-95BAC3B6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(20-25min)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FD31F-5A20-4EB2-00B5-6AFC869B8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15067"/>
            <a:ext cx="11155680" cy="43308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2400" b="1" dirty="0"/>
              <a:t>The reading for this week discusses social work as a 'human rights profession’:</a:t>
            </a:r>
          </a:p>
          <a:p>
            <a:pPr lvl="0"/>
            <a:r>
              <a:rPr lang="en-GB" dirty="0"/>
              <a:t>What do you think that means?</a:t>
            </a:r>
          </a:p>
          <a:p>
            <a:pPr lvl="0"/>
            <a:r>
              <a:rPr lang="en-GB" dirty="0"/>
              <a:t>Mapp et al discuss 3 approaches to social work practice:  charity based, needs based, rights based.  What does a human rights based approach involve?</a:t>
            </a:r>
          </a:p>
          <a:p>
            <a:pPr lvl="0"/>
            <a:r>
              <a:rPr lang="en-GB" dirty="0"/>
              <a:t> The chapter by Martínez Herrero and Tedam talks about social work as a being complicit with colonialism. What do you think that means?</a:t>
            </a:r>
          </a:p>
          <a:p>
            <a:pPr lvl="0"/>
            <a:r>
              <a:rPr lang="en-GB" dirty="0"/>
              <a:t>Can social work be a human rights profession today?</a:t>
            </a:r>
          </a:p>
          <a:p>
            <a:pPr lvl="0"/>
            <a:r>
              <a:rPr lang="en-GB" dirty="0"/>
              <a:t>What have you learned from the course so far? How will you keep a reflective diary?  see below for an example</a:t>
            </a:r>
          </a:p>
          <a:p>
            <a:pPr marL="0" indent="0">
              <a:buNone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4596986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7070</TotalTime>
  <Words>326</Words>
  <Application>Microsoft Macintosh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Bierstadt</vt:lpstr>
      <vt:lpstr>Bradley Hand</vt:lpstr>
      <vt:lpstr>GestaltVTI</vt:lpstr>
      <vt:lpstr>PowerPoint Presentation</vt:lpstr>
      <vt:lpstr>Recap (10min)</vt:lpstr>
      <vt:lpstr>Activity (30-35min)</vt:lpstr>
      <vt:lpstr>PowerPoint Presentation</vt:lpstr>
      <vt:lpstr>First Tutorial: Getting Started Together</vt:lpstr>
      <vt:lpstr>Recap (10min)</vt:lpstr>
      <vt:lpstr>Activity (20-25min)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Rhoda Jiang</dc:creator>
  <cp:lastModifiedBy>Rhoda Jiang</cp:lastModifiedBy>
  <cp:revision>12</cp:revision>
  <dcterms:created xsi:type="dcterms:W3CDTF">2025-09-20T14:48:19Z</dcterms:created>
  <dcterms:modified xsi:type="dcterms:W3CDTF">2026-10-06T15:08:44Z</dcterms:modified>
</cp:coreProperties>
</file>