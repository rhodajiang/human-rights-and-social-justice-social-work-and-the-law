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9"/>
  </p:notesMasterIdLst>
  <p:sldIdLst>
    <p:sldId id="262" r:id="rId2"/>
    <p:sldId id="382" r:id="rId3"/>
    <p:sldId id="383" r:id="rId4"/>
    <p:sldId id="381" r:id="rId5"/>
    <p:sldId id="379" r:id="rId6"/>
    <p:sldId id="380" r:id="rId7"/>
    <p:sldId id="378" r:id="rId8"/>
    <p:sldId id="267" r:id="rId9"/>
    <p:sldId id="268" r:id="rId10"/>
    <p:sldId id="329" r:id="rId11"/>
    <p:sldId id="361" r:id="rId12"/>
    <p:sldId id="339" r:id="rId13"/>
    <p:sldId id="349" r:id="rId14"/>
    <p:sldId id="359" r:id="rId15"/>
    <p:sldId id="377" r:id="rId16"/>
    <p:sldId id="350" r:id="rId17"/>
    <p:sldId id="366" r:id="rId18"/>
    <p:sldId id="367" r:id="rId19"/>
    <p:sldId id="376" r:id="rId20"/>
    <p:sldId id="352" r:id="rId21"/>
    <p:sldId id="266" r:id="rId22"/>
    <p:sldId id="264" r:id="rId23"/>
    <p:sldId id="265" r:id="rId24"/>
    <p:sldId id="256" r:id="rId25"/>
    <p:sldId id="261" r:id="rId26"/>
    <p:sldId id="258" r:id="rId27"/>
    <p:sldId id="26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73"/>
    <p:restoredTop sz="94766"/>
  </p:normalViewPr>
  <p:slideViewPr>
    <p:cSldViewPr snapToGrid="0">
      <p:cViewPr varScale="1">
        <p:scale>
          <a:sx n="104" d="100"/>
          <a:sy n="104" d="100"/>
        </p:scale>
        <p:origin x="42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4E51A2-C2D7-5045-A31E-290C23ECAEE9}" type="datetimeFigureOut">
              <a:rPr lang="en-US" smtClean="0"/>
              <a:t>10/27/26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FDE65-FE62-204D-AB1B-045C5A1DB8F7}" type="slidenum">
              <a:rPr lang="en-US" smtClean="0"/>
              <a:t>‹#›</a:t>
            </a:fld>
            <a:endParaRPr lang="en-US"/>
          </a:p>
        </p:txBody>
      </p:sp>
    </p:spTree>
    <p:extLst>
      <p:ext uri="{BB962C8B-B14F-4D97-AF65-F5344CB8AC3E}">
        <p14:creationId xmlns:p14="http://schemas.microsoft.com/office/powerpoint/2010/main" val="321686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xfrm>
            <a:off x="80963" y="742950"/>
            <a:ext cx="6496050" cy="3654425"/>
          </a:xfrm>
          <a:ln>
            <a:solidFill>
              <a:srgbClr val="000000"/>
            </a:solidFill>
            <a:miter lim="800000"/>
            <a:headEnd/>
            <a:tailEnd/>
          </a:ln>
        </p:spPr>
      </p:sp>
      <p:sp>
        <p:nvSpPr>
          <p:cNvPr id="17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Times New Roman" panose="02020603050405020304" pitchFamily="18" charset="0"/>
            </a:endParaRPr>
          </a:p>
        </p:txBody>
      </p:sp>
      <p:sp>
        <p:nvSpPr>
          <p:cNvPr id="17412"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9pPr>
          </a:lstStyle>
          <a:p>
            <a:pPr>
              <a:spcBef>
                <a:spcPct val="0"/>
              </a:spcBef>
              <a:buClrTx/>
              <a:buFontTx/>
              <a:buNone/>
            </a:pPr>
            <a:fld id="{30638000-12B3-4C8E-AB77-A832972B493B}" type="slidenum">
              <a:rPr lang="en-GB" altLang="en-US" sz="1300" smtClean="0">
                <a:latin typeface="Calibri" panose="020F0502020204030204" pitchFamily="34" charset="0"/>
                <a:ea typeface="MS PGothic" panose="020B0600070205080204" pitchFamily="34" charset="-128"/>
                <a:cs typeface="Arial Unicode MS" pitchFamily="34" charset="-128"/>
              </a:rPr>
              <a:pPr>
                <a:spcBef>
                  <a:spcPct val="0"/>
                </a:spcBef>
                <a:buClrTx/>
                <a:buFontTx/>
                <a:buNone/>
              </a:pPr>
              <a:t>10</a:t>
            </a:fld>
            <a:endParaRPr lang="en-GB" altLang="en-US" sz="1300">
              <a:latin typeface="Calibri" panose="020F0502020204030204" pitchFamily="34" charset="0"/>
              <a:ea typeface="MS PGothic" panose="020B0600070205080204" pitchFamily="34" charset="-128"/>
              <a:cs typeface="Arial Unicode MS"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80963" y="742950"/>
            <a:ext cx="6496050" cy="3654425"/>
          </a:xfrm>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23556"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1pPr>
            <a:lvl2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2pPr>
            <a:lvl3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3pPr>
            <a:lvl4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4pPr>
            <a:lvl5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5pPr>
            <a:lvl6pPr marL="25146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6pPr>
            <a:lvl7pPr marL="29718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7pPr>
            <a:lvl8pPr marL="34290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8pPr>
            <a:lvl9pPr marL="38862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9pPr>
          </a:lstStyle>
          <a:p>
            <a:fld id="{1DC3CEC1-F24A-454F-A728-3A272B2422C7}" type="slidenum">
              <a:rPr lang="en-US" altLang="en-US" sz="1300" smtClean="0">
                <a:solidFill>
                  <a:srgbClr val="000000"/>
                </a:solidFill>
                <a:latin typeface="Times New Roman" panose="02020603050405020304" pitchFamily="18" charset="0"/>
              </a:rPr>
              <a:pPr/>
              <a:t>12</a:t>
            </a:fld>
            <a:endParaRPr lang="en-US" altLang="en-US" sz="1300">
              <a:solidFill>
                <a:srgbClr val="000000"/>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xfrm>
            <a:off x="220663" y="812800"/>
            <a:ext cx="7105650" cy="3997325"/>
          </a:xfrm>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latin typeface="Times New Roman" panose="02020603050405020304" pitchFamily="18" charset="0"/>
              </a:rPr>
              <a:t>Link to resource list here </a:t>
            </a:r>
          </a:p>
        </p:txBody>
      </p:sp>
      <p:sp>
        <p:nvSpPr>
          <p:cNvPr id="34820"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9pPr>
          </a:lstStyle>
          <a:p>
            <a:fld id="{2EAD06B7-08EE-4246-8840-BB59FEC4DC4E}" type="slidenum">
              <a:rPr lang="en-US" altLang="en-US" sz="1400" smtClean="0">
                <a:solidFill>
                  <a:srgbClr val="000000"/>
                </a:solidFill>
                <a:latin typeface="Times New Roman" panose="02020603050405020304" pitchFamily="18" charset="0"/>
              </a:rPr>
              <a:pPr/>
              <a:t>13</a:t>
            </a:fld>
            <a:endParaRPr lang="en-US" alt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638972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220663" y="812800"/>
            <a:ext cx="7105650" cy="3997325"/>
          </a:xfrm>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36868"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9pPr>
          </a:lstStyle>
          <a:p>
            <a:fld id="{CDD78267-8F92-4E6D-A178-02D1954FE429}" type="slidenum">
              <a:rPr lang="en-US" altLang="en-US" sz="1400" smtClean="0">
                <a:solidFill>
                  <a:srgbClr val="000000"/>
                </a:solidFill>
                <a:latin typeface="Times New Roman" panose="02020603050405020304" pitchFamily="18" charset="0"/>
              </a:rPr>
              <a:pPr/>
              <a:t>16</a:t>
            </a:fld>
            <a:endParaRPr lang="en-US" alt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110041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p:nvPr>
        </p:nvSpPr>
        <p:spPr/>
        <p:txBody>
          <a:bodyPr/>
          <a:lstStyle/>
          <a:p>
            <a:pPr>
              <a:defRPr/>
            </a:pPr>
            <a:fld id="{EDBC5AC9-95FD-4AD8-820E-3A4451B0A957}" type="slidenum">
              <a:rPr lang="en-US" altLang="en-US" smtClean="0"/>
              <a:pPr>
                <a:defRPr/>
              </a:pPr>
              <a:t>17</a:t>
            </a:fld>
            <a:endParaRPr lang="en-US" altLang="en-US"/>
          </a:p>
        </p:txBody>
      </p:sp>
    </p:spTree>
    <p:extLst>
      <p:ext uri="{BB962C8B-B14F-4D97-AF65-F5344CB8AC3E}">
        <p14:creationId xmlns:p14="http://schemas.microsoft.com/office/powerpoint/2010/main" val="2447533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p:nvPr>
        </p:nvSpPr>
        <p:spPr/>
        <p:txBody>
          <a:bodyPr/>
          <a:lstStyle/>
          <a:p>
            <a:pPr>
              <a:defRPr/>
            </a:pPr>
            <a:fld id="{EDBC5AC9-95FD-4AD8-820E-3A4451B0A957}" type="slidenum">
              <a:rPr lang="en-US" altLang="en-US" smtClean="0"/>
              <a:pPr>
                <a:defRPr/>
              </a:pPr>
              <a:t>18</a:t>
            </a:fld>
            <a:endParaRPr lang="en-US" altLang="en-US"/>
          </a:p>
        </p:txBody>
      </p:sp>
    </p:spTree>
    <p:extLst>
      <p:ext uri="{BB962C8B-B14F-4D97-AF65-F5344CB8AC3E}">
        <p14:creationId xmlns:p14="http://schemas.microsoft.com/office/powerpoint/2010/main" val="3875233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9C6FA2BC-7259-CA09-80E6-9D2590B49E90}"/>
              </a:ext>
            </a:extLst>
          </p:cNvPr>
          <p:cNvSpPr>
            <a:spLocks noGrp="1" noRot="1" noChangeAspect="1" noChangeArrowheads="1" noTextEdit="1"/>
          </p:cNvSpPr>
          <p:nvPr>
            <p:ph type="sldImg"/>
          </p:nvPr>
        </p:nvSpPr>
        <p:spPr/>
      </p:sp>
      <p:sp>
        <p:nvSpPr>
          <p:cNvPr id="41987" name="Notes Placeholder 2">
            <a:extLst>
              <a:ext uri="{FF2B5EF4-FFF2-40B4-BE49-F238E27FC236}">
                <a16:creationId xmlns:a16="http://schemas.microsoft.com/office/drawing/2014/main" id="{10AFDE73-5C05-B623-7D83-26BE9841B3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41988" name="Slide Number Placeholder 3">
            <a:extLst>
              <a:ext uri="{FF2B5EF4-FFF2-40B4-BE49-F238E27FC236}">
                <a16:creationId xmlns:a16="http://schemas.microsoft.com/office/drawing/2014/main" id="{3B9BF82F-92B6-ADAB-AC6F-833B2AF8C16C}"/>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9pPr>
          </a:lstStyle>
          <a:p>
            <a:pPr>
              <a:spcBef>
                <a:spcPct val="0"/>
              </a:spcBef>
              <a:buClrTx/>
              <a:buFontTx/>
              <a:buNone/>
            </a:pPr>
            <a:fld id="{0AE75BFE-446A-4FC8-B53B-24DEE8E284B6}" type="slidenum">
              <a:rPr lang="en-US" altLang="en-US" sz="1300"/>
              <a:pPr>
                <a:spcBef>
                  <a:spcPct val="0"/>
                </a:spcBef>
                <a:buClrTx/>
                <a:buFontTx/>
                <a:buNone/>
              </a:pPr>
              <a:t>19</a:t>
            </a:fld>
            <a:endParaRPr lang="en-US" altLang="en-US"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xfrm>
            <a:off x="220663" y="812800"/>
            <a:ext cx="7105650" cy="3997325"/>
          </a:xfrm>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Times New Roman" panose="02020603050405020304" pitchFamily="18" charset="0"/>
            </a:endParaRPr>
          </a:p>
        </p:txBody>
      </p:sp>
      <p:sp>
        <p:nvSpPr>
          <p:cNvPr id="4" name="Slide Number Placeholder 3"/>
          <p:cNvSpPr>
            <a:spLocks noGrp="1"/>
          </p:cNvSpPr>
          <p:nvPr>
            <p:ph type="sldNum" sz="quarter"/>
          </p:nvPr>
        </p:nvSpPr>
        <p:spPr/>
        <p:txBody>
          <a:bodyPr/>
          <a:lstStyle/>
          <a:p>
            <a:pPr defTabSz="914400" fontAlgn="auto" hangingPunct="1">
              <a:lnSpc>
                <a:spcPct val="100000"/>
              </a:lnSpc>
              <a:spcBef>
                <a:spcPts val="0"/>
              </a:spcBef>
              <a:spcAft>
                <a:spcPts val="0"/>
              </a:spcAft>
              <a:buSzTx/>
              <a:tabLst/>
              <a:defRPr/>
            </a:pPr>
            <a:fld id="{05777DB3-79D8-4836-B03F-DDDD6B9A1476}" type="slidenum">
              <a:rPr lang="en-GB" sz="1200" smtClean="0">
                <a:solidFill>
                  <a:prstClr val="black"/>
                </a:solidFill>
                <a:latin typeface="Calibri" panose="020F0502020204030204"/>
                <a:ea typeface="+mn-ea"/>
              </a:rPr>
              <a:pPr defTabSz="914400" fontAlgn="auto" hangingPunct="1">
                <a:lnSpc>
                  <a:spcPct val="100000"/>
                </a:lnSpc>
                <a:spcBef>
                  <a:spcPts val="0"/>
                </a:spcBef>
                <a:spcAft>
                  <a:spcPts val="0"/>
                </a:spcAft>
                <a:buSzTx/>
                <a:tabLst/>
                <a:defRPr/>
              </a:pPr>
              <a:t>20</a:t>
            </a:fld>
            <a:endParaRPr lang="en-GB" sz="1200">
              <a:solidFill>
                <a:prstClr val="black"/>
              </a:solidFill>
              <a:latin typeface="Calibri" panose="020F0502020204030204"/>
              <a:ea typeface="+mn-ea"/>
            </a:endParaRPr>
          </a:p>
        </p:txBody>
      </p:sp>
    </p:spTree>
    <p:extLst>
      <p:ext uri="{BB962C8B-B14F-4D97-AF65-F5344CB8AC3E}">
        <p14:creationId xmlns:p14="http://schemas.microsoft.com/office/powerpoint/2010/main" val="58943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10/27/26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10/27/26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registryservices.ed.ac.uk/exceptional-circumstanc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ov.scot/publications/statutory-guidance-accompany-social-care-self-directed-support-scotland-act-2013-2"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citethemrightonline-com.ezproxy.is.ed.ac.uk/"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www.ed.ac.uk/institute-academic-development/undergraduate/good-practice"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C11E1-FEE4-0786-8ED9-508A83B6A12A}"/>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9093066-8239-7EEA-2A75-2F2C8B80DB5B}"/>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3" name="Subtitle 2">
            <a:extLst>
              <a:ext uri="{FF2B5EF4-FFF2-40B4-BE49-F238E27FC236}">
                <a16:creationId xmlns:a16="http://schemas.microsoft.com/office/drawing/2014/main" id="{CF7A3FC4-CE2E-00E4-5FA3-4BBE0FD9CA77}"/>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10067197-3AF9-9771-5B6E-8F981AF09968}"/>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Human Rights and Social Justice: </a:t>
            </a:r>
          </a:p>
          <a:p>
            <a:pPr algn="ctr"/>
            <a:r>
              <a:rPr lang="en-US" sz="6600" b="1" dirty="0">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89E9597E-D990-77C2-6C33-FDDAF27E2314}"/>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10" name="TextBox 9">
            <a:extLst>
              <a:ext uri="{FF2B5EF4-FFF2-40B4-BE49-F238E27FC236}">
                <a16:creationId xmlns:a16="http://schemas.microsoft.com/office/drawing/2014/main" id="{467CB549-BE6B-D234-5E84-17084F3630EC}"/>
              </a:ext>
            </a:extLst>
          </p:cNvPr>
          <p:cNvSpPr txBox="1"/>
          <p:nvPr/>
        </p:nvSpPr>
        <p:spPr>
          <a:xfrm>
            <a:off x="-3450336" y="-1706880"/>
            <a:ext cx="184731" cy="369332"/>
          </a:xfrm>
          <a:prstGeom prst="rect">
            <a:avLst/>
          </a:prstGeom>
          <a:noFill/>
        </p:spPr>
        <p:txBody>
          <a:bodyPr wrap="none" rtlCol="0">
            <a:spAutoFit/>
          </a:bodyPr>
          <a:lstStyle/>
          <a:p>
            <a:endParaRPr lang="en-US"/>
          </a:p>
        </p:txBody>
      </p:sp>
      <p:sp>
        <p:nvSpPr>
          <p:cNvPr id="2" name="Title 1">
            <a:extLst>
              <a:ext uri="{FF2B5EF4-FFF2-40B4-BE49-F238E27FC236}">
                <a16:creationId xmlns:a16="http://schemas.microsoft.com/office/drawing/2014/main" id="{E193F5D6-FFEA-B1E7-896A-002FB10E31C9}"/>
              </a:ext>
            </a:extLst>
          </p:cNvPr>
          <p:cNvSpPr txBox="1">
            <a:spLocks/>
          </p:cNvSpPr>
          <p:nvPr/>
        </p:nvSpPr>
        <p:spPr>
          <a:xfrm>
            <a:off x="435862" y="450032"/>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W5 Tutorial</a:t>
            </a:r>
          </a:p>
        </p:txBody>
      </p:sp>
    </p:spTree>
    <p:extLst>
      <p:ext uri="{BB962C8B-B14F-4D97-AF65-F5344CB8AC3E}">
        <p14:creationId xmlns:p14="http://schemas.microsoft.com/office/powerpoint/2010/main" val="480780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17D82-1ABF-77C9-04C9-EE525BF92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D86CB-D5CF-A4C8-9178-A0E5E4B30C55}"/>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86049988-5FCF-4654-8146-D580D3DE007B}"/>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2546466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3C95-7ECE-E186-10E6-77EFF6659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09113A-0F87-9170-4A5E-23BFA18BAE6B}"/>
              </a:ext>
            </a:extLst>
          </p:cNvPr>
          <p:cNvSpPr>
            <a:spLocks noGrp="1"/>
          </p:cNvSpPr>
          <p:nvPr>
            <p:ph type="title"/>
          </p:nvPr>
        </p:nvSpPr>
        <p:spPr/>
        <p:txBody>
          <a:bodyPr/>
          <a:lstStyle/>
          <a:p>
            <a:r>
              <a:rPr lang="en-US"/>
              <a:t>Activity (</a:t>
            </a:r>
            <a:r>
              <a:rPr lang="en-US" altLang="zh-CN"/>
              <a:t>35</a:t>
            </a:r>
            <a:r>
              <a:rPr lang="en-US"/>
              <a:t>-</a:t>
            </a:r>
            <a:r>
              <a:rPr lang="en-US" altLang="zh-CN"/>
              <a:t>40</a:t>
            </a:r>
            <a:r>
              <a:rPr lang="en-US"/>
              <a:t>min</a:t>
            </a:r>
            <a:r>
              <a:rPr lang="en-US" dirty="0"/>
              <a:t>)</a:t>
            </a:r>
          </a:p>
        </p:txBody>
      </p:sp>
      <p:sp>
        <p:nvSpPr>
          <p:cNvPr id="3" name="Content Placeholder 2">
            <a:extLst>
              <a:ext uri="{FF2B5EF4-FFF2-40B4-BE49-F238E27FC236}">
                <a16:creationId xmlns:a16="http://schemas.microsoft.com/office/drawing/2014/main" id="{0530E4B5-0532-F728-3ED8-29A0C5222E2A}"/>
              </a:ext>
            </a:extLst>
          </p:cNvPr>
          <p:cNvSpPr>
            <a:spLocks noGrp="1"/>
          </p:cNvSpPr>
          <p:nvPr>
            <p:ph idx="1"/>
          </p:nvPr>
        </p:nvSpPr>
        <p:spPr>
          <a:xfrm>
            <a:off x="521208" y="2015067"/>
            <a:ext cx="11155680" cy="4330869"/>
          </a:xfrm>
        </p:spPr>
        <p:txBody>
          <a:bodyPr>
            <a:normAutofit/>
          </a:bodyPr>
          <a:lstStyle/>
          <a:p>
            <a:pPr marL="0" indent="0">
              <a:buNone/>
            </a:pPr>
            <a:endParaRPr lang="en-GB" dirty="0"/>
          </a:p>
          <a:p>
            <a:pPr marL="0" indent="0">
              <a:buNone/>
            </a:pPr>
            <a:r>
              <a:rPr lang="en-GB" sz="2400" b="1" dirty="0"/>
              <a:t>Task</a:t>
            </a:r>
          </a:p>
          <a:p>
            <a:pPr marL="0" indent="0">
              <a:buNone/>
            </a:pPr>
            <a:r>
              <a:rPr lang="en-GB"/>
              <a:t>From </a:t>
            </a:r>
            <a:r>
              <a:rPr lang="en-GB" dirty="0"/>
              <a:t>this week’s lectures </a:t>
            </a:r>
            <a:r>
              <a:rPr lang="en-GB"/>
              <a:t>and reading:</a:t>
            </a:r>
          </a:p>
          <a:p>
            <a:pPr marL="0" indent="0">
              <a:buNone/>
            </a:pPr>
            <a:endParaRPr lang="en-GB" dirty="0"/>
          </a:p>
          <a:p>
            <a:r>
              <a:rPr lang="en-GB" dirty="0"/>
              <a:t>How can children and young people who are looked after or 'in care' have a voice?</a:t>
            </a:r>
          </a:p>
          <a:p>
            <a:r>
              <a:rPr lang="en-GB" dirty="0"/>
              <a:t>How can social workers use the United Nations Convention on the Rights of the Child to support children?</a:t>
            </a:r>
          </a:p>
          <a:p>
            <a:r>
              <a:rPr lang="en-GB" dirty="0"/>
              <a:t>What difference does it make that the United Nations Convention on the Rights of the Child has been incorporated into Scottish law?</a:t>
            </a:r>
          </a:p>
        </p:txBody>
      </p:sp>
    </p:spTree>
    <p:extLst>
      <p:ext uri="{BB962C8B-B14F-4D97-AF65-F5344CB8AC3E}">
        <p14:creationId xmlns:p14="http://schemas.microsoft.com/office/powerpoint/2010/main" val="1625203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C9109-7DDB-B619-8B52-85B281E71AC1}"/>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5DFE2441-AB94-DCF7-32D4-39B167AC515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3" name="Subtitle 2">
            <a:extLst>
              <a:ext uri="{FF2B5EF4-FFF2-40B4-BE49-F238E27FC236}">
                <a16:creationId xmlns:a16="http://schemas.microsoft.com/office/drawing/2014/main" id="{95C57CEE-55F7-1E16-AA73-892956146C83}"/>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B4FBE000-83AF-5481-CBB5-59EEEAEF147D}"/>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Human Rights and Social Justice: </a:t>
            </a:r>
          </a:p>
          <a:p>
            <a:pPr algn="ctr"/>
            <a:r>
              <a:rPr lang="en-US" sz="6600" b="1" dirty="0">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82989BD3-2A5F-2EDC-7881-DDCD1E4ADFF7}"/>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10" name="TextBox 9">
            <a:extLst>
              <a:ext uri="{FF2B5EF4-FFF2-40B4-BE49-F238E27FC236}">
                <a16:creationId xmlns:a16="http://schemas.microsoft.com/office/drawing/2014/main" id="{FC96A84C-2147-7655-05E2-75FCDE3A40BD}"/>
              </a:ext>
            </a:extLst>
          </p:cNvPr>
          <p:cNvSpPr txBox="1"/>
          <p:nvPr/>
        </p:nvSpPr>
        <p:spPr>
          <a:xfrm>
            <a:off x="-3450336" y="-1706880"/>
            <a:ext cx="184731" cy="369332"/>
          </a:xfrm>
          <a:prstGeom prst="rect">
            <a:avLst/>
          </a:prstGeom>
          <a:noFill/>
        </p:spPr>
        <p:txBody>
          <a:bodyPr wrap="none" rtlCol="0">
            <a:spAutoFit/>
          </a:bodyPr>
          <a:lstStyle/>
          <a:p>
            <a:endParaRPr lang="en-US"/>
          </a:p>
        </p:txBody>
      </p:sp>
      <p:sp>
        <p:nvSpPr>
          <p:cNvPr id="2" name="Title 1">
            <a:extLst>
              <a:ext uri="{FF2B5EF4-FFF2-40B4-BE49-F238E27FC236}">
                <a16:creationId xmlns:a16="http://schemas.microsoft.com/office/drawing/2014/main" id="{43C91B46-1835-6214-B788-5B37894D93A4}"/>
              </a:ext>
            </a:extLst>
          </p:cNvPr>
          <p:cNvSpPr txBox="1">
            <a:spLocks/>
          </p:cNvSpPr>
          <p:nvPr/>
        </p:nvSpPr>
        <p:spPr>
          <a:xfrm>
            <a:off x="435862" y="450032"/>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W6 Tutorial</a:t>
            </a:r>
          </a:p>
        </p:txBody>
      </p:sp>
    </p:spTree>
    <p:extLst>
      <p:ext uri="{BB962C8B-B14F-4D97-AF65-F5344CB8AC3E}">
        <p14:creationId xmlns:p14="http://schemas.microsoft.com/office/powerpoint/2010/main" val="2868892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381D4-6C09-3C09-80A3-E92FEBC38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11E4F-5F21-2C17-9309-10495C28DAEB}"/>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B5DA9CE5-9BAA-DA36-AC9D-4662963BF2CC}"/>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2554205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BB1E8-90F6-6B81-EEB6-3D3E2CC8E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CF7B3-8755-F00D-B7DD-9EB6793D85AE}"/>
              </a:ext>
            </a:extLst>
          </p:cNvPr>
          <p:cNvSpPr>
            <a:spLocks noGrp="1"/>
          </p:cNvSpPr>
          <p:nvPr>
            <p:ph type="title"/>
          </p:nvPr>
        </p:nvSpPr>
        <p:spPr/>
        <p:txBody>
          <a:bodyPr/>
          <a:lstStyle/>
          <a:p>
            <a:r>
              <a:rPr lang="en-US"/>
              <a:t>Activity (</a:t>
            </a:r>
            <a:r>
              <a:rPr lang="en-US" altLang="zh-CN"/>
              <a:t>35</a:t>
            </a:r>
            <a:r>
              <a:rPr lang="en-US"/>
              <a:t>-</a:t>
            </a:r>
            <a:r>
              <a:rPr lang="en-US" altLang="zh-CN"/>
              <a:t>40</a:t>
            </a:r>
            <a:r>
              <a:rPr lang="en-US"/>
              <a:t>min</a:t>
            </a:r>
            <a:r>
              <a:rPr lang="en-US" dirty="0"/>
              <a:t>)</a:t>
            </a:r>
          </a:p>
        </p:txBody>
      </p:sp>
      <p:sp>
        <p:nvSpPr>
          <p:cNvPr id="3" name="Content Placeholder 2">
            <a:extLst>
              <a:ext uri="{FF2B5EF4-FFF2-40B4-BE49-F238E27FC236}">
                <a16:creationId xmlns:a16="http://schemas.microsoft.com/office/drawing/2014/main" id="{DBCE3DAE-7E37-656C-6810-1D3B143FB1FB}"/>
              </a:ext>
            </a:extLst>
          </p:cNvPr>
          <p:cNvSpPr>
            <a:spLocks noGrp="1"/>
          </p:cNvSpPr>
          <p:nvPr>
            <p:ph idx="1"/>
          </p:nvPr>
        </p:nvSpPr>
        <p:spPr>
          <a:xfrm>
            <a:off x="521208" y="2015067"/>
            <a:ext cx="11155680" cy="4330869"/>
          </a:xfrm>
        </p:spPr>
        <p:txBody>
          <a:bodyPr>
            <a:normAutofit/>
          </a:bodyPr>
          <a:lstStyle/>
          <a:p>
            <a:pPr marL="0" indent="0">
              <a:buNone/>
            </a:pPr>
            <a:endParaRPr lang="en-GB" dirty="0"/>
          </a:p>
          <a:p>
            <a:pPr marL="0" indent="0">
              <a:buNone/>
            </a:pPr>
            <a:r>
              <a:rPr lang="en-GB" sz="2400" b="1" dirty="0"/>
              <a:t>Task</a:t>
            </a:r>
          </a:p>
          <a:p>
            <a:pPr marL="0" indent="0">
              <a:buNone/>
            </a:pPr>
            <a:r>
              <a:rPr lang="en-GB" dirty="0"/>
              <a:t>Listen to the podcast by Baroness Lister and read the IFSW and BASW papers</a:t>
            </a:r>
          </a:p>
          <a:p>
            <a:pPr marL="0" indent="0">
              <a:buNone/>
            </a:pPr>
            <a:endParaRPr lang="en-GB" dirty="0"/>
          </a:p>
          <a:p>
            <a:pPr marL="0" indent="0">
              <a:buNone/>
            </a:pPr>
            <a:r>
              <a:rPr lang="en-GB" dirty="0"/>
              <a:t>Questions for the tutorial:</a:t>
            </a:r>
          </a:p>
          <a:p>
            <a:r>
              <a:rPr lang="en-GB" dirty="0"/>
              <a:t>What is the relationship between social care and poverty?</a:t>
            </a:r>
          </a:p>
          <a:p>
            <a:r>
              <a:rPr lang="en-GB" dirty="0"/>
              <a:t>What can social workers do to address poverty issues?</a:t>
            </a:r>
          </a:p>
          <a:p>
            <a:pPr lvl="0"/>
            <a:r>
              <a:rPr lang="en-GB" dirty="0"/>
              <a:t>What do you understand by the ‘PANEL’ principles (Scottish Human Rights Commission)? </a:t>
            </a:r>
          </a:p>
          <a:p>
            <a:pPr lvl="0"/>
            <a:r>
              <a:rPr lang="en-GB" dirty="0"/>
              <a:t>How could these be used in social work practice?</a:t>
            </a:r>
            <a:br>
              <a:rPr lang="en-GB" dirty="0"/>
            </a:br>
            <a:endParaRPr lang="en-GB" dirty="0"/>
          </a:p>
        </p:txBody>
      </p:sp>
    </p:spTree>
    <p:extLst>
      <p:ext uri="{BB962C8B-B14F-4D97-AF65-F5344CB8AC3E}">
        <p14:creationId xmlns:p14="http://schemas.microsoft.com/office/powerpoint/2010/main" val="4244927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6D92C-3DE3-2920-9C1D-38C680EA14E3}"/>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F2B7EE7-90EE-FD03-2690-927DF88A011B}"/>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3" name="Subtitle 2">
            <a:extLst>
              <a:ext uri="{FF2B5EF4-FFF2-40B4-BE49-F238E27FC236}">
                <a16:creationId xmlns:a16="http://schemas.microsoft.com/office/drawing/2014/main" id="{4435B2FC-81ED-FC7E-ED1C-17389BC296A1}"/>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C01E1BE1-B8EA-0BEA-A585-992B36AF66DC}"/>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Human Rights and Social Justice: </a:t>
            </a:r>
          </a:p>
          <a:p>
            <a:pPr algn="ctr"/>
            <a:r>
              <a:rPr lang="en-US" sz="6600" b="1" dirty="0">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A20A884D-D695-855E-2710-53A050F27B0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10" name="TextBox 9">
            <a:extLst>
              <a:ext uri="{FF2B5EF4-FFF2-40B4-BE49-F238E27FC236}">
                <a16:creationId xmlns:a16="http://schemas.microsoft.com/office/drawing/2014/main" id="{AC43517A-B412-9081-3487-C600F5604218}"/>
              </a:ext>
            </a:extLst>
          </p:cNvPr>
          <p:cNvSpPr txBox="1"/>
          <p:nvPr/>
        </p:nvSpPr>
        <p:spPr>
          <a:xfrm>
            <a:off x="-3450336" y="-1706880"/>
            <a:ext cx="184731" cy="369332"/>
          </a:xfrm>
          <a:prstGeom prst="rect">
            <a:avLst/>
          </a:prstGeom>
          <a:noFill/>
        </p:spPr>
        <p:txBody>
          <a:bodyPr wrap="none" rtlCol="0">
            <a:spAutoFit/>
          </a:bodyPr>
          <a:lstStyle/>
          <a:p>
            <a:endParaRPr lang="en-US"/>
          </a:p>
        </p:txBody>
      </p:sp>
      <p:sp>
        <p:nvSpPr>
          <p:cNvPr id="2" name="Title 1">
            <a:extLst>
              <a:ext uri="{FF2B5EF4-FFF2-40B4-BE49-F238E27FC236}">
                <a16:creationId xmlns:a16="http://schemas.microsoft.com/office/drawing/2014/main" id="{6CFA603B-40D4-3C65-C957-62F56B13EE16}"/>
              </a:ext>
            </a:extLst>
          </p:cNvPr>
          <p:cNvSpPr txBox="1">
            <a:spLocks/>
          </p:cNvSpPr>
          <p:nvPr/>
        </p:nvSpPr>
        <p:spPr>
          <a:xfrm>
            <a:off x="435862" y="450032"/>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W4 Tutorial</a:t>
            </a:r>
          </a:p>
        </p:txBody>
      </p:sp>
    </p:spTree>
    <p:extLst>
      <p:ext uri="{BB962C8B-B14F-4D97-AF65-F5344CB8AC3E}">
        <p14:creationId xmlns:p14="http://schemas.microsoft.com/office/powerpoint/2010/main" val="448700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2FDA-6B9C-28D4-06BB-B0828FB9E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EDD04-11E9-4B4F-588E-B7D33CCA8B6E}"/>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B03B41FD-8840-3B87-64E3-702772ACA1DF}"/>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1402159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26978-44FC-E103-A0A5-B336318AE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A6BB5-BAAC-7374-0BFC-EEFF9B9C31E4}"/>
              </a:ext>
            </a:extLst>
          </p:cNvPr>
          <p:cNvSpPr>
            <a:spLocks noGrp="1"/>
          </p:cNvSpPr>
          <p:nvPr>
            <p:ph type="title"/>
          </p:nvPr>
        </p:nvSpPr>
        <p:spPr/>
        <p:txBody>
          <a:bodyPr/>
          <a:lstStyle/>
          <a:p>
            <a:r>
              <a:rPr lang="en-US" dirty="0"/>
              <a:t>Activity (25-30min)</a:t>
            </a:r>
          </a:p>
        </p:txBody>
      </p:sp>
      <p:sp>
        <p:nvSpPr>
          <p:cNvPr id="3" name="Content Placeholder 2">
            <a:extLst>
              <a:ext uri="{FF2B5EF4-FFF2-40B4-BE49-F238E27FC236}">
                <a16:creationId xmlns:a16="http://schemas.microsoft.com/office/drawing/2014/main" id="{66721436-7999-4A8D-A47B-C8C0EEA8E7EC}"/>
              </a:ext>
            </a:extLst>
          </p:cNvPr>
          <p:cNvSpPr>
            <a:spLocks noGrp="1"/>
          </p:cNvSpPr>
          <p:nvPr>
            <p:ph idx="1"/>
          </p:nvPr>
        </p:nvSpPr>
        <p:spPr>
          <a:xfrm>
            <a:off x="521208" y="2015067"/>
            <a:ext cx="11155680" cy="4330869"/>
          </a:xfrm>
        </p:spPr>
        <p:txBody>
          <a:bodyPr>
            <a:normAutofit/>
          </a:bodyPr>
          <a:lstStyle/>
          <a:p>
            <a:pPr marL="0" indent="0">
              <a:buNone/>
            </a:pPr>
            <a:endParaRPr lang="en-GB" dirty="0"/>
          </a:p>
          <a:p>
            <a:pPr marL="0" indent="0">
              <a:buNone/>
            </a:pPr>
            <a:r>
              <a:rPr lang="en-GB" sz="2400" b="1" dirty="0"/>
              <a:t>Task</a:t>
            </a:r>
          </a:p>
          <a:p>
            <a:pPr marL="0" indent="0">
              <a:buNone/>
            </a:pPr>
            <a:r>
              <a:rPr lang="en-GB" dirty="0"/>
              <a:t>The reading provides information about refugees and asylum seekers in different settings, including in Uganda and in Scotland.</a:t>
            </a:r>
          </a:p>
          <a:p>
            <a:r>
              <a:rPr lang="en-GB" dirty="0"/>
              <a:t>What did you learn from the reading?</a:t>
            </a:r>
          </a:p>
          <a:p>
            <a:r>
              <a:rPr lang="en-GB" dirty="0"/>
              <a:t>What are the key issues for social work practice in supporting refugees and asylum seekers?</a:t>
            </a:r>
          </a:p>
          <a:p>
            <a:r>
              <a:rPr lang="en-GB" dirty="0"/>
              <a:t> How can you use human rights principles to support refugees and asylum seekers?</a:t>
            </a:r>
          </a:p>
        </p:txBody>
      </p:sp>
    </p:spTree>
    <p:extLst>
      <p:ext uri="{BB962C8B-B14F-4D97-AF65-F5344CB8AC3E}">
        <p14:creationId xmlns:p14="http://schemas.microsoft.com/office/powerpoint/2010/main" val="817646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2896069" y="1252989"/>
            <a:ext cx="7240890" cy="1468916"/>
          </a:xfrm>
        </p:spPr>
        <p:txBody>
          <a:bodyPr>
            <a:normAutofit/>
          </a:bodyPr>
          <a:lstStyle/>
          <a:p>
            <a:pPr algn="ctr" eaLnBrk="1" hangingPunct="1">
              <a:defRPr/>
            </a:pPr>
            <a:r>
              <a:rPr lang="en-GB" altLang="en-US" sz="3200" dirty="0"/>
              <a:t>Human Rights and Social Justice: social work and the law</a:t>
            </a:r>
            <a:endParaRPr lang="en-US" altLang="en-US" sz="3200" dirty="0"/>
          </a:p>
        </p:txBody>
      </p:sp>
      <p:sp>
        <p:nvSpPr>
          <p:cNvPr id="3" name="Subtitle 2"/>
          <p:cNvSpPr>
            <a:spLocks noGrp="1"/>
          </p:cNvSpPr>
          <p:nvPr>
            <p:ph type="subTitle" idx="1"/>
          </p:nvPr>
        </p:nvSpPr>
        <p:spPr>
          <a:xfrm>
            <a:off x="3090484" y="4408279"/>
            <a:ext cx="6401304" cy="1752618"/>
          </a:xfrm>
        </p:spPr>
        <p:txBody>
          <a:bodyPr/>
          <a:lstStyle/>
          <a:p>
            <a:pPr eaLnBrk="1" hangingPunct="1">
              <a:defRPr/>
            </a:pPr>
            <a:r>
              <a:rPr lang="en-US" sz="3200" dirty="0"/>
              <a:t>Dr Jackie Gulland</a:t>
            </a:r>
          </a:p>
          <a:p>
            <a:pPr eaLnBrk="1" hangingPunct="1">
              <a:defRPr/>
            </a:pPr>
            <a:r>
              <a:rPr lang="en-US" sz="3200" dirty="0"/>
              <a:t>Jackie.gulland@ed.ac.uk</a:t>
            </a:r>
          </a:p>
        </p:txBody>
      </p:sp>
      <p:sp>
        <p:nvSpPr>
          <p:cNvPr id="16388" name="TextBox 1"/>
          <p:cNvSpPr txBox="1">
            <a:spLocks noChangeArrowheads="1"/>
          </p:cNvSpPr>
          <p:nvPr/>
        </p:nvSpPr>
        <p:spPr bwMode="auto">
          <a:xfrm>
            <a:off x="3613245" y="3364196"/>
            <a:ext cx="6075838"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GB" altLang="en-US" sz="2540" dirty="0"/>
              <a:t>Short essay advice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2593E-B53E-5496-A01A-A3FC104CD10C}"/>
              </a:ext>
            </a:extLst>
          </p:cNvPr>
          <p:cNvSpPr>
            <a:spLocks noGrp="1"/>
          </p:cNvSpPr>
          <p:nvPr>
            <p:ph type="title"/>
          </p:nvPr>
        </p:nvSpPr>
        <p:spPr/>
        <p:txBody>
          <a:bodyPr/>
          <a:lstStyle/>
          <a:p>
            <a:r>
              <a:rPr lang="en-GB" dirty="0"/>
              <a:t>Purpose of the assignment</a:t>
            </a:r>
          </a:p>
        </p:txBody>
      </p:sp>
      <p:sp>
        <p:nvSpPr>
          <p:cNvPr id="3" name="Content Placeholder 2">
            <a:extLst>
              <a:ext uri="{FF2B5EF4-FFF2-40B4-BE49-F238E27FC236}">
                <a16:creationId xmlns:a16="http://schemas.microsoft.com/office/drawing/2014/main" id="{B7E12152-8835-C79B-0967-7CF45B21A2B6}"/>
              </a:ext>
            </a:extLst>
          </p:cNvPr>
          <p:cNvSpPr>
            <a:spLocks noGrp="1"/>
          </p:cNvSpPr>
          <p:nvPr>
            <p:ph idx="1"/>
          </p:nvPr>
        </p:nvSpPr>
        <p:spPr>
          <a:xfrm>
            <a:off x="1784705" y="1981240"/>
            <a:ext cx="9492895" cy="4114692"/>
          </a:xfrm>
        </p:spPr>
        <p:txBody>
          <a:bodyPr/>
          <a:lstStyle/>
          <a:p>
            <a:r>
              <a:rPr lang="en-GB" dirty="0"/>
              <a:t>For you to demonstrate your learning on this course</a:t>
            </a:r>
          </a:p>
          <a:p>
            <a:r>
              <a:rPr lang="en-GB" dirty="0"/>
              <a:t>For you to demonstrate your ability to explain some of the concepts and topics that we have covered</a:t>
            </a:r>
          </a:p>
          <a:p>
            <a:endParaRPr lang="en-GB" dirty="0"/>
          </a:p>
          <a:p>
            <a:pPr marL="0" indent="0">
              <a:buNone/>
            </a:pPr>
            <a:r>
              <a:rPr lang="en-GB" dirty="0"/>
              <a:t>NOT</a:t>
            </a:r>
          </a:p>
          <a:p>
            <a:r>
              <a:rPr lang="en-GB" dirty="0"/>
              <a:t>Intended to trick or catch you out</a:t>
            </a:r>
          </a:p>
          <a:p>
            <a:r>
              <a:rPr lang="en-GB" dirty="0"/>
              <a:t>a need for you to go off and research a completely new topic that we have not covered</a:t>
            </a:r>
          </a:p>
        </p:txBody>
      </p:sp>
    </p:spTree>
    <p:extLst>
      <p:ext uri="{BB962C8B-B14F-4D97-AF65-F5344CB8AC3E}">
        <p14:creationId xmlns:p14="http://schemas.microsoft.com/office/powerpoint/2010/main" val="2114553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GB" altLang="en-US"/>
              <a:t>Things to think about</a:t>
            </a:r>
          </a:p>
        </p:txBody>
      </p:sp>
      <p:sp>
        <p:nvSpPr>
          <p:cNvPr id="22531" name="Content Placeholder 2"/>
          <p:cNvSpPr>
            <a:spLocks noGrp="1"/>
          </p:cNvSpPr>
          <p:nvPr>
            <p:ph idx="1"/>
          </p:nvPr>
        </p:nvSpPr>
        <p:spPr>
          <a:xfrm>
            <a:off x="1850028" y="1981687"/>
            <a:ext cx="8883879" cy="4114404"/>
          </a:xfrm>
        </p:spPr>
        <p:txBody>
          <a:bodyPr/>
          <a:lstStyle/>
          <a:p>
            <a:r>
              <a:rPr lang="en-GB" altLang="en-US" sz="2540" dirty="0"/>
              <a:t>Write this as a briefing paper </a:t>
            </a:r>
          </a:p>
          <a:p>
            <a:r>
              <a:rPr lang="en-GB" altLang="en-US" sz="2540" dirty="0"/>
              <a:t>Provide a clear structure and headings</a:t>
            </a:r>
          </a:p>
          <a:p>
            <a:r>
              <a:rPr lang="en-GB" altLang="en-US" sz="2540" dirty="0"/>
              <a:t>You will have to upload a Word document so don’t use graphics or images</a:t>
            </a:r>
          </a:p>
          <a:p>
            <a:r>
              <a:rPr lang="en-GB" altLang="en-US" sz="2540" dirty="0"/>
              <a:t>Make sure you provide adequate references for your sources</a:t>
            </a:r>
          </a:p>
          <a:p>
            <a:r>
              <a:rPr lang="en-GB" altLang="en-US" sz="2540" dirty="0"/>
              <a:t>Don’t plagiarise (e.g., make sure you don’t simply reuse something you’ve found online or using AI or in one of the readings)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GB" dirty="0">
                <a:ea typeface="ＭＳ Ｐゴシック" panose="020B0600070205080204" pitchFamily="34" charset="-128"/>
              </a:rPr>
              <a:t>Using the resource list</a:t>
            </a:r>
          </a:p>
        </p:txBody>
      </p:sp>
      <p:sp>
        <p:nvSpPr>
          <p:cNvPr id="6" name="Content Placeholder 5">
            <a:extLst>
              <a:ext uri="{FF2B5EF4-FFF2-40B4-BE49-F238E27FC236}">
                <a16:creationId xmlns:a16="http://schemas.microsoft.com/office/drawing/2014/main" id="{2932E2AF-41CC-4ABA-B48F-225051279FDA}"/>
              </a:ext>
            </a:extLst>
          </p:cNvPr>
          <p:cNvSpPr>
            <a:spLocks noGrp="1"/>
          </p:cNvSpPr>
          <p:nvPr>
            <p:ph idx="1"/>
          </p:nvPr>
        </p:nvSpPr>
        <p:spPr>
          <a:xfrm>
            <a:off x="1850029" y="1981240"/>
            <a:ext cx="9427571" cy="4114692"/>
          </a:xfrm>
        </p:spPr>
        <p:txBody>
          <a:bodyPr>
            <a:normAutofit lnSpcReduction="10000"/>
          </a:bodyPr>
          <a:lstStyle/>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resource list provides further reading on each of the topics covered by the course and has a section on study skills and report writing.</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Use the resource list to back up the information which we have provided in lectures. Individual lecturers may also have provided references on their slides</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sections on ‘Social Work and the Law’ and ‘Human Rights and Equality’ also have useful books which have sections on particular areas of human rights</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section on ‘Resources for study skills and report writing’ provides advice on report writing</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Section on ‘What is Social Work’ is particularly useful for students who are not on the social work programme and may be helpful in providing examples of particular areas of social work practice</a:t>
            </a:r>
          </a:p>
          <a:p>
            <a:endParaRPr lang="en-GB" dirty="0"/>
          </a:p>
        </p:txBody>
      </p:sp>
    </p:spTree>
    <p:extLst>
      <p:ext uri="{BB962C8B-B14F-4D97-AF65-F5344CB8AC3E}">
        <p14:creationId xmlns:p14="http://schemas.microsoft.com/office/powerpoint/2010/main" val="294741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EA136396-404B-4FF6-9918-B85C0050EF6D}"/>
              </a:ext>
            </a:extLst>
          </p:cNvPr>
          <p:cNvSpPr>
            <a:spLocks noChangeArrowheads="1"/>
          </p:cNvSpPr>
          <p:nvPr/>
        </p:nvSpPr>
        <p:spPr bwMode="auto">
          <a:xfrm>
            <a:off x="1" y="-293077"/>
            <a:ext cx="167587" cy="586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951" tIns="41475" rIns="82951" bIns="41475" numCol="1" anchor="ctr" anchorCtr="0" compatLnSpc="1">
            <a:prstTxWarp prst="textNoShape">
              <a:avLst/>
            </a:prstTxWarp>
            <a:spAutoFit/>
          </a:bodyPr>
          <a:lstStyle/>
          <a:p>
            <a:pPr defTabSz="829544" eaLnBrk="0" fontAlgn="base" hangingPunct="0">
              <a:spcBef>
                <a:spcPct val="0"/>
              </a:spcBef>
              <a:spcAft>
                <a:spcPct val="0"/>
              </a:spcAft>
            </a:pPr>
            <a:br>
              <a:rPr lang="en-US" altLang="en-US" sz="1633">
                <a:latin typeface="Arial" panose="020B0604020202020204" pitchFamily="34" charset="0"/>
              </a:rPr>
            </a:br>
            <a:endParaRPr lang="en-US" altLang="en-US" sz="1633">
              <a:latin typeface="Arial" panose="020B0604020202020204" pitchFamily="34" charset="0"/>
            </a:endParaRPr>
          </a:p>
        </p:txBody>
      </p:sp>
      <p:sp>
        <p:nvSpPr>
          <p:cNvPr id="6" name="TextBox 5">
            <a:extLst>
              <a:ext uri="{FF2B5EF4-FFF2-40B4-BE49-F238E27FC236}">
                <a16:creationId xmlns:a16="http://schemas.microsoft.com/office/drawing/2014/main" id="{21F0CF1A-FA53-4536-BEA2-3DA4BC2CF4F3}"/>
              </a:ext>
            </a:extLst>
          </p:cNvPr>
          <p:cNvSpPr txBox="1"/>
          <p:nvPr/>
        </p:nvSpPr>
        <p:spPr>
          <a:xfrm>
            <a:off x="2895191" y="554804"/>
            <a:ext cx="4833875" cy="343620"/>
          </a:xfrm>
          <a:prstGeom prst="rect">
            <a:avLst/>
          </a:prstGeom>
          <a:noFill/>
        </p:spPr>
        <p:txBody>
          <a:bodyPr wrap="square" rtlCol="0">
            <a:spAutoFit/>
          </a:bodyPr>
          <a:lstStyle/>
          <a:p>
            <a:r>
              <a:rPr lang="en-GB" sz="1633" dirty="0"/>
              <a:t>Short essay Marking criteria</a:t>
            </a:r>
          </a:p>
        </p:txBody>
      </p:sp>
      <p:graphicFrame>
        <p:nvGraphicFramePr>
          <p:cNvPr id="11" name="Content Placeholder 10">
            <a:extLst>
              <a:ext uri="{FF2B5EF4-FFF2-40B4-BE49-F238E27FC236}">
                <a16:creationId xmlns:a16="http://schemas.microsoft.com/office/drawing/2014/main" id="{E0A23331-A9A1-0ECE-544C-773B53434334}"/>
              </a:ext>
            </a:extLst>
          </p:cNvPr>
          <p:cNvGraphicFramePr>
            <a:graphicFrameLocks noGrp="1"/>
          </p:cNvGraphicFramePr>
          <p:nvPr>
            <p:ph idx="1"/>
          </p:nvPr>
        </p:nvGraphicFramePr>
        <p:xfrm>
          <a:off x="543576" y="1403999"/>
          <a:ext cx="10538052" cy="5803150"/>
        </p:xfrm>
        <a:graphic>
          <a:graphicData uri="http://schemas.openxmlformats.org/drawingml/2006/table">
            <a:tbl>
              <a:tblPr firstRow="1" firstCol="1" bandRow="1"/>
              <a:tblGrid>
                <a:gridCol w="1756342">
                  <a:extLst>
                    <a:ext uri="{9D8B030D-6E8A-4147-A177-3AD203B41FA5}">
                      <a16:colId xmlns:a16="http://schemas.microsoft.com/office/drawing/2014/main" val="823207598"/>
                    </a:ext>
                  </a:extLst>
                </a:gridCol>
                <a:gridCol w="1756342">
                  <a:extLst>
                    <a:ext uri="{9D8B030D-6E8A-4147-A177-3AD203B41FA5}">
                      <a16:colId xmlns:a16="http://schemas.microsoft.com/office/drawing/2014/main" val="3256822829"/>
                    </a:ext>
                  </a:extLst>
                </a:gridCol>
                <a:gridCol w="1756342">
                  <a:extLst>
                    <a:ext uri="{9D8B030D-6E8A-4147-A177-3AD203B41FA5}">
                      <a16:colId xmlns:a16="http://schemas.microsoft.com/office/drawing/2014/main" val="2103238568"/>
                    </a:ext>
                  </a:extLst>
                </a:gridCol>
                <a:gridCol w="1756342">
                  <a:extLst>
                    <a:ext uri="{9D8B030D-6E8A-4147-A177-3AD203B41FA5}">
                      <a16:colId xmlns:a16="http://schemas.microsoft.com/office/drawing/2014/main" val="3486261614"/>
                    </a:ext>
                  </a:extLst>
                </a:gridCol>
                <a:gridCol w="1756342">
                  <a:extLst>
                    <a:ext uri="{9D8B030D-6E8A-4147-A177-3AD203B41FA5}">
                      <a16:colId xmlns:a16="http://schemas.microsoft.com/office/drawing/2014/main" val="4067644523"/>
                    </a:ext>
                  </a:extLst>
                </a:gridCol>
                <a:gridCol w="1756342">
                  <a:extLst>
                    <a:ext uri="{9D8B030D-6E8A-4147-A177-3AD203B41FA5}">
                      <a16:colId xmlns:a16="http://schemas.microsoft.com/office/drawing/2014/main" val="1714210155"/>
                    </a:ext>
                  </a:extLst>
                </a:gridCol>
              </a:tblGrid>
              <a:tr h="192160">
                <a:tc gridSpan="6">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Human Rights and Social Justice – marking criteria for short essay</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253213467"/>
                  </a:ext>
                </a:extLst>
              </a:tr>
              <a:tr h="192160">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Excellent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Good to Very Good</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Satisfactory to good</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Satisfactory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Poor</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527865651"/>
                  </a:ext>
                </a:extLst>
              </a:tr>
              <a:tr h="192160">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70+</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60-69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50-59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40-49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0-39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1206125102"/>
                  </a:ext>
                </a:extLst>
              </a:tr>
              <a:tr h="192160">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Content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144966792"/>
                  </a:ext>
                </a:extLst>
              </a:tr>
              <a:tr h="1619830">
                <a:tc>
                  <a:txBody>
                    <a:bodyPr/>
                    <a:lstStyle/>
                    <a:p>
                      <a:pPr>
                        <a:lnSpc>
                          <a:spcPct val="115000"/>
                        </a:lnSpc>
                        <a:spcAft>
                          <a:spcPts val="800"/>
                        </a:spcAft>
                        <a:buNone/>
                      </a:pPr>
                      <a:r>
                        <a:rPr lang="en-GB" sz="1100" b="1" kern="0" dirty="0">
                          <a:solidFill>
                            <a:srgbClr val="262626"/>
                          </a:solidFill>
                          <a:effectLst/>
                          <a:latin typeface="+mj-lt"/>
                          <a:ea typeface="Times New Roman" panose="02020603050405020304" pitchFamily="18" charset="0"/>
                          <a:cs typeface="Times New Roman" panose="02020603050405020304" pitchFamily="18" charset="0"/>
                        </a:rPr>
                        <a:t>Construction of argument</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Clear identification of a key point that responds directly to the question prompt; this central argument is established initially and carried throughout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There are clear points of argument but these may not always connect clearly across the assignment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000000"/>
                          </a:solidFill>
                          <a:effectLst/>
                          <a:latin typeface="+mj-lt"/>
                          <a:ea typeface="Times New Roman" panose="02020603050405020304" pitchFamily="18" charset="0"/>
                          <a:cs typeface="Times New Roman" panose="02020603050405020304" pitchFamily="18" charset="0"/>
                        </a:rPr>
                        <a:t>A central core argument is present, but may not be stated very clearly, may be stated late in the text, and/or may not always be clearly connected to the evidence and analysis </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The central argument is difficult to find; the evidence and analysis may only tangentially support any core claim</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Unintelligible or absent central argument that motivates the assignment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795412065"/>
                  </a:ext>
                </a:extLst>
              </a:tr>
              <a:tr h="1146091">
                <a:tc>
                  <a:txBody>
                    <a:bodyPr/>
                    <a:lstStyle/>
                    <a:p>
                      <a:pPr>
                        <a:lnSpc>
                          <a:spcPct val="115000"/>
                        </a:lnSpc>
                        <a:spcAft>
                          <a:spcPts val="800"/>
                        </a:spcAft>
                        <a:buNone/>
                      </a:pPr>
                      <a:r>
                        <a:rPr lang="en-GB" sz="1100" b="1" kern="100">
                          <a:solidFill>
                            <a:srgbClr val="000000"/>
                          </a:solidFill>
                          <a:effectLst/>
                          <a:latin typeface="+mj-lt"/>
                          <a:ea typeface="Aptos" panose="020B0004020202020204" pitchFamily="34" charset="0"/>
                          <a:cs typeface="Times New Roman" panose="02020603050405020304" pitchFamily="18" charset="0"/>
                        </a:rPr>
                        <a:t>Use of Human Rights or Equality law or policy</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There is a clear and accurate understanding of relevant Human Rights or Equality legislation or policy</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Understanding of relevant Human Rights or Equality legislation or policy is mostly clear and accurate.</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Understanding of relevant Human Rights or Equality legislation is demonstrated but may be muddled or inaccurate in places.</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Understanding of relevant Human Rights or Equality legislation or policy is present but is inaccurate or not clearly addressed in the assignment.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There is no clear evidence of understanding of relevant Human Rights or Equality legislation or policy.</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73829167"/>
                  </a:ext>
                </a:extLst>
              </a:tr>
              <a:tr h="2192189">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Analysis in relation to human rights and social justice</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Strong analytical thinking and writing bringing together the principles and legislative basis of human rights and principles of social justice.</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Writing brings together the principles and legislative basis of human rights and equality legislation and principles of social justice. Argument may not fully draw out these principles.</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Writing brings together the principles and legislative basis of human rights and principles of social justice. Analysis may be rather descriptive</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Little analysis is offered; the assignment mostly relies on description of the topic with little synthesis of points to show how the evidence provided supports the core argument. The connection to human rights and social justice may be largely absent.</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dirty="0">
                          <a:solidFill>
                            <a:srgbClr val="262626"/>
                          </a:solidFill>
                          <a:effectLst/>
                          <a:latin typeface="+mj-lt"/>
                          <a:ea typeface="Times New Roman" panose="02020603050405020304" pitchFamily="18" charset="0"/>
                          <a:cs typeface="Times New Roman" panose="02020603050405020304" pitchFamily="18" charset="0"/>
                        </a:rPr>
                        <a:t>The connection to human rights and social justice is largely absent or is not clear.</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dirty="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dirty="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272458551"/>
                  </a:ext>
                </a:extLst>
              </a:tr>
            </a:tbl>
          </a:graphicData>
        </a:graphic>
      </p:graphicFrame>
    </p:spTree>
    <p:extLst>
      <p:ext uri="{BB962C8B-B14F-4D97-AF65-F5344CB8AC3E}">
        <p14:creationId xmlns:p14="http://schemas.microsoft.com/office/powerpoint/2010/main" val="26274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33134B-E034-0728-9B57-CDC2D8817F8D}"/>
              </a:ext>
            </a:extLst>
          </p:cNvPr>
          <p:cNvGraphicFramePr>
            <a:graphicFrameLocks noGrp="1"/>
          </p:cNvGraphicFramePr>
          <p:nvPr/>
        </p:nvGraphicFramePr>
        <p:xfrm>
          <a:off x="914473" y="1981687"/>
          <a:ext cx="10538052" cy="4061536"/>
        </p:xfrm>
        <a:graphic>
          <a:graphicData uri="http://schemas.openxmlformats.org/drawingml/2006/table">
            <a:tbl>
              <a:tblPr firstRow="1" firstCol="1" bandRow="1"/>
              <a:tblGrid>
                <a:gridCol w="1756342">
                  <a:extLst>
                    <a:ext uri="{9D8B030D-6E8A-4147-A177-3AD203B41FA5}">
                      <a16:colId xmlns:a16="http://schemas.microsoft.com/office/drawing/2014/main" val="2384010693"/>
                    </a:ext>
                  </a:extLst>
                </a:gridCol>
                <a:gridCol w="1756342">
                  <a:extLst>
                    <a:ext uri="{9D8B030D-6E8A-4147-A177-3AD203B41FA5}">
                      <a16:colId xmlns:a16="http://schemas.microsoft.com/office/drawing/2014/main" val="1806006153"/>
                    </a:ext>
                  </a:extLst>
                </a:gridCol>
                <a:gridCol w="1756342">
                  <a:extLst>
                    <a:ext uri="{9D8B030D-6E8A-4147-A177-3AD203B41FA5}">
                      <a16:colId xmlns:a16="http://schemas.microsoft.com/office/drawing/2014/main" val="3267975309"/>
                    </a:ext>
                  </a:extLst>
                </a:gridCol>
                <a:gridCol w="1756342">
                  <a:extLst>
                    <a:ext uri="{9D8B030D-6E8A-4147-A177-3AD203B41FA5}">
                      <a16:colId xmlns:a16="http://schemas.microsoft.com/office/drawing/2014/main" val="62868545"/>
                    </a:ext>
                  </a:extLst>
                </a:gridCol>
                <a:gridCol w="1756342">
                  <a:extLst>
                    <a:ext uri="{9D8B030D-6E8A-4147-A177-3AD203B41FA5}">
                      <a16:colId xmlns:a16="http://schemas.microsoft.com/office/drawing/2014/main" val="1593177033"/>
                    </a:ext>
                  </a:extLst>
                </a:gridCol>
                <a:gridCol w="1756342">
                  <a:extLst>
                    <a:ext uri="{9D8B030D-6E8A-4147-A177-3AD203B41FA5}">
                      <a16:colId xmlns:a16="http://schemas.microsoft.com/office/drawing/2014/main" val="1840271531"/>
                    </a:ext>
                  </a:extLst>
                </a:gridCol>
              </a:tblGrid>
              <a:tr h="1527663">
                <a:tc>
                  <a:txBody>
                    <a:bodyPr/>
                    <a:lstStyle/>
                    <a:p>
                      <a:pPr>
                        <a:lnSpc>
                          <a:spcPct val="115000"/>
                        </a:lnSpc>
                        <a:spcAft>
                          <a:spcPts val="800"/>
                        </a:spcAft>
                        <a:buNone/>
                      </a:pPr>
                      <a:r>
                        <a:rPr lang="en-GB" sz="1100" b="1" kern="100" dirty="0">
                          <a:solidFill>
                            <a:srgbClr val="000000"/>
                          </a:solidFill>
                          <a:effectLst/>
                          <a:latin typeface="+mj-lt"/>
                          <a:ea typeface="Aptos" panose="020B0004020202020204" pitchFamily="34" charset="0"/>
                          <a:cs typeface="Times New Roman" panose="02020603050405020304" pitchFamily="18" charset="0"/>
                        </a:rPr>
                        <a:t>Reflection on course content</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 assignment shows clear evidence of engagement with course material. Reference is made explicitly to course readings and there is a high level of analytic engagement between the essay question and the course material</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 assignment shows clear evidence of engagement with course material. Reference is made explicitly to course readings and there is some level of engagement between the essay question and the course material</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Evidence of engagement with course material is patchy or suggests that it has been an afterthought to the main essay</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There may be some evidence of course material being used but it is inaccurate or not clearly addressed in the assignment</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There is no evidence of the essay having engaged with course material</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871814004"/>
                  </a:ext>
                </a:extLst>
              </a:tr>
              <a:tr h="2284356">
                <a:tc>
                  <a:txBody>
                    <a:bodyPr/>
                    <a:lstStyle/>
                    <a:p>
                      <a:pPr>
                        <a:lnSpc>
                          <a:spcPct val="115000"/>
                        </a:lnSpc>
                        <a:spcAft>
                          <a:spcPts val="800"/>
                        </a:spcAft>
                        <a:buNone/>
                      </a:pPr>
                      <a:r>
                        <a:rPr lang="en-GB" sz="1100" b="1" kern="100" dirty="0">
                          <a:solidFill>
                            <a:srgbClr val="000000"/>
                          </a:solidFill>
                          <a:effectLst/>
                          <a:latin typeface="+mj-lt"/>
                          <a:ea typeface="Aptos" panose="020B0004020202020204" pitchFamily="34" charset="0"/>
                          <a:cs typeface="Times New Roman" panose="02020603050405020304" pitchFamily="18" charset="0"/>
                        </a:rPr>
                        <a:t>Writing</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 writing is clear. The argument, evidence, and analysis are all relevant. Writing is focused, evidence-based, succinct and accessible. Full and accurate references are provided.</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effectLst/>
                          <a:latin typeface="+mj-lt"/>
                          <a:ea typeface="Aptos" panose="020B0004020202020204" pitchFamily="34" charset="0"/>
                          <a:cs typeface="Times New Roman" panose="02020603050405020304" pitchFamily="18" charset="0"/>
                        </a:rPr>
                        <a:t> </a:t>
                      </a: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 assignment is mostly clear and follows good academic writing style with a clear structure and connections between sections.  Referencing is mostly good and accurate although there may be some errors in style</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 assignment is mostly clear but may have some areas of poor structure or less clear connections between sections.</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Referencing is generally good and accurate but may have some errors in style.</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Poor organisation of the text, presentation of evidence, and style. Referencing may be poor</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 assignment does not clearly address the question.</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Structure may be confusing. Referencing may be inadequate.</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 </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297712104"/>
                  </a:ext>
                </a:extLst>
              </a:tr>
            </a:tbl>
          </a:graphicData>
        </a:graphic>
      </p:graphicFrame>
    </p:spTree>
    <p:extLst>
      <p:ext uri="{BB962C8B-B14F-4D97-AF65-F5344CB8AC3E}">
        <p14:creationId xmlns:p14="http://schemas.microsoft.com/office/powerpoint/2010/main" val="2481268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GB" sz="3200" dirty="0"/>
              <a:t>Follow the rules on essay formatting and submission</a:t>
            </a:r>
          </a:p>
        </p:txBody>
      </p:sp>
      <p:sp>
        <p:nvSpPr>
          <p:cNvPr id="3" name="Content Placeholder 2"/>
          <p:cNvSpPr>
            <a:spLocks noGrp="1"/>
          </p:cNvSpPr>
          <p:nvPr>
            <p:ph idx="1"/>
          </p:nvPr>
        </p:nvSpPr>
        <p:spPr>
          <a:xfrm>
            <a:off x="1850028" y="1926580"/>
            <a:ext cx="9427572" cy="4169352"/>
          </a:xfrm>
        </p:spPr>
        <p:txBody>
          <a:bodyPr>
            <a:normAutofit fontScale="92500" lnSpcReduction="20000"/>
          </a:bodyPr>
          <a:lstStyle/>
          <a:p>
            <a:pPr marL="0" indent="0">
              <a:buNone/>
            </a:pPr>
            <a:r>
              <a:rPr lang="en-GB" altLang="en-US" sz="2177" b="1" dirty="0"/>
              <a:t>Details on Learn- under ‘Assessment Structure, deadlines and guidance’</a:t>
            </a:r>
          </a:p>
          <a:p>
            <a:endParaRPr lang="en-GB" altLang="en-US" sz="2177" dirty="0"/>
          </a:p>
          <a:p>
            <a:r>
              <a:rPr lang="en-GB" altLang="en-US" sz="2177" dirty="0"/>
              <a:t>Check word limit – The word limit is 1000 words, including the 200 word reflective piece.  The word limit does not include the reference list</a:t>
            </a:r>
          </a:p>
          <a:p>
            <a:r>
              <a:rPr lang="en-GB" altLang="en-US" sz="2177" dirty="0"/>
              <a:t>penalties for overlength – stay within the word limit</a:t>
            </a:r>
          </a:p>
          <a:p>
            <a:r>
              <a:rPr lang="en-GB" altLang="en-US" sz="2177" dirty="0"/>
              <a:t>Deadlines – penalties for late submission</a:t>
            </a:r>
          </a:p>
          <a:p>
            <a:r>
              <a:rPr lang="en-GB" altLang="en-US" sz="2177" dirty="0"/>
              <a:t>Academic misconduct – see School policies on this</a:t>
            </a:r>
          </a:p>
          <a:p>
            <a:r>
              <a:rPr lang="en-GB" altLang="en-US" sz="2177" dirty="0"/>
              <a:t>Using AI – see Learn site for University policy on this</a:t>
            </a:r>
          </a:p>
          <a:p>
            <a:r>
              <a:rPr lang="en-GB" altLang="en-US" sz="2177" dirty="0"/>
              <a:t>Extensions – If you need an extension or have exceptional circumstances, there is further information on University website – link here </a:t>
            </a:r>
            <a:r>
              <a:rPr lang="en-GB" sz="1452" dirty="0">
                <a:hlinkClick r:id="rId3"/>
              </a:rPr>
              <a:t>Exceptional Circumstances Service | Student Administration</a:t>
            </a:r>
            <a:endParaRPr lang="en-GB" altLang="en-US" sz="2540" dirty="0"/>
          </a:p>
          <a:p>
            <a:pPr marL="0" indent="0">
              <a:buNone/>
            </a:pPr>
            <a:endParaRPr lang="en-GB" altLang="en-US" dirty="0"/>
          </a:p>
          <a:p>
            <a:endParaRPr lang="en-GB" altLang="en-US" dirty="0"/>
          </a:p>
        </p:txBody>
      </p:sp>
    </p:spTree>
    <p:extLst>
      <p:ext uri="{BB962C8B-B14F-4D97-AF65-F5344CB8AC3E}">
        <p14:creationId xmlns:p14="http://schemas.microsoft.com/office/powerpoint/2010/main" val="2539652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BACF4-24D6-17B2-0142-EB610EC71A24}"/>
              </a:ext>
            </a:extLst>
          </p:cNvPr>
          <p:cNvSpPr>
            <a:spLocks noGrp="1"/>
          </p:cNvSpPr>
          <p:nvPr>
            <p:ph type="title"/>
          </p:nvPr>
        </p:nvSpPr>
        <p:spPr>
          <a:xfrm>
            <a:off x="914401" y="660787"/>
            <a:ext cx="10363199" cy="1142970"/>
          </a:xfrm>
        </p:spPr>
        <p:txBody>
          <a:bodyPr/>
          <a:lstStyle/>
          <a:p>
            <a:r>
              <a:rPr lang="en-GB" dirty="0"/>
              <a:t>Referencing</a:t>
            </a:r>
          </a:p>
        </p:txBody>
      </p:sp>
      <p:sp>
        <p:nvSpPr>
          <p:cNvPr id="3" name="Content Placeholder 2">
            <a:extLst>
              <a:ext uri="{FF2B5EF4-FFF2-40B4-BE49-F238E27FC236}">
                <a16:creationId xmlns:a16="http://schemas.microsoft.com/office/drawing/2014/main" id="{0DF102C9-3BD6-D21E-72F8-F34E2CC44F40}"/>
              </a:ext>
            </a:extLst>
          </p:cNvPr>
          <p:cNvSpPr>
            <a:spLocks noGrp="1"/>
          </p:cNvSpPr>
          <p:nvPr>
            <p:ph idx="1"/>
          </p:nvPr>
        </p:nvSpPr>
        <p:spPr>
          <a:xfrm>
            <a:off x="2176642" y="1371654"/>
            <a:ext cx="9671969" cy="4114692"/>
          </a:xfrm>
        </p:spPr>
        <p:txBody>
          <a:bodyPr/>
          <a:lstStyle/>
          <a:p>
            <a:pPr marL="0" indent="0">
              <a:buNone/>
            </a:pPr>
            <a:r>
              <a:rPr lang="en-GB" b="1" dirty="0"/>
              <a:t>Why Reference?</a:t>
            </a:r>
          </a:p>
          <a:p>
            <a:endParaRPr lang="en-GB" dirty="0"/>
          </a:p>
          <a:p>
            <a:r>
              <a:rPr lang="en-GB" dirty="0"/>
              <a:t>To show where you have got your information from</a:t>
            </a:r>
          </a:p>
          <a:p>
            <a:r>
              <a:rPr lang="en-GB" dirty="0"/>
              <a:t>To recognise the work that others have done</a:t>
            </a:r>
          </a:p>
          <a:p>
            <a:r>
              <a:rPr lang="en-GB" dirty="0"/>
              <a:t>To enable the reader to judge the authority,  relevance or date of the source</a:t>
            </a:r>
          </a:p>
          <a:p>
            <a:r>
              <a:rPr lang="en-GB" dirty="0"/>
              <a:t>To enable the reader to find out more about the subject</a:t>
            </a:r>
          </a:p>
          <a:p>
            <a:endParaRPr lang="en-GB" dirty="0"/>
          </a:p>
          <a:p>
            <a:pPr marL="0" indent="0">
              <a:buNone/>
            </a:pPr>
            <a:endParaRPr lang="en-GB" dirty="0"/>
          </a:p>
        </p:txBody>
      </p:sp>
    </p:spTree>
    <p:extLst>
      <p:ext uri="{BB962C8B-B14F-4D97-AF65-F5344CB8AC3E}">
        <p14:creationId xmlns:p14="http://schemas.microsoft.com/office/powerpoint/2010/main" val="153148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77821-A86A-F95D-AD6D-30569DDDC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27920-10B9-94E3-0BF1-3D3740C44EA0}"/>
              </a:ext>
            </a:extLst>
          </p:cNvPr>
          <p:cNvSpPr>
            <a:spLocks noGrp="1"/>
          </p:cNvSpPr>
          <p:nvPr>
            <p:ph type="title"/>
          </p:nvPr>
        </p:nvSpPr>
        <p:spPr>
          <a:xfrm>
            <a:off x="914401" y="563251"/>
            <a:ext cx="10363199" cy="1142970"/>
          </a:xfrm>
        </p:spPr>
        <p:txBody>
          <a:bodyPr/>
          <a:lstStyle/>
          <a:p>
            <a:r>
              <a:rPr lang="en-GB" dirty="0"/>
              <a:t>Referencing</a:t>
            </a:r>
          </a:p>
        </p:txBody>
      </p:sp>
      <p:sp>
        <p:nvSpPr>
          <p:cNvPr id="3" name="Content Placeholder 2">
            <a:extLst>
              <a:ext uri="{FF2B5EF4-FFF2-40B4-BE49-F238E27FC236}">
                <a16:creationId xmlns:a16="http://schemas.microsoft.com/office/drawing/2014/main" id="{8FF8E5DC-9F67-9ADB-FD5B-4009BAB7C991}"/>
              </a:ext>
            </a:extLst>
          </p:cNvPr>
          <p:cNvSpPr>
            <a:spLocks noGrp="1"/>
          </p:cNvSpPr>
          <p:nvPr>
            <p:ph idx="1"/>
          </p:nvPr>
        </p:nvSpPr>
        <p:spPr>
          <a:xfrm>
            <a:off x="1915352" y="1208031"/>
            <a:ext cx="9671969" cy="4114692"/>
          </a:xfrm>
        </p:spPr>
        <p:txBody>
          <a:bodyPr>
            <a:normAutofit fontScale="77500" lnSpcReduction="20000"/>
          </a:bodyPr>
          <a:lstStyle/>
          <a:p>
            <a:pPr marL="0" indent="0">
              <a:buNone/>
            </a:pPr>
            <a:r>
              <a:rPr lang="en-GB" sz="2177" dirty="0"/>
              <a:t>So References should be </a:t>
            </a:r>
          </a:p>
          <a:p>
            <a:r>
              <a:rPr lang="en-GB" sz="2177" b="1" dirty="0"/>
              <a:t>Accurate</a:t>
            </a:r>
            <a:r>
              <a:rPr lang="en-GB" sz="2177" dirty="0"/>
              <a:t> – following an established referencing system. On this course we recommend Harvard, sometimes known as ‘Author(Date)’</a:t>
            </a:r>
          </a:p>
          <a:p>
            <a:r>
              <a:rPr lang="en-GB" sz="2177" b="1" dirty="0"/>
              <a:t>Real</a:t>
            </a:r>
            <a:r>
              <a:rPr lang="en-GB" sz="2177" dirty="0"/>
              <a:t> – not invented by AI</a:t>
            </a:r>
          </a:p>
          <a:p>
            <a:r>
              <a:rPr lang="en-GB" sz="2177" b="1" dirty="0"/>
              <a:t>Findable</a:t>
            </a:r>
            <a:r>
              <a:rPr lang="en-GB" sz="2177" dirty="0"/>
              <a:t> – if a website, provide a </a:t>
            </a:r>
            <a:r>
              <a:rPr lang="en-GB" sz="2177" dirty="0" err="1"/>
              <a:t>url</a:t>
            </a:r>
            <a:r>
              <a:rPr lang="en-GB" sz="2177" dirty="0"/>
              <a:t> and provide a title that makes it clear what it is</a:t>
            </a:r>
          </a:p>
          <a:p>
            <a:r>
              <a:rPr lang="en-GB" sz="2177" b="1" dirty="0"/>
              <a:t>Sensible</a:t>
            </a:r>
            <a:r>
              <a:rPr lang="en-GB" sz="2177" dirty="0"/>
              <a:t> – some referencing systems produce gobbledygook so please check them and fix any obvious errors:</a:t>
            </a:r>
          </a:p>
          <a:p>
            <a:pPr marL="0" indent="0">
              <a:buNone/>
            </a:pPr>
            <a:r>
              <a:rPr lang="en-US" sz="2177" dirty="0"/>
              <a:t>Eg - Government, S., (2014). Statutory Guidance to accompany the Social Care (Self-directed support) Scotland Act 2013  (updated 2022).</a:t>
            </a:r>
          </a:p>
          <a:p>
            <a:pPr marL="0" indent="0">
              <a:buNone/>
            </a:pPr>
            <a:r>
              <a:rPr lang="en-US" sz="2177" dirty="0"/>
              <a:t>Should be</a:t>
            </a:r>
          </a:p>
          <a:p>
            <a:pPr marL="0" indent="0">
              <a:buNone/>
            </a:pPr>
            <a:r>
              <a:rPr lang="en-US" sz="2177" dirty="0"/>
              <a:t>Scottish Government (2014). Statutory Guidance to accompany the Social Care (Self-directed support) Scotland Act 2013  (updated 2022).</a:t>
            </a:r>
            <a:r>
              <a:rPr lang="en-GB" sz="2177" dirty="0"/>
              <a:t> </a:t>
            </a:r>
            <a:r>
              <a:rPr lang="en-GB" sz="2177" dirty="0">
                <a:hlinkClick r:id="rId3"/>
              </a:rPr>
              <a:t>https://www.gov.scot/publications/statutory-guidance-accompany-social-care-self-directed-support-scotland-act-2013-2</a:t>
            </a:r>
            <a:endParaRPr lang="en-GB" sz="2177" dirty="0"/>
          </a:p>
          <a:p>
            <a:pPr marL="0" indent="0">
              <a:buNone/>
            </a:pPr>
            <a:endParaRPr lang="en-US" dirty="0"/>
          </a:p>
          <a:p>
            <a:pPr marL="0" indent="0">
              <a:buNone/>
            </a:pPr>
            <a:endParaRPr lang="en-US" dirty="0"/>
          </a:p>
          <a:p>
            <a:endParaRPr lang="en-US" dirty="0"/>
          </a:p>
          <a:p>
            <a:endParaRPr lang="en-GB" dirty="0"/>
          </a:p>
          <a:p>
            <a:endParaRPr lang="en-GB" dirty="0"/>
          </a:p>
        </p:txBody>
      </p:sp>
    </p:spTree>
    <p:extLst>
      <p:ext uri="{BB962C8B-B14F-4D97-AF65-F5344CB8AC3E}">
        <p14:creationId xmlns:p14="http://schemas.microsoft.com/office/powerpoint/2010/main" val="47828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E7DF3-5C73-2657-38B1-8C75FA715A3D}"/>
              </a:ext>
            </a:extLst>
          </p:cNvPr>
          <p:cNvSpPr>
            <a:spLocks noGrp="1"/>
          </p:cNvSpPr>
          <p:nvPr>
            <p:ph type="title"/>
          </p:nvPr>
        </p:nvSpPr>
        <p:spPr/>
        <p:txBody>
          <a:bodyPr/>
          <a:lstStyle/>
          <a:p>
            <a:pPr>
              <a:defRPr/>
            </a:pPr>
            <a:r>
              <a:rPr lang="en-GB" sz="3629" dirty="0"/>
              <a:t>Citing websites and internet sources</a:t>
            </a:r>
          </a:p>
        </p:txBody>
      </p:sp>
      <p:sp>
        <p:nvSpPr>
          <p:cNvPr id="3" name="Content Placeholder 2">
            <a:extLst>
              <a:ext uri="{FF2B5EF4-FFF2-40B4-BE49-F238E27FC236}">
                <a16:creationId xmlns:a16="http://schemas.microsoft.com/office/drawing/2014/main" id="{A9067B82-D9BB-B61A-258E-60E23B14FE9B}"/>
              </a:ext>
            </a:extLst>
          </p:cNvPr>
          <p:cNvSpPr>
            <a:spLocks noGrp="1"/>
          </p:cNvSpPr>
          <p:nvPr>
            <p:ph idx="1"/>
          </p:nvPr>
        </p:nvSpPr>
        <p:spPr>
          <a:xfrm>
            <a:off x="1741098" y="1499250"/>
            <a:ext cx="9536431" cy="5485391"/>
          </a:xfrm>
        </p:spPr>
        <p:txBody>
          <a:bodyPr>
            <a:normAutofit fontScale="92500" lnSpcReduction="10000"/>
          </a:bodyPr>
          <a:lstStyle/>
          <a:p>
            <a:pPr marL="456971" indent="-456971">
              <a:defRPr/>
            </a:pPr>
            <a:r>
              <a:rPr lang="en-GB" sz="3387" dirty="0"/>
              <a:t>Be clear who the </a:t>
            </a:r>
            <a:r>
              <a:rPr lang="en-GB" sz="3387" b="1" dirty="0"/>
              <a:t>author</a:t>
            </a:r>
            <a:r>
              <a:rPr lang="en-GB" sz="3387" dirty="0"/>
              <a:t> is (organisation or individual)</a:t>
            </a:r>
          </a:p>
          <a:p>
            <a:pPr marL="456971" indent="-456971">
              <a:defRPr/>
            </a:pPr>
            <a:r>
              <a:rPr lang="en-GB" sz="3387" dirty="0"/>
              <a:t>Be clear what the </a:t>
            </a:r>
            <a:r>
              <a:rPr lang="en-GB" sz="3387" b="1" dirty="0"/>
              <a:t>date</a:t>
            </a:r>
            <a:r>
              <a:rPr lang="en-GB" sz="3387" dirty="0"/>
              <a:t> is</a:t>
            </a:r>
          </a:p>
          <a:p>
            <a:pPr marL="456971" indent="-456971">
              <a:defRPr/>
            </a:pPr>
            <a:r>
              <a:rPr lang="en-GB" sz="3387" dirty="0"/>
              <a:t>Give the source a sensible </a:t>
            </a:r>
            <a:r>
              <a:rPr lang="en-GB" sz="3387" b="1" dirty="0"/>
              <a:t>title</a:t>
            </a:r>
          </a:p>
          <a:p>
            <a:pPr marL="456971" indent="-456971">
              <a:defRPr/>
            </a:pPr>
            <a:r>
              <a:rPr lang="en-GB" sz="3387" dirty="0"/>
              <a:t>Show when you accessed it</a:t>
            </a:r>
          </a:p>
          <a:p>
            <a:pPr marL="456971" indent="-456971">
              <a:defRPr/>
            </a:pPr>
            <a:r>
              <a:rPr lang="en-GB" sz="3387" dirty="0"/>
              <a:t>Edit citations produced by bibliographic software so that they don’t produce gobbledygook</a:t>
            </a:r>
          </a:p>
          <a:p>
            <a:pPr marL="0" indent="0">
              <a:buNone/>
              <a:defRPr/>
            </a:pPr>
            <a:r>
              <a:rPr lang="en-GB" sz="4233" dirty="0">
                <a:hlinkClick r:id="rId3"/>
              </a:rPr>
              <a:t>https://www-citethemrightonline-com.ezproxy.is.ed.ac.uk/</a:t>
            </a:r>
            <a:endParaRPr lang="en-GB" sz="4233" dirty="0"/>
          </a:p>
          <a:p>
            <a:pPr marL="0" indent="0">
              <a:buNone/>
              <a:defRPr/>
            </a:pPr>
            <a:endParaRPr lang="en-GB" sz="4233" dirty="0"/>
          </a:p>
          <a:p>
            <a:pPr marL="456971" indent="-456971">
              <a:defRPr/>
            </a:pPr>
            <a:endParaRPr lang="en-GB" sz="4233"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92B82-E0B4-40B9-8363-A5B51D826BC7}"/>
              </a:ext>
            </a:extLst>
          </p:cNvPr>
          <p:cNvSpPr>
            <a:spLocks noGrp="1"/>
          </p:cNvSpPr>
          <p:nvPr>
            <p:ph type="title"/>
          </p:nvPr>
        </p:nvSpPr>
        <p:spPr>
          <a:xfrm>
            <a:off x="2568579" y="1093138"/>
            <a:ext cx="7887501" cy="642291"/>
          </a:xfrm>
        </p:spPr>
        <p:txBody>
          <a:bodyPr rtlCol="0">
            <a:normAutofit/>
          </a:bodyPr>
          <a:lstStyle/>
          <a:p>
            <a:pPr defTabSz="685867">
              <a:defRPr/>
            </a:pPr>
            <a:r>
              <a:rPr lang="en-GB" sz="2700" dirty="0">
                <a:latin typeface="Bookman Old Style" panose="02050604050505020204" pitchFamily="18" charset="0"/>
              </a:rPr>
              <a:t>For more information on writing skills:</a:t>
            </a:r>
          </a:p>
        </p:txBody>
      </p:sp>
      <p:pic>
        <p:nvPicPr>
          <p:cNvPr id="39939"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4664528" y="1735428"/>
            <a:ext cx="2907588" cy="1352266"/>
          </a:xfrm>
        </p:spPr>
      </p:pic>
      <p:sp>
        <p:nvSpPr>
          <p:cNvPr id="6" name="Rectangle 5">
            <a:extLst>
              <a:ext uri="{FF2B5EF4-FFF2-40B4-BE49-F238E27FC236}">
                <a16:creationId xmlns:a16="http://schemas.microsoft.com/office/drawing/2014/main" id="{E5963800-5DDF-46A8-BF67-E5BBA8755B4C}"/>
              </a:ext>
            </a:extLst>
          </p:cNvPr>
          <p:cNvSpPr/>
          <p:nvPr/>
        </p:nvSpPr>
        <p:spPr>
          <a:xfrm>
            <a:off x="2960874" y="3129458"/>
            <a:ext cx="7366180" cy="554254"/>
          </a:xfrm>
          <a:prstGeom prst="rect">
            <a:avLst/>
          </a:prstGeom>
        </p:spPr>
        <p:txBody>
          <a:bodyPr wrap="square">
            <a:spAutoFit/>
          </a:bodyPr>
          <a:lstStyle/>
          <a:p>
            <a:pPr algn="ctr" defTabSz="685867">
              <a:defRPr/>
            </a:pPr>
            <a:r>
              <a:rPr lang="en-GB" sz="1501" dirty="0">
                <a:solidFill>
                  <a:prstClr val="black"/>
                </a:solidFill>
                <a:latin typeface="Bookman Old Style" panose="02050604050505020204" pitchFamily="18" charset="0"/>
                <a:hlinkClick r:id="rId4"/>
              </a:rPr>
              <a:t>http://www.ed.ac.uk/institute-academic-development/undergraduate/good-practice</a:t>
            </a:r>
            <a:r>
              <a:rPr lang="en-GB" sz="1501" dirty="0">
                <a:solidFill>
                  <a:prstClr val="black"/>
                </a:solidFill>
                <a:latin typeface="Bookman Old Style" panose="02050604050505020204" pitchFamily="18" charset="0"/>
              </a:rPr>
              <a:t> </a:t>
            </a:r>
          </a:p>
        </p:txBody>
      </p:sp>
    </p:spTree>
    <p:extLst>
      <p:ext uri="{BB962C8B-B14F-4D97-AF65-F5344CB8AC3E}">
        <p14:creationId xmlns:p14="http://schemas.microsoft.com/office/powerpoint/2010/main" val="2582124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A470-1FCA-404B-59AB-CE5F2F9638C1}"/>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A1B94287-D8AB-84A8-DDE6-16D128AED52C}"/>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3" name="Subtitle 2">
            <a:extLst>
              <a:ext uri="{FF2B5EF4-FFF2-40B4-BE49-F238E27FC236}">
                <a16:creationId xmlns:a16="http://schemas.microsoft.com/office/drawing/2014/main" id="{4E4E47C1-55B5-789F-24AF-AC1212383C16}"/>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D62E3CD-032F-D78E-0ADF-F41F761A9BCF}"/>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Human Rights and Social Justice: </a:t>
            </a:r>
          </a:p>
          <a:p>
            <a:pPr algn="ctr"/>
            <a:r>
              <a:rPr lang="en-US" sz="6600" b="1" dirty="0">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611F3D95-1D59-2B3E-FC80-8DEC210D1C52}"/>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10" name="TextBox 9">
            <a:extLst>
              <a:ext uri="{FF2B5EF4-FFF2-40B4-BE49-F238E27FC236}">
                <a16:creationId xmlns:a16="http://schemas.microsoft.com/office/drawing/2014/main" id="{EF2F9A92-766A-F74C-E7FA-592A81B43626}"/>
              </a:ext>
            </a:extLst>
          </p:cNvPr>
          <p:cNvSpPr txBox="1"/>
          <p:nvPr/>
        </p:nvSpPr>
        <p:spPr>
          <a:xfrm>
            <a:off x="-3450336" y="-1706880"/>
            <a:ext cx="184731" cy="369332"/>
          </a:xfrm>
          <a:prstGeom prst="rect">
            <a:avLst/>
          </a:prstGeom>
          <a:noFill/>
        </p:spPr>
        <p:txBody>
          <a:bodyPr wrap="none" rtlCol="0">
            <a:spAutoFit/>
          </a:bodyPr>
          <a:lstStyle/>
          <a:p>
            <a:endParaRPr lang="en-US"/>
          </a:p>
        </p:txBody>
      </p:sp>
      <p:sp>
        <p:nvSpPr>
          <p:cNvPr id="2" name="Title 1">
            <a:extLst>
              <a:ext uri="{FF2B5EF4-FFF2-40B4-BE49-F238E27FC236}">
                <a16:creationId xmlns:a16="http://schemas.microsoft.com/office/drawing/2014/main" id="{97E633AD-3213-2181-514B-A1185D3D8DFC}"/>
              </a:ext>
            </a:extLst>
          </p:cNvPr>
          <p:cNvSpPr txBox="1">
            <a:spLocks/>
          </p:cNvSpPr>
          <p:nvPr/>
        </p:nvSpPr>
        <p:spPr>
          <a:xfrm>
            <a:off x="435862" y="450032"/>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W3 Tutorial</a:t>
            </a:r>
          </a:p>
        </p:txBody>
      </p:sp>
    </p:spTree>
    <p:extLst>
      <p:ext uri="{BB962C8B-B14F-4D97-AF65-F5344CB8AC3E}">
        <p14:creationId xmlns:p14="http://schemas.microsoft.com/office/powerpoint/2010/main" val="1448184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EE158-03B1-4526-411A-6E8E96F46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AF800-EB1B-F03A-46EA-67819E967D7B}"/>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4D055B7E-05F9-E890-F10E-88E2992EB9D9}"/>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626191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58335-6ACA-DE89-6840-EEB43F435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4A135-33DA-2252-9970-1679762DAB0A}"/>
              </a:ext>
            </a:extLst>
          </p:cNvPr>
          <p:cNvSpPr>
            <a:spLocks noGrp="1"/>
          </p:cNvSpPr>
          <p:nvPr>
            <p:ph type="title"/>
          </p:nvPr>
        </p:nvSpPr>
        <p:spPr/>
        <p:txBody>
          <a:bodyPr/>
          <a:lstStyle/>
          <a:p>
            <a:r>
              <a:rPr lang="en-US" dirty="0"/>
              <a:t>Activity (30-35min)</a:t>
            </a:r>
          </a:p>
        </p:txBody>
      </p:sp>
      <p:sp>
        <p:nvSpPr>
          <p:cNvPr id="3" name="Content Placeholder 2">
            <a:extLst>
              <a:ext uri="{FF2B5EF4-FFF2-40B4-BE49-F238E27FC236}">
                <a16:creationId xmlns:a16="http://schemas.microsoft.com/office/drawing/2014/main" id="{B88EFC39-FF1E-9607-A99D-268B96B90C25}"/>
              </a:ext>
            </a:extLst>
          </p:cNvPr>
          <p:cNvSpPr>
            <a:spLocks noGrp="1"/>
          </p:cNvSpPr>
          <p:nvPr>
            <p:ph idx="1"/>
          </p:nvPr>
        </p:nvSpPr>
        <p:spPr>
          <a:xfrm>
            <a:off x="521208" y="2015067"/>
            <a:ext cx="11155680" cy="4330869"/>
          </a:xfrm>
        </p:spPr>
        <p:txBody>
          <a:bodyPr>
            <a:normAutofit/>
          </a:bodyPr>
          <a:lstStyle/>
          <a:p>
            <a:pPr marL="0" indent="0">
              <a:buNone/>
            </a:pPr>
            <a:endParaRPr lang="en-GB" dirty="0"/>
          </a:p>
          <a:p>
            <a:pPr marL="0" indent="0">
              <a:buNone/>
            </a:pPr>
            <a:r>
              <a:rPr lang="en-GB" sz="2400" b="1" dirty="0"/>
              <a:t>Task</a:t>
            </a:r>
          </a:p>
          <a:p>
            <a:r>
              <a:rPr lang="en-GB" dirty="0"/>
              <a:t>In your reading this week </a:t>
            </a:r>
            <a:r>
              <a:rPr lang="en-GB" dirty="0" err="1"/>
              <a:t>Stavert</a:t>
            </a:r>
            <a:r>
              <a:rPr lang="en-GB" dirty="0"/>
              <a:t> discusses the key civil rights which are particularly relevant to care and treatment for people with mental health issues. She also discusses social and cultural rights (331). </a:t>
            </a:r>
          </a:p>
          <a:p>
            <a:r>
              <a:rPr lang="en-GB" dirty="0"/>
              <a:t>Identify which rights </a:t>
            </a:r>
            <a:r>
              <a:rPr lang="en-GB" dirty="0" err="1"/>
              <a:t>Stavert</a:t>
            </a:r>
            <a:r>
              <a:rPr lang="en-GB" dirty="0"/>
              <a:t> is talking about and discuss how well these are realised in the UK and internationally</a:t>
            </a:r>
          </a:p>
          <a:p>
            <a:r>
              <a:rPr lang="en-GB" dirty="0"/>
              <a:t>How have international conventions on Human Rights influenced social work in the UK?</a:t>
            </a:r>
          </a:p>
        </p:txBody>
      </p:sp>
    </p:spTree>
    <p:extLst>
      <p:ext uri="{BB962C8B-B14F-4D97-AF65-F5344CB8AC3E}">
        <p14:creationId xmlns:p14="http://schemas.microsoft.com/office/powerpoint/2010/main" val="350046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Human Rights and Social Justice: </a:t>
            </a:r>
          </a:p>
          <a:p>
            <a:pPr algn="ctr"/>
            <a:r>
              <a:rPr lang="en-US" sz="6600" b="1" dirty="0">
                <a:solidFill>
                  <a:schemeClr val="bg1"/>
                </a:solidFill>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8" name="Title 7">
            <a:extLst>
              <a:ext uri="{FF2B5EF4-FFF2-40B4-BE49-F238E27FC236}">
                <a16:creationId xmlns:a16="http://schemas.microsoft.com/office/drawing/2014/main" id="{E4735912-4236-F7C7-D521-A469F6288FBB}"/>
              </a:ext>
            </a:extLst>
          </p:cNvPr>
          <p:cNvSpPr>
            <a:spLocks noGrp="1"/>
          </p:cNvSpPr>
          <p:nvPr>
            <p:ph type="ctrTitle"/>
          </p:nvPr>
        </p:nvSpPr>
        <p:spPr/>
        <p:txBody>
          <a:bodyPr/>
          <a:lstStyle/>
          <a:p>
            <a:endParaRPr lang="en-US" dirty="0"/>
          </a:p>
        </p:txBody>
      </p:sp>
      <p:sp>
        <p:nvSpPr>
          <p:cNvPr id="10" name="TextBox 9">
            <a:extLst>
              <a:ext uri="{FF2B5EF4-FFF2-40B4-BE49-F238E27FC236}">
                <a16:creationId xmlns:a16="http://schemas.microsoft.com/office/drawing/2014/main" id="{5E8E498F-12DE-A784-54D0-F3D96E808496}"/>
              </a:ext>
            </a:extLst>
          </p:cNvPr>
          <p:cNvSpPr txBox="1"/>
          <p:nvPr/>
        </p:nvSpPr>
        <p:spPr>
          <a:xfrm>
            <a:off x="-3450336" y="-1706880"/>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C93C5-D443-27AC-FFCE-FBE6F3985551}"/>
              </a:ext>
            </a:extLst>
          </p:cNvPr>
          <p:cNvSpPr>
            <a:spLocks noGrp="1"/>
          </p:cNvSpPr>
          <p:nvPr>
            <p:ph type="title"/>
          </p:nvPr>
        </p:nvSpPr>
        <p:spPr/>
        <p:txBody>
          <a:bodyPr/>
          <a:lstStyle/>
          <a:p>
            <a:r>
              <a:rPr lang="en-GB" dirty="0"/>
              <a:t>First Tutorial: Getting Started Together</a:t>
            </a:r>
            <a:endParaRPr lang="en-US" dirty="0"/>
          </a:p>
        </p:txBody>
      </p:sp>
      <p:sp>
        <p:nvSpPr>
          <p:cNvPr id="4" name="TextBox 3">
            <a:extLst>
              <a:ext uri="{FF2B5EF4-FFF2-40B4-BE49-F238E27FC236}">
                <a16:creationId xmlns:a16="http://schemas.microsoft.com/office/drawing/2014/main" id="{CC6BCEEF-ADFC-7FF8-08D1-4989A11E5C57}"/>
              </a:ext>
            </a:extLst>
          </p:cNvPr>
          <p:cNvSpPr txBox="1"/>
          <p:nvPr/>
        </p:nvSpPr>
        <p:spPr>
          <a:xfrm>
            <a:off x="731520" y="2218944"/>
            <a:ext cx="10448544" cy="2954655"/>
          </a:xfrm>
          <a:prstGeom prst="rect">
            <a:avLst/>
          </a:prstGeom>
          <a:noFill/>
        </p:spPr>
        <p:txBody>
          <a:bodyPr wrap="square" rtlCol="0">
            <a:spAutoFit/>
          </a:bodyPr>
          <a:lstStyle/>
          <a:p>
            <a:pPr marL="285750" lvl="0" indent="-285750">
              <a:lnSpc>
                <a:spcPct val="200000"/>
              </a:lnSpc>
              <a:buFont typeface="Arial" panose="020B0604020202020204" pitchFamily="34" charset="0"/>
              <a:buChar char="•"/>
            </a:pPr>
            <a:r>
              <a:rPr lang="en-GB" sz="2400" b="1" dirty="0"/>
              <a:t>About Me — My role and how I can support you</a:t>
            </a:r>
            <a:endParaRPr lang="en-GB" sz="2400" dirty="0"/>
          </a:p>
          <a:p>
            <a:pPr marL="285750" lvl="0" indent="-285750">
              <a:lnSpc>
                <a:spcPct val="200000"/>
              </a:lnSpc>
              <a:buFont typeface="Arial" panose="020B0604020202020204" pitchFamily="34" charset="0"/>
              <a:buChar char="•"/>
            </a:pPr>
            <a:r>
              <a:rPr lang="en-GB" sz="2400" b="1" dirty="0"/>
              <a:t>About You — Let’s get to know each other</a:t>
            </a:r>
            <a:endParaRPr lang="en-GB" sz="2400" dirty="0"/>
          </a:p>
          <a:p>
            <a:pPr marL="285750" lvl="0" indent="-285750">
              <a:lnSpc>
                <a:spcPct val="200000"/>
              </a:lnSpc>
              <a:buFont typeface="Arial" panose="020B0604020202020204" pitchFamily="34" charset="0"/>
              <a:buChar char="•"/>
            </a:pPr>
            <a:r>
              <a:rPr lang="en-GB" sz="2400" b="1" dirty="0"/>
              <a:t>Learning Together — Participate, discuss, and share</a:t>
            </a:r>
            <a:endParaRPr lang="en-GB" sz="2400" dirty="0"/>
          </a:p>
          <a:p>
            <a:pPr marL="285750" lvl="0" indent="-285750">
              <a:lnSpc>
                <a:spcPct val="200000"/>
              </a:lnSpc>
              <a:buFont typeface="Arial" panose="020B0604020202020204" pitchFamily="34" charset="0"/>
              <a:buChar char="•"/>
            </a:pPr>
            <a:r>
              <a:rPr lang="en-GB" sz="2400" b="1" dirty="0"/>
              <a:t>Our Tutorial Culture — Respectful, open, and curious</a:t>
            </a:r>
            <a:endParaRPr lang="en-GB" sz="2400" dirty="0"/>
          </a:p>
        </p:txBody>
      </p:sp>
    </p:spTree>
    <p:extLst>
      <p:ext uri="{BB962C8B-B14F-4D97-AF65-F5344CB8AC3E}">
        <p14:creationId xmlns:p14="http://schemas.microsoft.com/office/powerpoint/2010/main" val="1291227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E24C3DE7-C7AB-C40E-8685-2514347AC6EC}"/>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3603650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lnSpcReduction="10000"/>
          </a:bodyPr>
          <a:lstStyle/>
          <a:p>
            <a:pPr marL="0" indent="0">
              <a:buNone/>
            </a:pPr>
            <a:endParaRPr lang="en-GB" dirty="0"/>
          </a:p>
          <a:p>
            <a:pPr marL="0" indent="0">
              <a:buNone/>
            </a:pPr>
            <a:r>
              <a:rPr lang="en-GB" sz="2400" b="1" dirty="0"/>
              <a:t>The reading for this week discusses social work as a 'human rights profession’:</a:t>
            </a:r>
          </a:p>
          <a:p>
            <a:pPr lvl="0"/>
            <a:r>
              <a:rPr lang="en-GB" dirty="0"/>
              <a:t>What do you think that means?</a:t>
            </a:r>
          </a:p>
          <a:p>
            <a:pPr lvl="0"/>
            <a:r>
              <a:rPr lang="en-GB" dirty="0"/>
              <a:t>Mapp et al discuss 3 approaches to social work practice:  charity based, needs based, rights based.  What does a human rights based approach involve?</a:t>
            </a:r>
          </a:p>
          <a:p>
            <a:pPr lvl="0"/>
            <a:r>
              <a:rPr lang="en-GB" dirty="0"/>
              <a:t> The chapter by Martínez Herrero and Tedam talks about social work as a being complicit with colonialism. What do you think that means?</a:t>
            </a:r>
          </a:p>
          <a:p>
            <a:pPr lvl="0"/>
            <a:r>
              <a:rPr lang="en-GB" dirty="0"/>
              <a:t>Can social work be a human rights profession today?</a:t>
            </a:r>
          </a:p>
          <a:p>
            <a:pPr lvl="0"/>
            <a:r>
              <a:rPr lang="en-GB" dirty="0"/>
              <a:t>What have you learned from the course so far? How will you keep a reflective diary?  see below for an example</a:t>
            </a:r>
          </a:p>
          <a:p>
            <a:pPr marL="0" indent="0">
              <a:buNone/>
            </a:pPr>
            <a:endParaRPr lang="en-GB" sz="2400" dirty="0"/>
          </a:p>
        </p:txBody>
      </p:sp>
    </p:spTree>
    <p:extLst>
      <p:ext uri="{BB962C8B-B14F-4D97-AF65-F5344CB8AC3E}">
        <p14:creationId xmlns:p14="http://schemas.microsoft.com/office/powerpoint/2010/main" val="14596986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7397</TotalTime>
  <Words>2013</Words>
  <Application>Microsoft Macintosh PowerPoint</Application>
  <PresentationFormat>Widescreen</PresentationFormat>
  <Paragraphs>231</Paragraphs>
  <Slides>27</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ＭＳ Ｐゴシック</vt:lpstr>
      <vt:lpstr>Aptos</vt:lpstr>
      <vt:lpstr>Arial</vt:lpstr>
      <vt:lpstr>Bierstadt</vt:lpstr>
      <vt:lpstr>Bookman Old Style</vt:lpstr>
      <vt:lpstr>Bradley Hand</vt:lpstr>
      <vt:lpstr>Calibri</vt:lpstr>
      <vt:lpstr>Times New Roman</vt:lpstr>
      <vt:lpstr>GestaltVTI</vt:lpstr>
      <vt:lpstr>PowerPoint Presentation</vt:lpstr>
      <vt:lpstr>Recap (10min)</vt:lpstr>
      <vt:lpstr>Activity (35-40min)</vt:lpstr>
      <vt:lpstr>PowerPoint Presentation</vt:lpstr>
      <vt:lpstr>Recap (10min)</vt:lpstr>
      <vt:lpstr>Activity (35-40min)</vt:lpstr>
      <vt:lpstr>PowerPoint Presentation</vt:lpstr>
      <vt:lpstr>Recap (10min)</vt:lpstr>
      <vt:lpstr>Activity (25-30min)</vt:lpstr>
      <vt:lpstr>Human Rights and Social Justice: social work and the law</vt:lpstr>
      <vt:lpstr>Purpose of the assignment</vt:lpstr>
      <vt:lpstr>Things to think about</vt:lpstr>
      <vt:lpstr>Using the resource list</vt:lpstr>
      <vt:lpstr>PowerPoint Presentation</vt:lpstr>
      <vt:lpstr>PowerPoint Presentation</vt:lpstr>
      <vt:lpstr>Follow the rules on essay formatting and submission</vt:lpstr>
      <vt:lpstr>Referencing</vt:lpstr>
      <vt:lpstr>Referencing</vt:lpstr>
      <vt:lpstr>Citing websites and internet sources</vt:lpstr>
      <vt:lpstr>For more information on writing skills:</vt:lpstr>
      <vt:lpstr>PowerPoint Presentation</vt:lpstr>
      <vt:lpstr>Recap (10min)</vt:lpstr>
      <vt:lpstr>Activity (30-35min)</vt:lpstr>
      <vt:lpstr>PowerPoint Presentation</vt:lpstr>
      <vt:lpstr>First Tutorial: Getting Started Together</vt:lpstr>
      <vt:lpstr>Recap (10min)</vt:lpstr>
      <vt:lpstr>Activity (20-25min)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17</cp:revision>
  <dcterms:created xsi:type="dcterms:W3CDTF">2025-09-20T14:48:19Z</dcterms:created>
  <dcterms:modified xsi:type="dcterms:W3CDTF">2026-10-27T18:30:46Z</dcterms:modified>
</cp:coreProperties>
</file>